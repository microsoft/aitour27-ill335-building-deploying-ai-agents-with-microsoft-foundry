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4"/>
  </p:sldMasterIdLst>
  <p:notesMasterIdLst>
    <p:notesMasterId r:id="rId16"/>
  </p:notesMasterIdLst>
  <p:sldIdLst>
    <p:sldId id="2147479559" r:id="rId5"/>
    <p:sldId id="2147479560" r:id="rId6"/>
    <p:sldId id="2147479561" r:id="rId7"/>
    <p:sldId id="2147479562" r:id="rId8"/>
    <p:sldId id="2147479563" r:id="rId9"/>
    <p:sldId id="2147479564" r:id="rId10"/>
    <p:sldId id="2147479565" r:id="rId11"/>
    <p:sldId id="2147479566" r:id="rId12"/>
    <p:sldId id="2147479567" r:id="rId13"/>
    <p:sldId id="2147479568" r:id="rId14"/>
    <p:sldId id="21474795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047" autoAdjust="0"/>
  </p:normalViewPr>
  <p:slideViewPr>
    <p:cSldViewPr snapToGrid="0">
      <p:cViewPr varScale="1">
        <p:scale>
          <a:sx n="80" d="100"/>
          <a:sy n="80" d="100"/>
        </p:scale>
        <p:origin x="1471" y="45"/>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22060-2369-4BE7-AB6D-9267FEBA2BDD}"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A6A36-79C2-4EC9-93EE-6F62DDC8ACE2}" type="slidenum">
              <a:rPr lang="en-US" smtClean="0"/>
              <a:t>‹#›</a:t>
            </a:fld>
            <a:endParaRPr lang="en-US"/>
          </a:p>
        </p:txBody>
      </p:sp>
    </p:spTree>
    <p:extLst>
      <p:ext uri="{BB962C8B-B14F-4D97-AF65-F5344CB8AC3E}">
        <p14:creationId xmlns:p14="http://schemas.microsoft.com/office/powerpoint/2010/main" val="2462538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Welcome the room while people settle. Confirm everyone can see the Skillable instructions panel and has their lab credentials. Keep this slide up for no more than 30 seconds.</a:t>
            </a:r>
          </a:p>
          <a:p>
            <a:r>
              <a:rPr lang="en-US"/>
              <a:t>Say: "Welcome to the Microsoft AI Tour. You're in ILL335 - Building and Deploying AI Agents with Microsoft Foundry."</a:t>
            </a:r>
          </a:p>
          <a:p>
            <a:r>
              <a:rPr lang="en-US"/>
              <a:t>ATTENDEE</a:t>
            </a:r>
          </a:p>
          <a:p>
            <a:r>
              <a:rPr lang="en-US"/>
              <a:t>You are in ILL335. This is a hands-on lab: you will write and deploy real code. Open your Skillable instructions panel now and log into the lab VM using the supplied credentials.</a:t>
            </a:r>
          </a:p>
        </p:txBody>
      </p:sp>
      <p:sp>
        <p:nvSpPr>
          <p:cNvPr id="4" name="Slide Number Placeholder 3"/>
          <p:cNvSpPr>
            <a:spLocks noGrp="1"/>
          </p:cNvSpPr>
          <p:nvPr>
            <p:ph type="sldNum" sz="quarter" idx="5"/>
          </p:nvPr>
        </p:nvSpPr>
        <p:spPr/>
        <p:txBody>
          <a:bodyPr/>
          <a:lstStyle/>
          <a:p>
            <a:fld id="{0EAA6A36-79C2-4EC9-93EE-6F62DDC8ACE2}" type="slidenum">
              <a:rPr lang="en-US" smtClean="0"/>
              <a:t>1</a:t>
            </a:fld>
            <a:endParaRPr lang="en-US"/>
          </a:p>
        </p:txBody>
      </p:sp>
    </p:spTree>
    <p:extLst>
      <p:ext uri="{BB962C8B-B14F-4D97-AF65-F5344CB8AC3E}">
        <p14:creationId xmlns:p14="http://schemas.microsoft.com/office/powerpoint/2010/main" val="104617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Set expectations in five minutes, then get people into Lab 1. Frame the session: five short labs, an end-to-end developer workflow, checkpoints along the way. Say that Lab 5 is self-paced and can be finished after the session.</a:t>
            </a:r>
          </a:p>
          <a:p>
            <a:r>
              <a:rPr lang="en-US"/>
              <a:t>Timing: ~30 seconds on this slide.</a:t>
            </a:r>
          </a:p>
          <a:p>
            <a:r>
              <a:rPr lang="en-US"/>
              <a:t>ATTENDEE</a:t>
            </a:r>
          </a:p>
          <a:p>
            <a:r>
              <a:rPr lang="en-US"/>
              <a:t>This short intro covers the scenario, the Foundry concepts you need, and how the live session runs. You will discover a model, verify your project, call it from Python, add governed JSON routing, and deploy a hosted agent.</a:t>
            </a:r>
          </a:p>
        </p:txBody>
      </p:sp>
      <p:sp>
        <p:nvSpPr>
          <p:cNvPr id="4" name="Slide Number Placeholder 3"/>
          <p:cNvSpPr>
            <a:spLocks noGrp="1"/>
          </p:cNvSpPr>
          <p:nvPr>
            <p:ph type="sldNum" sz="quarter" idx="5"/>
          </p:nvPr>
        </p:nvSpPr>
        <p:spPr/>
        <p:txBody>
          <a:bodyPr/>
          <a:lstStyle/>
          <a:p>
            <a:fld id="{0EAA6A36-79C2-4EC9-93EE-6F62DDC8ACE2}" type="slidenum">
              <a:rPr lang="en-US" smtClean="0"/>
              <a:t>2</a:t>
            </a:fld>
            <a:endParaRPr lang="en-US"/>
          </a:p>
        </p:txBody>
      </p:sp>
    </p:spTree>
    <p:extLst>
      <p:ext uri="{BB962C8B-B14F-4D97-AF65-F5344CB8AC3E}">
        <p14:creationId xmlns:p14="http://schemas.microsoft.com/office/powerpoint/2010/main" val="1841317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Ground the lab in the business problem before any tooling. Caldova is a fictional consumer-health company drowning in feedback across products and support channels. Emphasise the finish line: a managed hosted agent callable through the Responses API.</a:t>
            </a:r>
          </a:p>
          <a:p>
            <a:r>
              <a:rPr lang="en-US"/>
              <a:t>Stress the word "independently" - regulated signals are flagged for a human, never auto-resolved.</a:t>
            </a:r>
          </a:p>
          <a:p>
            <a:r>
              <a:rPr lang="en-US"/>
              <a:t>Timing: ~45 seconds.</a:t>
            </a:r>
          </a:p>
          <a:p>
            <a:r>
              <a:rPr lang="en-US"/>
              <a:t>ATTENDEE</a:t>
            </a:r>
          </a:p>
          <a:p>
            <a:r>
              <a:rPr lang="en-US"/>
              <a:t>Your role: an AI developer at Caldova. Your mission: classify sentiment, summarise topics, and flag regulated signals for human review. Your finish line: a hosted agent running on Foundry's managed runtime that your application can call through the Responses API.</a:t>
            </a:r>
          </a:p>
        </p:txBody>
      </p:sp>
      <p:sp>
        <p:nvSpPr>
          <p:cNvPr id="4" name="Slide Number Placeholder 3"/>
          <p:cNvSpPr>
            <a:spLocks noGrp="1"/>
          </p:cNvSpPr>
          <p:nvPr>
            <p:ph type="sldNum" sz="quarter" idx="5"/>
          </p:nvPr>
        </p:nvSpPr>
        <p:spPr/>
        <p:txBody>
          <a:bodyPr/>
          <a:lstStyle/>
          <a:p>
            <a:fld id="{0EAA6A36-79C2-4EC9-93EE-6F62DDC8ACE2}" type="slidenum">
              <a:rPr lang="en-US" smtClean="0"/>
              <a:t>3</a:t>
            </a:fld>
            <a:endParaRPr lang="en-US"/>
          </a:p>
        </p:txBody>
      </p:sp>
    </p:spTree>
    <p:extLst>
      <p:ext uri="{BB962C8B-B14F-4D97-AF65-F5344CB8AC3E}">
        <p14:creationId xmlns:p14="http://schemas.microsoft.com/office/powerpoint/2010/main" val="3616818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One slide, three verbs: Discover, Build, Deploy. Don't tour the portal here - the labs do that. Map each verb to what they will actually do: browse the model catalog, call the model with identity-based auth from Python, publish the agent to a managed runtime.</a:t>
            </a:r>
          </a:p>
          <a:p>
            <a:r>
              <a:rPr lang="en-US"/>
              <a:t>Timing: ~45 seconds.</a:t>
            </a:r>
          </a:p>
          <a:p>
            <a:r>
              <a:rPr lang="en-US"/>
              <a:t>ATTENDEE</a:t>
            </a:r>
          </a:p>
          <a:p>
            <a:r>
              <a:rPr lang="en-US"/>
              <a:t>Foundry is one place to find models and to build, evaluate, and deploy AI apps. In this lab you use all three: a hosted model, a governed Python app, and a hosted agent. Your code authenticates with your identity - no keys in source.</a:t>
            </a:r>
          </a:p>
        </p:txBody>
      </p:sp>
      <p:sp>
        <p:nvSpPr>
          <p:cNvPr id="4" name="Slide Number Placeholder 3"/>
          <p:cNvSpPr>
            <a:spLocks noGrp="1"/>
          </p:cNvSpPr>
          <p:nvPr>
            <p:ph type="sldNum" sz="quarter" idx="5"/>
          </p:nvPr>
        </p:nvSpPr>
        <p:spPr/>
        <p:txBody>
          <a:bodyPr/>
          <a:lstStyle/>
          <a:p>
            <a:fld id="{0EAA6A36-79C2-4EC9-93EE-6F62DDC8ACE2}" type="slidenum">
              <a:rPr lang="en-US" smtClean="0"/>
              <a:t>4</a:t>
            </a:fld>
            <a:endParaRPr lang="en-US"/>
          </a:p>
        </p:txBody>
      </p:sp>
    </p:spTree>
    <p:extLst>
      <p:ext uri="{BB962C8B-B14F-4D97-AF65-F5344CB8AC3E}">
        <p14:creationId xmlns:p14="http://schemas.microsoft.com/office/powerpoint/2010/main" val="51592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These three terms come back in every lab, so make them stick. The most common confusion is deployment name versus catalog model name - call that out explicitly, because it is the top cause of errors later.</a:t>
            </a:r>
          </a:p>
          <a:p>
            <a:r>
              <a:rPr lang="en-US"/>
              <a:t>Timing: ~45 seconds.</a:t>
            </a:r>
          </a:p>
          <a:p>
            <a:r>
              <a:rPr lang="en-US"/>
              <a:t>ATTENDEE</a:t>
            </a:r>
          </a:p>
          <a:p>
            <a:r>
              <a:rPr lang="en-US"/>
              <a:t>Project = your workspace; it scopes deployments, connections, agents, and access. Model deployment = the callable instance; your code uses the deployment name, not the catalog model name. Hosted agent = your Python workflow running on Foundry's managed runtime behind the Responses API.</a:t>
            </a:r>
          </a:p>
        </p:txBody>
      </p:sp>
      <p:sp>
        <p:nvSpPr>
          <p:cNvPr id="4" name="Slide Number Placeholder 3"/>
          <p:cNvSpPr>
            <a:spLocks noGrp="1"/>
          </p:cNvSpPr>
          <p:nvPr>
            <p:ph type="sldNum" sz="quarter" idx="5"/>
          </p:nvPr>
        </p:nvSpPr>
        <p:spPr/>
        <p:txBody>
          <a:bodyPr/>
          <a:lstStyle/>
          <a:p>
            <a:fld id="{0EAA6A36-79C2-4EC9-93EE-6F62DDC8ACE2}" type="slidenum">
              <a:rPr lang="en-US" smtClean="0"/>
              <a:t>5</a:t>
            </a:fld>
            <a:endParaRPr lang="en-US"/>
          </a:p>
        </p:txBody>
      </p:sp>
    </p:spTree>
    <p:extLst>
      <p:ext uri="{BB962C8B-B14F-4D97-AF65-F5344CB8AC3E}">
        <p14:creationId xmlns:p14="http://schemas.microsoft.com/office/powerpoint/2010/main" val="1772364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Walk the five steps quickly so people know where they are at any moment. Tell them you will call out each step by number during the session. Note Lab 5 (model comparison) is a self-paced extension - nobody should feel behind if they don't reach it live.</a:t>
            </a:r>
          </a:p>
          <a:p>
            <a:r>
              <a:rPr lang="en-US"/>
              <a:t>Timing: ~30 seconds.</a:t>
            </a:r>
          </a:p>
          <a:p>
            <a:r>
              <a:rPr lang="en-US"/>
              <a:t>ATTENDEE</a:t>
            </a:r>
          </a:p>
          <a:p>
            <a:r>
              <a:rPr lang="en-US"/>
              <a:t>Five steps: 1 Discover a model in the catalog, 2 Verify your project and .env, 3 Connect via the Responses API, 4 Govern with structured JSON and routing rules, 5 Deploy a hosted agent. Lab 5 is optional and self-paced.</a:t>
            </a:r>
          </a:p>
        </p:txBody>
      </p:sp>
      <p:sp>
        <p:nvSpPr>
          <p:cNvPr id="4" name="Slide Number Placeholder 3"/>
          <p:cNvSpPr>
            <a:spLocks noGrp="1"/>
          </p:cNvSpPr>
          <p:nvPr>
            <p:ph type="sldNum" sz="quarter" idx="5"/>
          </p:nvPr>
        </p:nvSpPr>
        <p:spPr/>
        <p:txBody>
          <a:bodyPr/>
          <a:lstStyle/>
          <a:p>
            <a:fld id="{0EAA6A36-79C2-4EC9-93EE-6F62DDC8ACE2}" type="slidenum">
              <a:rPr lang="en-US" smtClean="0"/>
              <a:t>6</a:t>
            </a:fld>
            <a:endParaRPr lang="en-US"/>
          </a:p>
        </p:txBody>
      </p:sp>
    </p:spTree>
    <p:extLst>
      <p:ext uri="{BB962C8B-B14F-4D97-AF65-F5344CB8AC3E}">
        <p14:creationId xmlns:p14="http://schemas.microsoft.com/office/powerpoint/2010/main" val="2320804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This is the slide that prevents most support requests. Everything is pre-provisioned: VM, Azure credentials, configured .env with the project endpoint, gpt-5.4-mini deployed, VS Code with the Foundry Toolkit.</a:t>
            </a:r>
          </a:p>
          <a:p>
            <a:r>
              <a:rPr lang="en-US"/>
              <a:t>Demonstrate the keyboard / Type action in Skillable - typing credentials by hand is the number one cause of sign-in failures. Ask everyone to open the workspace folder and click Trust now.</a:t>
            </a:r>
          </a:p>
          <a:p>
            <a:r>
              <a:rPr lang="en-US"/>
              <a:t>Timing: ~60 seconds. Pause here until hands are down.</a:t>
            </a:r>
          </a:p>
          <a:p>
            <a:r>
              <a:rPr lang="en-US"/>
              <a:t>ATTENDEE</a:t>
            </a:r>
          </a:p>
          <a:p>
            <a:r>
              <a:rPr lang="en-US"/>
              <a:t>Start here: open C:\Users\LabUser\Desktop\AI-Tour-ILL335-main in VS Code and trust the workspace, then follow the Skillable instructions. Use the keyboard icon / Type action to enter supplied credentials instead of typing them. Your .env is already configured and gpt-5.4-mini is already deployed - don't recreate them.</a:t>
            </a:r>
          </a:p>
        </p:txBody>
      </p:sp>
      <p:sp>
        <p:nvSpPr>
          <p:cNvPr id="4" name="Slide Number Placeholder 3"/>
          <p:cNvSpPr>
            <a:spLocks noGrp="1"/>
          </p:cNvSpPr>
          <p:nvPr>
            <p:ph type="sldNum" sz="quarter" idx="5"/>
          </p:nvPr>
        </p:nvSpPr>
        <p:spPr/>
        <p:txBody>
          <a:bodyPr/>
          <a:lstStyle/>
          <a:p>
            <a:fld id="{0EAA6A36-79C2-4EC9-93EE-6F62DDC8ACE2}" type="slidenum">
              <a:rPr lang="en-US" smtClean="0"/>
              <a:t>7</a:t>
            </a:fld>
            <a:endParaRPr lang="en-US"/>
          </a:p>
        </p:txBody>
      </p:sp>
    </p:spTree>
    <p:extLst>
      <p:ext uri="{BB962C8B-B14F-4D97-AF65-F5344CB8AC3E}">
        <p14:creationId xmlns:p14="http://schemas.microsoft.com/office/powerpoint/2010/main" val="3368095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Show the shape of the pipeline before they build it, so the code makes sense. Land the final line hard: the model identifies signals, but your code makes the routing decision. That is the responsible-AI spine of the whole lab.</a:t>
            </a:r>
          </a:p>
          <a:p>
            <a:r>
              <a:rPr lang="en-US"/>
              <a:t>Timing: ~45 seconds.</a:t>
            </a:r>
          </a:p>
          <a:p>
            <a:r>
              <a:rPr lang="en-US"/>
              <a:t>ATTENDEE</a:t>
            </a:r>
          </a:p>
          <a:p>
            <a:r>
              <a:rPr lang="en-US"/>
              <a:t>What you build: consumer feedback in, a prompt with instructions and input, a call to gpt-5.4-mini, a structured JSON result, then a routing decision to human review or a dashboard. Deterministic code - not the model - decides where an item goes.</a:t>
            </a:r>
          </a:p>
        </p:txBody>
      </p:sp>
      <p:sp>
        <p:nvSpPr>
          <p:cNvPr id="4" name="Slide Number Placeholder 3"/>
          <p:cNvSpPr>
            <a:spLocks noGrp="1"/>
          </p:cNvSpPr>
          <p:nvPr>
            <p:ph type="sldNum" sz="quarter" idx="5"/>
          </p:nvPr>
        </p:nvSpPr>
        <p:spPr/>
        <p:txBody>
          <a:bodyPr/>
          <a:lstStyle/>
          <a:p>
            <a:fld id="{0EAA6A36-79C2-4EC9-93EE-6F62DDC8ACE2}" type="slidenum">
              <a:rPr lang="en-US" smtClean="0"/>
              <a:t>8</a:t>
            </a:fld>
            <a:endParaRPr lang="en-US"/>
          </a:p>
        </p:txBody>
      </p:sp>
    </p:spTree>
    <p:extLst>
      <p:ext uri="{BB962C8B-B14F-4D97-AF65-F5344CB8AC3E}">
        <p14:creationId xmlns:p14="http://schemas.microsoft.com/office/powerpoint/2010/main" val="296136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Set the working rhythm. Ask attendees to keep Skillable and VS Code side by side. Name the five checkpoints out loud: validator PASS, inference output, valid JSON, local agent response, hosted status active - you will pause at each.</a:t>
            </a:r>
          </a:p>
          <a:p>
            <a:r>
              <a:rPr lang="en-US"/>
              <a:t>Ask proctors to stand and be visible. Reinforce the security rule: no passwords, tokens, or .env values in chat or code.</a:t>
            </a:r>
          </a:p>
          <a:p>
            <a:r>
              <a:rPr lang="en-US"/>
              <a:t>Timing: ~60 seconds.</a:t>
            </a:r>
          </a:p>
          <a:p>
            <a:r>
              <a:rPr lang="en-US"/>
              <a:t>ATTENDEE</a:t>
            </a:r>
          </a:p>
          <a:p>
            <a:r>
              <a:rPr lang="en-US"/>
              <a:t>Follow along and stop at each checkpoint. If your screen differs from the instructor's, raise your hand immediately - share the error text only, never credentials. Never paste passwords, tokens, or .env values into chat or source code.</a:t>
            </a:r>
          </a:p>
        </p:txBody>
      </p:sp>
      <p:sp>
        <p:nvSpPr>
          <p:cNvPr id="4" name="Slide Number Placeholder 3"/>
          <p:cNvSpPr>
            <a:spLocks noGrp="1"/>
          </p:cNvSpPr>
          <p:nvPr>
            <p:ph type="sldNum" sz="quarter" idx="5"/>
          </p:nvPr>
        </p:nvSpPr>
        <p:spPr/>
        <p:txBody>
          <a:bodyPr/>
          <a:lstStyle/>
          <a:p>
            <a:fld id="{0EAA6A36-79C2-4EC9-93EE-6F62DDC8ACE2}" type="slidenum">
              <a:rPr lang="en-US" smtClean="0"/>
              <a:t>9</a:t>
            </a:fld>
            <a:endParaRPr lang="en-US"/>
          </a:p>
        </p:txBody>
      </p:sp>
    </p:spTree>
    <p:extLst>
      <p:ext uri="{BB962C8B-B14F-4D97-AF65-F5344CB8AC3E}">
        <p14:creationId xmlns:p14="http://schemas.microsoft.com/office/powerpoint/2010/main" val="226554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Slow down here. Define the three regulated categories in plain language and state the boundary: the application never determines causality, seriousness, diagnosis, or treatment. It detects and routes - a human decides.</a:t>
            </a:r>
          </a:p>
          <a:p>
            <a:r>
              <a:rPr lang="en-US"/>
              <a:t>Invite a question or two before moving to the close.</a:t>
            </a:r>
          </a:p>
          <a:p>
            <a:r>
              <a:rPr lang="en-US"/>
              <a:t>Timing: ~60 seconds.</a:t>
            </a:r>
          </a:p>
          <a:p>
            <a:r>
              <a:rPr lang="en-US"/>
              <a:t>ATTENDEE</a:t>
            </a:r>
          </a:p>
          <a:p>
            <a:r>
              <a:rPr lang="en-US"/>
              <a:t>Three regulated signals always go to a human: potential adverse event (a symptom or unwanted experience after use), product quality complaint (packaging, integrity, contamination, performance), and medical inquiry (diagnosis, treatment, dosage, or medical guidance). Your app flags and routes them - it never judges causality, seriousness, diagnosis, or treatment.</a:t>
            </a:r>
            <a:endParaRPr lang="en-US" dirty="0"/>
          </a:p>
        </p:txBody>
      </p:sp>
      <p:sp>
        <p:nvSpPr>
          <p:cNvPr id="4" name="Slide Number Placeholder 3"/>
          <p:cNvSpPr>
            <a:spLocks noGrp="1"/>
          </p:cNvSpPr>
          <p:nvPr>
            <p:ph type="sldNum" sz="quarter" idx="5"/>
          </p:nvPr>
        </p:nvSpPr>
        <p:spPr/>
        <p:txBody>
          <a:bodyPr/>
          <a:lstStyle/>
          <a:p>
            <a:fld id="{5ED937A9-DDE4-6640-9D78-29FADF5894C3}" type="slidenum">
              <a:rPr lang="en-US" smtClean="0"/>
              <a:t>10</a:t>
            </a:fld>
            <a:endParaRPr lang="en-US"/>
          </a:p>
        </p:txBody>
      </p:sp>
    </p:spTree>
    <p:extLst>
      <p:ext uri="{BB962C8B-B14F-4D97-AF65-F5344CB8AC3E}">
        <p14:creationId xmlns:p14="http://schemas.microsoft.com/office/powerpoint/2010/main" val="4236790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a:t>
            </a:r>
          </a:p>
          <a:p>
            <a:r>
              <a:rPr lang="en-US"/>
              <a:t>Hand off to hands-on time. Tell everyone to open the Foundry Toolkit in VS Code and begin Lab 1; proctors are circulating. Share the resource center and Discord links and mention Lab 5 can be completed later.</a:t>
            </a:r>
          </a:p>
          <a:p>
            <a:r>
              <a:rPr lang="en-US"/>
              <a:t>Timing: ~30 seconds, then start the labs.</a:t>
            </a:r>
          </a:p>
          <a:p>
            <a:r>
              <a:rPr lang="en-US"/>
              <a:t>ATTENDEE</a:t>
            </a:r>
          </a:p>
          <a:p>
            <a:r>
              <a:rPr lang="en-US"/>
              <a:t>Start Lab 1 now from the Foundry Toolkit in VS Code. Resources: aka.ms/aitour27-resource-center. Community and questions after the event: aka.ms/MicrosoftFoundryDiscord-AITour27.</a:t>
            </a:r>
          </a:p>
        </p:txBody>
      </p:sp>
      <p:sp>
        <p:nvSpPr>
          <p:cNvPr id="4" name="Slide Number Placeholder 3"/>
          <p:cNvSpPr>
            <a:spLocks noGrp="1"/>
          </p:cNvSpPr>
          <p:nvPr>
            <p:ph type="sldNum" sz="quarter" idx="5"/>
          </p:nvPr>
        </p:nvSpPr>
        <p:spPr/>
        <p:txBody>
          <a:bodyPr/>
          <a:lstStyle/>
          <a:p>
            <a:fld id="{0EAA6A36-79C2-4EC9-93EE-6F62DDC8ACE2}" type="slidenum">
              <a:rPr lang="en-US" smtClean="0"/>
              <a:t>11</a:t>
            </a:fld>
            <a:endParaRPr lang="en-US"/>
          </a:p>
        </p:txBody>
      </p:sp>
    </p:spTree>
    <p:extLst>
      <p:ext uri="{BB962C8B-B14F-4D97-AF65-F5344CB8AC3E}">
        <p14:creationId xmlns:p14="http://schemas.microsoft.com/office/powerpoint/2010/main" val="27880031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656F5673-27D5-8494-291A-0C7F83EDF46D}"/>
              </a:ext>
            </a:extLst>
          </p:cNvPr>
          <p:cNvSpPr/>
          <p:nvPr userDrawn="1"/>
        </p:nvSpPr>
        <p:spPr>
          <a:xfrm>
            <a:off x="536575" y="2458622"/>
            <a:ext cx="3865501" cy="1703804"/>
          </a:xfrm>
          <a:custGeom>
            <a:avLst/>
            <a:gdLst>
              <a:gd name="csX0" fmla="*/ 542449 w 3308032"/>
              <a:gd name="csY0" fmla="*/ 193548 h 1458087"/>
              <a:gd name="csX1" fmla="*/ 543401 w 3308032"/>
              <a:gd name="csY1" fmla="*/ 149066 h 1458087"/>
              <a:gd name="csX2" fmla="*/ 541211 w 3308032"/>
              <a:gd name="csY2" fmla="*/ 149066 h 1458087"/>
              <a:gd name="csX3" fmla="*/ 534924 w 3308032"/>
              <a:gd name="csY3" fmla="*/ 168593 h 1458087"/>
              <a:gd name="csX4" fmla="*/ 528257 w 3308032"/>
              <a:gd name="csY4" fmla="*/ 186309 h 1458087"/>
              <a:gd name="csX5" fmla="*/ 374618 w 3308032"/>
              <a:gd name="csY5" fmla="*/ 572929 h 1458087"/>
              <a:gd name="csX6" fmla="*/ 310229 w 3308032"/>
              <a:gd name="csY6" fmla="*/ 572929 h 1458087"/>
              <a:gd name="csX7" fmla="*/ 155448 w 3308032"/>
              <a:gd name="csY7" fmla="*/ 189738 h 1458087"/>
              <a:gd name="csX8" fmla="*/ 149352 w 3308032"/>
              <a:gd name="csY8" fmla="*/ 172402 h 1458087"/>
              <a:gd name="csX9" fmla="*/ 141351 w 3308032"/>
              <a:gd name="csY9" fmla="*/ 149162 h 1458087"/>
              <a:gd name="csX10" fmla="*/ 139160 w 3308032"/>
              <a:gd name="csY10" fmla="*/ 149162 h 1458087"/>
              <a:gd name="csX11" fmla="*/ 140303 w 3308032"/>
              <a:gd name="csY11" fmla="*/ 195834 h 1458087"/>
              <a:gd name="csX12" fmla="*/ 140684 w 3308032"/>
              <a:gd name="csY12" fmla="*/ 246602 h 1458087"/>
              <a:gd name="csX13" fmla="*/ 140684 w 3308032"/>
              <a:gd name="csY13" fmla="*/ 572929 h 1458087"/>
              <a:gd name="csX14" fmla="*/ 55817 w 3308032"/>
              <a:gd name="csY14" fmla="*/ 572929 h 1458087"/>
              <a:gd name="csX15" fmla="*/ 55817 w 3308032"/>
              <a:gd name="csY15" fmla="*/ 39338 h 1458087"/>
              <a:gd name="csX16" fmla="*/ 185642 w 3308032"/>
              <a:gd name="csY16" fmla="*/ 39338 h 1458087"/>
              <a:gd name="csX17" fmla="*/ 322231 w 3308032"/>
              <a:gd name="csY17" fmla="*/ 383477 h 1458087"/>
              <a:gd name="csX18" fmla="*/ 334709 w 3308032"/>
              <a:gd name="csY18" fmla="*/ 415671 h 1458087"/>
              <a:gd name="csX19" fmla="*/ 343853 w 3308032"/>
              <a:gd name="csY19" fmla="*/ 444913 h 1458087"/>
              <a:gd name="csX20" fmla="*/ 346043 w 3308032"/>
              <a:gd name="csY20" fmla="*/ 444913 h 1458087"/>
              <a:gd name="csX21" fmla="*/ 358140 w 3308032"/>
              <a:gd name="csY21" fmla="*/ 412528 h 1458087"/>
              <a:gd name="csX22" fmla="*/ 369475 w 3308032"/>
              <a:gd name="csY22" fmla="*/ 382429 h 1458087"/>
              <a:gd name="csX23" fmla="*/ 507873 w 3308032"/>
              <a:gd name="csY23" fmla="*/ 39338 h 1458087"/>
              <a:gd name="csX24" fmla="*/ 632555 w 3308032"/>
              <a:gd name="csY24" fmla="*/ 39338 h 1458087"/>
              <a:gd name="csX25" fmla="*/ 632555 w 3308032"/>
              <a:gd name="csY25" fmla="*/ 572929 h 1458087"/>
              <a:gd name="csX26" fmla="*/ 542163 w 3308032"/>
              <a:gd name="csY26" fmla="*/ 572929 h 1458087"/>
              <a:gd name="csX27" fmla="*/ 542163 w 3308032"/>
              <a:gd name="csY27" fmla="*/ 234315 h 1458087"/>
              <a:gd name="csX28" fmla="*/ 542735 w 3308032"/>
              <a:gd name="csY28" fmla="*/ 193548 h 1458087"/>
              <a:gd name="csX29" fmla="*/ 768001 w 3308032"/>
              <a:gd name="csY29" fmla="*/ 14383 h 1458087"/>
              <a:gd name="csX30" fmla="*/ 728567 w 3308032"/>
              <a:gd name="csY30" fmla="*/ 29623 h 1458087"/>
              <a:gd name="csX31" fmla="*/ 713327 w 3308032"/>
              <a:gd name="csY31" fmla="*/ 67247 h 1458087"/>
              <a:gd name="csX32" fmla="*/ 728567 w 3308032"/>
              <a:gd name="csY32" fmla="*/ 104966 h 1458087"/>
              <a:gd name="csX33" fmla="*/ 768001 w 3308032"/>
              <a:gd name="csY33" fmla="*/ 120777 h 1458087"/>
              <a:gd name="csX34" fmla="*/ 808196 w 3308032"/>
              <a:gd name="csY34" fmla="*/ 105537 h 1458087"/>
              <a:gd name="csX35" fmla="*/ 823436 w 3308032"/>
              <a:gd name="csY35" fmla="*/ 67627 h 1458087"/>
              <a:gd name="csX36" fmla="*/ 808196 w 3308032"/>
              <a:gd name="csY36" fmla="*/ 29718 h 1458087"/>
              <a:gd name="csX37" fmla="*/ 768001 w 3308032"/>
              <a:gd name="csY37" fmla="*/ 14478 h 1458087"/>
              <a:gd name="csX38" fmla="*/ 723329 w 3308032"/>
              <a:gd name="csY38" fmla="*/ 572834 h 1458087"/>
              <a:gd name="csX39" fmla="*/ 812292 w 3308032"/>
              <a:gd name="csY39" fmla="*/ 572834 h 1458087"/>
              <a:gd name="csX40" fmla="*/ 812292 w 3308032"/>
              <a:gd name="csY40" fmla="*/ 191834 h 1458087"/>
              <a:gd name="csX41" fmla="*/ 723329 w 3308032"/>
              <a:gd name="csY41" fmla="*/ 191834 h 1458087"/>
              <a:gd name="csX42" fmla="*/ 723329 w 3308032"/>
              <a:gd name="csY42" fmla="*/ 572834 h 1458087"/>
              <a:gd name="csX43" fmla="*/ 1079278 w 3308032"/>
              <a:gd name="csY43" fmla="*/ 581787 h 1458087"/>
              <a:gd name="csX44" fmla="*/ 1169099 w 3308032"/>
              <a:gd name="csY44" fmla="*/ 561689 h 1458087"/>
              <a:gd name="csX45" fmla="*/ 1234726 w 3308032"/>
              <a:gd name="csY45" fmla="*/ 500253 h 1458087"/>
              <a:gd name="csX46" fmla="*/ 1165860 w 3308032"/>
              <a:gd name="csY46" fmla="*/ 461582 h 1458087"/>
              <a:gd name="csX47" fmla="*/ 1127951 w 3308032"/>
              <a:gd name="csY47" fmla="*/ 497110 h 1458087"/>
              <a:gd name="csX48" fmla="*/ 1081469 w 3308032"/>
              <a:gd name="csY48" fmla="*/ 507683 h 1458087"/>
              <a:gd name="csX49" fmla="*/ 1004126 w 3308032"/>
              <a:gd name="csY49" fmla="*/ 475298 h 1458087"/>
              <a:gd name="csX50" fmla="*/ 975074 w 3308032"/>
              <a:gd name="csY50" fmla="*/ 383000 h 1458087"/>
              <a:gd name="csX51" fmla="*/ 1004506 w 3308032"/>
              <a:gd name="csY51" fmla="*/ 288512 h 1458087"/>
              <a:gd name="csX52" fmla="*/ 1079278 w 3308032"/>
              <a:gd name="csY52" fmla="*/ 254699 h 1458087"/>
              <a:gd name="csX53" fmla="*/ 1125379 w 3308032"/>
              <a:gd name="csY53" fmla="*/ 265462 h 1458087"/>
              <a:gd name="csX54" fmla="*/ 1162622 w 3308032"/>
              <a:gd name="csY54" fmla="*/ 301943 h 1458087"/>
              <a:gd name="csX55" fmla="*/ 1232535 w 3308032"/>
              <a:gd name="csY55" fmla="*/ 267367 h 1458087"/>
              <a:gd name="csX56" fmla="*/ 1172432 w 3308032"/>
              <a:gd name="csY56" fmla="*/ 204311 h 1458087"/>
              <a:gd name="csX57" fmla="*/ 1082231 w 3308032"/>
              <a:gd name="csY57" fmla="*/ 182880 h 1458087"/>
              <a:gd name="csX58" fmla="*/ 939356 w 3308032"/>
              <a:gd name="csY58" fmla="*/ 238125 h 1458087"/>
              <a:gd name="csX59" fmla="*/ 884301 w 3308032"/>
              <a:gd name="csY59" fmla="*/ 389001 h 1458087"/>
              <a:gd name="csX60" fmla="*/ 936022 w 3308032"/>
              <a:gd name="csY60" fmla="*/ 528923 h 1458087"/>
              <a:gd name="csX61" fmla="*/ 1079278 w 3308032"/>
              <a:gd name="csY61" fmla="*/ 581787 h 1458087"/>
              <a:gd name="csX62" fmla="*/ 1393031 w 3308032"/>
              <a:gd name="csY62" fmla="*/ 384524 h 1458087"/>
              <a:gd name="csX63" fmla="*/ 1416653 w 3308032"/>
              <a:gd name="csY63" fmla="*/ 296323 h 1458087"/>
              <a:gd name="csX64" fmla="*/ 1478566 w 3308032"/>
              <a:gd name="csY64" fmla="*/ 262795 h 1458087"/>
              <a:gd name="csX65" fmla="*/ 1501807 w 3308032"/>
              <a:gd name="csY65" fmla="*/ 265176 h 1458087"/>
              <a:gd name="csX66" fmla="*/ 1523619 w 3308032"/>
              <a:gd name="csY66" fmla="*/ 271653 h 1458087"/>
              <a:gd name="csX67" fmla="*/ 1547432 w 3308032"/>
              <a:gd name="csY67" fmla="*/ 195739 h 1458087"/>
              <a:gd name="csX68" fmla="*/ 1521047 w 3308032"/>
              <a:gd name="csY68" fmla="*/ 187166 h 1458087"/>
              <a:gd name="csX69" fmla="*/ 1494282 w 3308032"/>
              <a:gd name="csY69" fmla="*/ 184975 h 1458087"/>
              <a:gd name="csX70" fmla="*/ 1433989 w 3308032"/>
              <a:gd name="csY70" fmla="*/ 204502 h 1458087"/>
              <a:gd name="csX71" fmla="*/ 1394555 w 3308032"/>
              <a:gd name="csY71" fmla="*/ 260509 h 1458087"/>
              <a:gd name="csX72" fmla="*/ 1393031 w 3308032"/>
              <a:gd name="csY72" fmla="*/ 260509 h 1458087"/>
              <a:gd name="csX73" fmla="*/ 1393031 w 3308032"/>
              <a:gd name="csY73" fmla="*/ 191643 h 1458087"/>
              <a:gd name="csX74" fmla="*/ 1304068 w 3308032"/>
              <a:gd name="csY74" fmla="*/ 191643 h 1458087"/>
              <a:gd name="csX75" fmla="*/ 1304068 w 3308032"/>
              <a:gd name="csY75" fmla="*/ 572643 h 1458087"/>
              <a:gd name="csX76" fmla="*/ 1393031 w 3308032"/>
              <a:gd name="csY76" fmla="*/ 572643 h 1458087"/>
              <a:gd name="csX77" fmla="*/ 1393031 w 3308032"/>
              <a:gd name="csY77" fmla="*/ 384334 h 1458087"/>
              <a:gd name="csX78" fmla="*/ 1621917 w 3308032"/>
              <a:gd name="csY78" fmla="*/ 528542 h 1458087"/>
              <a:gd name="csX79" fmla="*/ 1568482 w 3308032"/>
              <a:gd name="csY79" fmla="*/ 385286 h 1458087"/>
              <a:gd name="csX80" fmla="*/ 1625060 w 3308032"/>
              <a:gd name="csY80" fmla="*/ 238506 h 1458087"/>
              <a:gd name="csX81" fmla="*/ 1771269 w 3308032"/>
              <a:gd name="csY81" fmla="*/ 182880 h 1458087"/>
              <a:gd name="csX82" fmla="*/ 1914335 w 3308032"/>
              <a:gd name="csY82" fmla="*/ 237554 h 1458087"/>
              <a:gd name="csX83" fmla="*/ 1966627 w 3308032"/>
              <a:gd name="csY83" fmla="*/ 378905 h 1458087"/>
              <a:gd name="csX84" fmla="*/ 1911572 w 3308032"/>
              <a:gd name="csY84" fmla="*/ 524542 h 1458087"/>
              <a:gd name="csX85" fmla="*/ 1766126 w 3308032"/>
              <a:gd name="csY85" fmla="*/ 581692 h 1458087"/>
              <a:gd name="csX86" fmla="*/ 1621917 w 3308032"/>
              <a:gd name="csY86" fmla="*/ 528447 h 1458087"/>
              <a:gd name="csX87" fmla="*/ 1659350 w 3308032"/>
              <a:gd name="csY87" fmla="*/ 383477 h 1458087"/>
              <a:gd name="csX88" fmla="*/ 1688973 w 3308032"/>
              <a:gd name="csY88" fmla="*/ 476155 h 1458087"/>
              <a:gd name="csX89" fmla="*/ 1769555 w 3308032"/>
              <a:gd name="csY89" fmla="*/ 509969 h 1458087"/>
              <a:gd name="csX90" fmla="*/ 1847850 w 3308032"/>
              <a:gd name="csY90" fmla="*/ 475012 h 1458087"/>
              <a:gd name="csX91" fmla="*/ 1875568 w 3308032"/>
              <a:gd name="csY91" fmla="*/ 381286 h 1458087"/>
              <a:gd name="csX92" fmla="*/ 1847660 w 3308032"/>
              <a:gd name="csY92" fmla="*/ 289750 h 1458087"/>
              <a:gd name="csX93" fmla="*/ 1769174 w 3308032"/>
              <a:gd name="csY93" fmla="*/ 255175 h 1458087"/>
              <a:gd name="csX94" fmla="*/ 1689354 w 3308032"/>
              <a:gd name="csY94" fmla="*/ 290894 h 1458087"/>
              <a:gd name="csX95" fmla="*/ 1659446 w 3308032"/>
              <a:gd name="csY95" fmla="*/ 383572 h 1458087"/>
              <a:gd name="csX96" fmla="*/ 2267426 w 3308032"/>
              <a:gd name="csY96" fmla="*/ 547878 h 1458087"/>
              <a:gd name="csX97" fmla="*/ 2308003 w 3308032"/>
              <a:gd name="csY97" fmla="*/ 458915 h 1458087"/>
              <a:gd name="csX98" fmla="*/ 2276761 w 3308032"/>
              <a:gd name="csY98" fmla="*/ 380048 h 1458087"/>
              <a:gd name="csX99" fmla="*/ 2182273 w 3308032"/>
              <a:gd name="csY99" fmla="*/ 339471 h 1458087"/>
              <a:gd name="csX100" fmla="*/ 2127028 w 3308032"/>
              <a:gd name="csY100" fmla="*/ 321278 h 1458087"/>
              <a:gd name="csX101" fmla="*/ 2112359 w 3308032"/>
              <a:gd name="csY101" fmla="*/ 292227 h 1458087"/>
              <a:gd name="csX102" fmla="*/ 2126456 w 3308032"/>
              <a:gd name="csY102" fmla="*/ 261366 h 1458087"/>
              <a:gd name="csX103" fmla="*/ 2167795 w 3308032"/>
              <a:gd name="csY103" fmla="*/ 249460 h 1458087"/>
              <a:gd name="csX104" fmla="*/ 2211515 w 3308032"/>
              <a:gd name="csY104" fmla="*/ 258413 h 1458087"/>
              <a:gd name="csX105" fmla="*/ 2247043 w 3308032"/>
              <a:gd name="csY105" fmla="*/ 285179 h 1458087"/>
              <a:gd name="csX106" fmla="*/ 2298764 w 3308032"/>
              <a:gd name="csY106" fmla="*/ 238316 h 1458087"/>
              <a:gd name="csX107" fmla="*/ 2243328 w 3308032"/>
              <a:gd name="csY107" fmla="*/ 196596 h 1458087"/>
              <a:gd name="csX108" fmla="*/ 2170367 w 3308032"/>
              <a:gd name="csY108" fmla="*/ 182785 h 1458087"/>
              <a:gd name="csX109" fmla="*/ 2069211 w 3308032"/>
              <a:gd name="csY109" fmla="*/ 214598 h 1458087"/>
              <a:gd name="csX110" fmla="*/ 2029015 w 3308032"/>
              <a:gd name="csY110" fmla="*/ 302228 h 1458087"/>
              <a:gd name="csX111" fmla="*/ 2058638 w 3308032"/>
              <a:gd name="csY111" fmla="*/ 375380 h 1458087"/>
              <a:gd name="csX112" fmla="*/ 2163032 w 3308032"/>
              <a:gd name="csY112" fmla="*/ 417957 h 1458087"/>
              <a:gd name="csX113" fmla="*/ 2208943 w 3308032"/>
              <a:gd name="csY113" fmla="*/ 435959 h 1458087"/>
              <a:gd name="csX114" fmla="*/ 2224373 w 3308032"/>
              <a:gd name="csY114" fmla="*/ 467011 h 1458087"/>
              <a:gd name="csX115" fmla="*/ 2207990 w 3308032"/>
              <a:gd name="csY115" fmla="*/ 502158 h 1458087"/>
              <a:gd name="csX116" fmla="*/ 2162271 w 3308032"/>
              <a:gd name="csY116" fmla="*/ 514636 h 1458087"/>
              <a:gd name="csX117" fmla="*/ 2112645 w 3308032"/>
              <a:gd name="csY117" fmla="*/ 502920 h 1458087"/>
              <a:gd name="csX118" fmla="*/ 2068163 w 3308032"/>
              <a:gd name="csY118" fmla="*/ 463677 h 1458087"/>
              <a:gd name="csX119" fmla="*/ 2014633 w 3308032"/>
              <a:gd name="csY119" fmla="*/ 511683 h 1458087"/>
              <a:gd name="csX120" fmla="*/ 2074926 w 3308032"/>
              <a:gd name="csY120" fmla="*/ 563785 h 1458087"/>
              <a:gd name="csX121" fmla="*/ 2161604 w 3308032"/>
              <a:gd name="csY121" fmla="*/ 581692 h 1458087"/>
              <a:gd name="csX122" fmla="*/ 2267617 w 3308032"/>
              <a:gd name="csY122" fmla="*/ 547878 h 1458087"/>
              <a:gd name="csX123" fmla="*/ 2717292 w 3308032"/>
              <a:gd name="csY123" fmla="*/ 237554 h 1458087"/>
              <a:gd name="csX124" fmla="*/ 2769584 w 3308032"/>
              <a:gd name="csY124" fmla="*/ 378905 h 1458087"/>
              <a:gd name="csX125" fmla="*/ 2714530 w 3308032"/>
              <a:gd name="csY125" fmla="*/ 524542 h 1458087"/>
              <a:gd name="csX126" fmla="*/ 2569083 w 3308032"/>
              <a:gd name="csY126" fmla="*/ 581692 h 1458087"/>
              <a:gd name="csX127" fmla="*/ 2424875 w 3308032"/>
              <a:gd name="csY127" fmla="*/ 528447 h 1458087"/>
              <a:gd name="csX128" fmla="*/ 2371439 w 3308032"/>
              <a:gd name="csY128" fmla="*/ 385191 h 1458087"/>
              <a:gd name="csX129" fmla="*/ 2428018 w 3308032"/>
              <a:gd name="csY129" fmla="*/ 238411 h 1458087"/>
              <a:gd name="csX130" fmla="*/ 2574227 w 3308032"/>
              <a:gd name="csY130" fmla="*/ 182785 h 1458087"/>
              <a:gd name="csX131" fmla="*/ 2717292 w 3308032"/>
              <a:gd name="csY131" fmla="*/ 237458 h 1458087"/>
              <a:gd name="csX132" fmla="*/ 2678430 w 3308032"/>
              <a:gd name="csY132" fmla="*/ 381191 h 1458087"/>
              <a:gd name="csX133" fmla="*/ 2650522 w 3308032"/>
              <a:gd name="csY133" fmla="*/ 289655 h 1458087"/>
              <a:gd name="csX134" fmla="*/ 2572036 w 3308032"/>
              <a:gd name="csY134" fmla="*/ 255079 h 1458087"/>
              <a:gd name="csX135" fmla="*/ 2492216 w 3308032"/>
              <a:gd name="csY135" fmla="*/ 290798 h 1458087"/>
              <a:gd name="csX136" fmla="*/ 2462308 w 3308032"/>
              <a:gd name="csY136" fmla="*/ 383477 h 1458087"/>
              <a:gd name="csX137" fmla="*/ 2491931 w 3308032"/>
              <a:gd name="csY137" fmla="*/ 476155 h 1458087"/>
              <a:gd name="csX138" fmla="*/ 2572512 w 3308032"/>
              <a:gd name="csY138" fmla="*/ 509969 h 1458087"/>
              <a:gd name="csX139" fmla="*/ 2650808 w 3308032"/>
              <a:gd name="csY139" fmla="*/ 475012 h 1458087"/>
              <a:gd name="csX140" fmla="*/ 2678525 w 3308032"/>
              <a:gd name="csY140" fmla="*/ 381286 h 1458087"/>
              <a:gd name="csX141" fmla="*/ 3280410 w 3308032"/>
              <a:gd name="csY141" fmla="*/ 494729 h 1458087"/>
              <a:gd name="csX142" fmla="*/ 3257360 w 3308032"/>
              <a:gd name="csY142" fmla="*/ 507397 h 1458087"/>
              <a:gd name="csX143" fmla="*/ 3236500 w 3308032"/>
              <a:gd name="csY143" fmla="*/ 511112 h 1458087"/>
              <a:gd name="csX144" fmla="*/ 3205258 w 3308032"/>
              <a:gd name="csY144" fmla="*/ 497872 h 1458087"/>
              <a:gd name="csX145" fmla="*/ 3194114 w 3308032"/>
              <a:gd name="csY145" fmla="*/ 456724 h 1458087"/>
              <a:gd name="csX146" fmla="*/ 3194114 w 3308032"/>
              <a:gd name="csY146" fmla="*/ 260985 h 1458087"/>
              <a:gd name="csX147" fmla="*/ 3291269 w 3308032"/>
              <a:gd name="csY147" fmla="*/ 260985 h 1458087"/>
              <a:gd name="csX148" fmla="*/ 3291269 w 3308032"/>
              <a:gd name="csY148" fmla="*/ 191738 h 1458087"/>
              <a:gd name="csX149" fmla="*/ 3194114 w 3308032"/>
              <a:gd name="csY149" fmla="*/ 191738 h 1458087"/>
              <a:gd name="csX150" fmla="*/ 3194114 w 3308032"/>
              <a:gd name="csY150" fmla="*/ 82677 h 1458087"/>
              <a:gd name="csX151" fmla="*/ 3105150 w 3308032"/>
              <a:gd name="csY151" fmla="*/ 98298 h 1458087"/>
              <a:gd name="csX152" fmla="*/ 3105150 w 3308032"/>
              <a:gd name="csY152" fmla="*/ 191643 h 1458087"/>
              <a:gd name="csX153" fmla="*/ 2957227 w 3308032"/>
              <a:gd name="csY153" fmla="*/ 191643 h 1458087"/>
              <a:gd name="csX154" fmla="*/ 2957227 w 3308032"/>
              <a:gd name="csY154" fmla="*/ 130969 h 1458087"/>
              <a:gd name="csX155" fmla="*/ 2970086 w 3308032"/>
              <a:gd name="csY155" fmla="*/ 86297 h 1458087"/>
              <a:gd name="csX156" fmla="*/ 3006757 w 3308032"/>
              <a:gd name="csY156" fmla="*/ 71438 h 1458087"/>
              <a:gd name="csX157" fmla="*/ 3029236 w 3308032"/>
              <a:gd name="csY157" fmla="*/ 74962 h 1458087"/>
              <a:gd name="csX158" fmla="*/ 3049143 w 3308032"/>
              <a:gd name="csY158" fmla="*/ 84868 h 1458087"/>
              <a:gd name="csX159" fmla="*/ 3085624 w 3308032"/>
              <a:gd name="csY159" fmla="*/ 20479 h 1458087"/>
              <a:gd name="csX160" fmla="*/ 3045429 w 3308032"/>
              <a:gd name="csY160" fmla="*/ 5048 h 1458087"/>
              <a:gd name="csX161" fmla="*/ 3003042 w 3308032"/>
              <a:gd name="csY161" fmla="*/ 0 h 1458087"/>
              <a:gd name="csX162" fmla="*/ 2903887 w 3308032"/>
              <a:gd name="csY162" fmla="*/ 34957 h 1458087"/>
              <a:gd name="csX163" fmla="*/ 2868740 w 3308032"/>
              <a:gd name="csY163" fmla="*/ 130207 h 1458087"/>
              <a:gd name="csX164" fmla="*/ 2868740 w 3308032"/>
              <a:gd name="csY164" fmla="*/ 191643 h 1458087"/>
              <a:gd name="csX165" fmla="*/ 2803970 w 3308032"/>
              <a:gd name="csY165" fmla="*/ 191643 h 1458087"/>
              <a:gd name="csX166" fmla="*/ 2803970 w 3308032"/>
              <a:gd name="csY166" fmla="*/ 260890 h 1458087"/>
              <a:gd name="csX167" fmla="*/ 2868740 w 3308032"/>
              <a:gd name="csY167" fmla="*/ 260890 h 1458087"/>
              <a:gd name="csX168" fmla="*/ 2868740 w 3308032"/>
              <a:gd name="csY168" fmla="*/ 572643 h 1458087"/>
              <a:gd name="csX169" fmla="*/ 2957322 w 3308032"/>
              <a:gd name="csY169" fmla="*/ 572643 h 1458087"/>
              <a:gd name="csX170" fmla="*/ 2957322 w 3308032"/>
              <a:gd name="csY170" fmla="*/ 260890 h 1458087"/>
              <a:gd name="csX171" fmla="*/ 3105246 w 3308032"/>
              <a:gd name="csY171" fmla="*/ 260890 h 1458087"/>
              <a:gd name="csX172" fmla="*/ 3105246 w 3308032"/>
              <a:gd name="csY172" fmla="*/ 469297 h 1458087"/>
              <a:gd name="csX173" fmla="*/ 3133535 w 3308032"/>
              <a:gd name="csY173" fmla="*/ 553022 h 1458087"/>
              <a:gd name="csX174" fmla="*/ 3218021 w 3308032"/>
              <a:gd name="csY174" fmla="*/ 581692 h 1458087"/>
              <a:gd name="csX175" fmla="*/ 3269171 w 3308032"/>
              <a:gd name="csY175" fmla="*/ 574453 h 1458087"/>
              <a:gd name="csX176" fmla="*/ 3308033 w 3308032"/>
              <a:gd name="csY176" fmla="*/ 554926 h 1458087"/>
              <a:gd name="csX177" fmla="*/ 3280505 w 3308032"/>
              <a:gd name="csY177" fmla="*/ 494633 h 1458087"/>
              <a:gd name="csX178" fmla="*/ 301181 w 3308032"/>
              <a:gd name="csY178" fmla="*/ 915543 h 1458087"/>
              <a:gd name="csX179" fmla="*/ 497300 w 3308032"/>
              <a:gd name="csY179" fmla="*/ 1449134 h 1458087"/>
              <a:gd name="csX180" fmla="*/ 399860 w 3308032"/>
              <a:gd name="csY180" fmla="*/ 1449134 h 1458087"/>
              <a:gd name="csX181" fmla="*/ 354139 w 3308032"/>
              <a:gd name="csY181" fmla="*/ 1324166 h 1458087"/>
              <a:gd name="csX182" fmla="*/ 140970 w 3308032"/>
              <a:gd name="csY182" fmla="*/ 1324166 h 1458087"/>
              <a:gd name="csX183" fmla="*/ 97441 w 3308032"/>
              <a:gd name="csY183" fmla="*/ 1449134 h 1458087"/>
              <a:gd name="csX184" fmla="*/ 0 w 3308032"/>
              <a:gd name="csY184" fmla="*/ 1449134 h 1458087"/>
              <a:gd name="csX185" fmla="*/ 197930 w 3308032"/>
              <a:gd name="csY185" fmla="*/ 915543 h 1458087"/>
              <a:gd name="csX186" fmla="*/ 301371 w 3308032"/>
              <a:gd name="csY186" fmla="*/ 915543 h 1458087"/>
              <a:gd name="csX187" fmla="*/ 329851 w 3308032"/>
              <a:gd name="csY187" fmla="*/ 1247108 h 1458087"/>
              <a:gd name="csX188" fmla="*/ 257651 w 3308032"/>
              <a:gd name="csY188" fmla="*/ 1037654 h 1458087"/>
              <a:gd name="csX189" fmla="*/ 252984 w 3308032"/>
              <a:gd name="csY189" fmla="*/ 1022795 h 1458087"/>
              <a:gd name="csX190" fmla="*/ 248317 w 3308032"/>
              <a:gd name="csY190" fmla="*/ 1006412 h 1458087"/>
              <a:gd name="csX191" fmla="*/ 246126 w 3308032"/>
              <a:gd name="csY191" fmla="*/ 1006412 h 1458087"/>
              <a:gd name="csX192" fmla="*/ 241459 w 3308032"/>
              <a:gd name="csY192" fmla="*/ 1022223 h 1458087"/>
              <a:gd name="csX193" fmla="*/ 236411 w 3308032"/>
              <a:gd name="csY193" fmla="*/ 1037654 h 1458087"/>
              <a:gd name="csX194" fmla="*/ 164973 w 3308032"/>
              <a:gd name="csY194" fmla="*/ 1247108 h 1458087"/>
              <a:gd name="csX195" fmla="*/ 329756 w 3308032"/>
              <a:gd name="csY195" fmla="*/ 1247108 h 1458087"/>
              <a:gd name="csX196" fmla="*/ 557403 w 3308032"/>
              <a:gd name="csY196" fmla="*/ 1449134 h 1458087"/>
              <a:gd name="csX197" fmla="*/ 648557 w 3308032"/>
              <a:gd name="csY197" fmla="*/ 1449134 h 1458087"/>
              <a:gd name="csX198" fmla="*/ 648557 w 3308032"/>
              <a:gd name="csY198" fmla="*/ 915543 h 1458087"/>
              <a:gd name="csX199" fmla="*/ 557403 w 3308032"/>
              <a:gd name="csY199" fmla="*/ 915543 h 1458087"/>
              <a:gd name="csX200" fmla="*/ 557403 w 3308032"/>
              <a:gd name="csY200" fmla="*/ 1449134 h 1458087"/>
              <a:gd name="csX201" fmla="*/ 1271778 w 3308032"/>
              <a:gd name="csY201" fmla="*/ 915543 h 1458087"/>
              <a:gd name="csX202" fmla="*/ 883730 w 3308032"/>
              <a:gd name="csY202" fmla="*/ 915543 h 1458087"/>
              <a:gd name="csX203" fmla="*/ 883730 w 3308032"/>
              <a:gd name="csY203" fmla="*/ 992600 h 1458087"/>
              <a:gd name="csX204" fmla="*/ 1031843 w 3308032"/>
              <a:gd name="csY204" fmla="*/ 992600 h 1458087"/>
              <a:gd name="csX205" fmla="*/ 1031843 w 3308032"/>
              <a:gd name="csY205" fmla="*/ 1449134 h 1458087"/>
              <a:gd name="csX206" fmla="*/ 1122998 w 3308032"/>
              <a:gd name="csY206" fmla="*/ 1449134 h 1458087"/>
              <a:gd name="csX207" fmla="*/ 1122998 w 3308032"/>
              <a:gd name="csY207" fmla="*/ 992600 h 1458087"/>
              <a:gd name="csX208" fmla="*/ 1271778 w 3308032"/>
              <a:gd name="csY208" fmla="*/ 992600 h 1458087"/>
              <a:gd name="csX209" fmla="*/ 1271778 w 3308032"/>
              <a:gd name="csY209" fmla="*/ 915543 h 1458087"/>
              <a:gd name="csX210" fmla="*/ 1581340 w 3308032"/>
              <a:gd name="csY210" fmla="*/ 1113854 h 1458087"/>
              <a:gd name="csX211" fmla="*/ 1633633 w 3308032"/>
              <a:gd name="csY211" fmla="*/ 1255205 h 1458087"/>
              <a:gd name="csX212" fmla="*/ 1578578 w 3308032"/>
              <a:gd name="csY212" fmla="*/ 1400842 h 1458087"/>
              <a:gd name="csX213" fmla="*/ 1433132 w 3308032"/>
              <a:gd name="csY213" fmla="*/ 1457992 h 1458087"/>
              <a:gd name="csX214" fmla="*/ 1288923 w 3308032"/>
              <a:gd name="csY214" fmla="*/ 1404747 h 1458087"/>
              <a:gd name="csX215" fmla="*/ 1235488 w 3308032"/>
              <a:gd name="csY215" fmla="*/ 1261491 h 1458087"/>
              <a:gd name="csX216" fmla="*/ 1292066 w 3308032"/>
              <a:gd name="csY216" fmla="*/ 1114711 h 1458087"/>
              <a:gd name="csX217" fmla="*/ 1438275 w 3308032"/>
              <a:gd name="csY217" fmla="*/ 1059085 h 1458087"/>
              <a:gd name="csX218" fmla="*/ 1581340 w 3308032"/>
              <a:gd name="csY218" fmla="*/ 1113758 h 1458087"/>
              <a:gd name="csX219" fmla="*/ 1542479 w 3308032"/>
              <a:gd name="csY219" fmla="*/ 1257491 h 1458087"/>
              <a:gd name="csX220" fmla="*/ 1514570 w 3308032"/>
              <a:gd name="csY220" fmla="*/ 1165955 h 1458087"/>
              <a:gd name="csX221" fmla="*/ 1436084 w 3308032"/>
              <a:gd name="csY221" fmla="*/ 1131380 h 1458087"/>
              <a:gd name="csX222" fmla="*/ 1356265 w 3308032"/>
              <a:gd name="csY222" fmla="*/ 1167098 h 1458087"/>
              <a:gd name="csX223" fmla="*/ 1326356 w 3308032"/>
              <a:gd name="csY223" fmla="*/ 1259777 h 1458087"/>
              <a:gd name="csX224" fmla="*/ 1355979 w 3308032"/>
              <a:gd name="csY224" fmla="*/ 1352455 h 1458087"/>
              <a:gd name="csX225" fmla="*/ 1436561 w 3308032"/>
              <a:gd name="csY225" fmla="*/ 1386269 h 1458087"/>
              <a:gd name="csX226" fmla="*/ 1514856 w 3308032"/>
              <a:gd name="csY226" fmla="*/ 1351312 h 1458087"/>
              <a:gd name="csX227" fmla="*/ 1542574 w 3308032"/>
              <a:gd name="csY227" fmla="*/ 1257586 h 1458087"/>
              <a:gd name="csX228" fmla="*/ 1951577 w 3308032"/>
              <a:gd name="csY228" fmla="*/ 1285399 h 1458087"/>
              <a:gd name="csX229" fmla="*/ 1926622 w 3308032"/>
              <a:gd name="csY229" fmla="*/ 1357598 h 1458087"/>
              <a:gd name="csX230" fmla="*/ 1862233 w 3308032"/>
              <a:gd name="csY230" fmla="*/ 1386269 h 1458087"/>
              <a:gd name="csX231" fmla="*/ 1805273 w 3308032"/>
              <a:gd name="csY231" fmla="*/ 1362266 h 1458087"/>
              <a:gd name="csX232" fmla="*/ 1787081 w 3308032"/>
              <a:gd name="csY232" fmla="*/ 1290638 h 1458087"/>
              <a:gd name="csX233" fmla="*/ 1787081 w 3308032"/>
              <a:gd name="csY233" fmla="*/ 1068134 h 1458087"/>
              <a:gd name="csX234" fmla="*/ 1698498 w 3308032"/>
              <a:gd name="csY234" fmla="*/ 1068134 h 1458087"/>
              <a:gd name="csX235" fmla="*/ 1698498 w 3308032"/>
              <a:gd name="csY235" fmla="*/ 1302544 h 1458087"/>
              <a:gd name="csX236" fmla="*/ 1732502 w 3308032"/>
              <a:gd name="csY236" fmla="*/ 1418463 h 1458087"/>
              <a:gd name="csX237" fmla="*/ 1833563 w 3308032"/>
              <a:gd name="csY237" fmla="*/ 1458087 h 1458087"/>
              <a:gd name="csX238" fmla="*/ 1899571 w 3308032"/>
              <a:gd name="csY238" fmla="*/ 1441514 h 1458087"/>
              <a:gd name="csX239" fmla="*/ 1949577 w 3308032"/>
              <a:gd name="csY239" fmla="*/ 1397413 h 1458087"/>
              <a:gd name="csX240" fmla="*/ 1951482 w 3308032"/>
              <a:gd name="csY240" fmla="*/ 1397413 h 1458087"/>
              <a:gd name="csX241" fmla="*/ 1951482 w 3308032"/>
              <a:gd name="csY241" fmla="*/ 1449134 h 1458087"/>
              <a:gd name="csX242" fmla="*/ 2040446 w 3308032"/>
              <a:gd name="csY242" fmla="*/ 1449134 h 1458087"/>
              <a:gd name="csX243" fmla="*/ 2040446 w 3308032"/>
              <a:gd name="csY243" fmla="*/ 1068134 h 1458087"/>
              <a:gd name="csX244" fmla="*/ 1951482 w 3308032"/>
              <a:gd name="csY244" fmla="*/ 1068134 h 1458087"/>
              <a:gd name="csX245" fmla="*/ 1951482 w 3308032"/>
              <a:gd name="csY245" fmla="*/ 1285399 h 1458087"/>
              <a:gd name="csX246" fmla="*/ 2326767 w 3308032"/>
              <a:gd name="csY246" fmla="*/ 1061466 h 1458087"/>
              <a:gd name="csX247" fmla="*/ 2266474 w 3308032"/>
              <a:gd name="csY247" fmla="*/ 1080992 h 1458087"/>
              <a:gd name="csX248" fmla="*/ 2227040 w 3308032"/>
              <a:gd name="csY248" fmla="*/ 1136999 h 1458087"/>
              <a:gd name="csX249" fmla="*/ 2225516 w 3308032"/>
              <a:gd name="csY249" fmla="*/ 1136999 h 1458087"/>
              <a:gd name="csX250" fmla="*/ 2225516 w 3308032"/>
              <a:gd name="csY250" fmla="*/ 1068134 h 1458087"/>
              <a:gd name="csX251" fmla="*/ 2136553 w 3308032"/>
              <a:gd name="csY251" fmla="*/ 1068134 h 1458087"/>
              <a:gd name="csX252" fmla="*/ 2136553 w 3308032"/>
              <a:gd name="csY252" fmla="*/ 1449134 h 1458087"/>
              <a:gd name="csX253" fmla="*/ 2225516 w 3308032"/>
              <a:gd name="csY253" fmla="*/ 1449134 h 1458087"/>
              <a:gd name="csX254" fmla="*/ 2225516 w 3308032"/>
              <a:gd name="csY254" fmla="*/ 1260824 h 1458087"/>
              <a:gd name="csX255" fmla="*/ 2249138 w 3308032"/>
              <a:gd name="csY255" fmla="*/ 1172623 h 1458087"/>
              <a:gd name="csX256" fmla="*/ 2311051 w 3308032"/>
              <a:gd name="csY256" fmla="*/ 1139095 h 1458087"/>
              <a:gd name="csX257" fmla="*/ 2334292 w 3308032"/>
              <a:gd name="csY257" fmla="*/ 1141476 h 1458087"/>
              <a:gd name="csX258" fmla="*/ 2356104 w 3308032"/>
              <a:gd name="csY258" fmla="*/ 1147953 h 1458087"/>
              <a:gd name="csX259" fmla="*/ 2379917 w 3308032"/>
              <a:gd name="csY259" fmla="*/ 1072039 h 1458087"/>
              <a:gd name="csX260" fmla="*/ 2353532 w 3308032"/>
              <a:gd name="csY260" fmla="*/ 1063466 h 1458087"/>
              <a:gd name="csX261" fmla="*/ 2326767 w 3308032"/>
              <a:gd name="csY261" fmla="*/ 1061276 h 14580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3308032" h="1458087">
                <a:moveTo>
                  <a:pt x="542449" y="193548"/>
                </a:moveTo>
                <a:cubicBezTo>
                  <a:pt x="542830" y="180499"/>
                  <a:pt x="543116" y="165735"/>
                  <a:pt x="543401" y="149066"/>
                </a:cubicBezTo>
                <a:lnTo>
                  <a:pt x="541211" y="149066"/>
                </a:lnTo>
                <a:cubicBezTo>
                  <a:pt x="539020" y="156496"/>
                  <a:pt x="536829" y="162973"/>
                  <a:pt x="534924" y="168593"/>
                </a:cubicBezTo>
                <a:cubicBezTo>
                  <a:pt x="532924" y="174212"/>
                  <a:pt x="530733" y="180118"/>
                  <a:pt x="528257" y="186309"/>
                </a:cubicBezTo>
                <a:lnTo>
                  <a:pt x="374618" y="572929"/>
                </a:lnTo>
                <a:lnTo>
                  <a:pt x="310229" y="572929"/>
                </a:lnTo>
                <a:lnTo>
                  <a:pt x="155448" y="189738"/>
                </a:lnTo>
                <a:cubicBezTo>
                  <a:pt x="153448" y="184023"/>
                  <a:pt x="151447" y="178308"/>
                  <a:pt x="149352" y="172402"/>
                </a:cubicBezTo>
                <a:cubicBezTo>
                  <a:pt x="147257" y="166592"/>
                  <a:pt x="144589" y="158782"/>
                  <a:pt x="141351" y="149162"/>
                </a:cubicBezTo>
                <a:lnTo>
                  <a:pt x="139160" y="149162"/>
                </a:lnTo>
                <a:cubicBezTo>
                  <a:pt x="139637" y="164592"/>
                  <a:pt x="140018" y="180118"/>
                  <a:pt x="140303" y="195834"/>
                </a:cubicBezTo>
                <a:cubicBezTo>
                  <a:pt x="140589" y="211550"/>
                  <a:pt x="140684" y="228505"/>
                  <a:pt x="140684" y="246602"/>
                </a:cubicBezTo>
                <a:lnTo>
                  <a:pt x="140684" y="572929"/>
                </a:lnTo>
                <a:lnTo>
                  <a:pt x="55817" y="572929"/>
                </a:lnTo>
                <a:lnTo>
                  <a:pt x="55817" y="39338"/>
                </a:lnTo>
                <a:lnTo>
                  <a:pt x="185642" y="39338"/>
                </a:lnTo>
                <a:lnTo>
                  <a:pt x="322231" y="383477"/>
                </a:lnTo>
                <a:cubicBezTo>
                  <a:pt x="327470" y="396145"/>
                  <a:pt x="331565" y="406908"/>
                  <a:pt x="334709" y="415671"/>
                </a:cubicBezTo>
                <a:cubicBezTo>
                  <a:pt x="337852" y="424434"/>
                  <a:pt x="340805" y="434245"/>
                  <a:pt x="343853" y="444913"/>
                </a:cubicBezTo>
                <a:lnTo>
                  <a:pt x="346043" y="444913"/>
                </a:lnTo>
                <a:cubicBezTo>
                  <a:pt x="350520" y="433007"/>
                  <a:pt x="354520" y="422243"/>
                  <a:pt x="358140" y="412528"/>
                </a:cubicBezTo>
                <a:cubicBezTo>
                  <a:pt x="361760" y="402812"/>
                  <a:pt x="365474" y="392811"/>
                  <a:pt x="369475" y="382429"/>
                </a:cubicBezTo>
                <a:lnTo>
                  <a:pt x="507873" y="39338"/>
                </a:lnTo>
                <a:lnTo>
                  <a:pt x="632555" y="39338"/>
                </a:lnTo>
                <a:lnTo>
                  <a:pt x="632555" y="572929"/>
                </a:lnTo>
                <a:lnTo>
                  <a:pt x="542163" y="572929"/>
                </a:lnTo>
                <a:lnTo>
                  <a:pt x="542163" y="234315"/>
                </a:lnTo>
                <a:cubicBezTo>
                  <a:pt x="542163" y="220218"/>
                  <a:pt x="542354" y="206597"/>
                  <a:pt x="542735" y="193548"/>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100000">
                <a:srgbClr val="0078D4"/>
              </a:gs>
              <a:gs pos="3000">
                <a:srgbClr val="463668"/>
              </a:gs>
            </a:gsLst>
            <a:lin ang="0" scaled="0"/>
          </a:gradFill>
          <a:ln w="9525" cap="flat">
            <a:noFill/>
            <a:prstDash val="solid"/>
            <a:miter/>
          </a:ln>
        </p:spPr>
        <p:txBody>
          <a:bodyPr/>
          <a:lstStyle/>
          <a:p>
            <a:endParaRPr lang="en-US"/>
          </a:p>
        </p:txBody>
      </p:sp>
      <p:pic>
        <p:nvPicPr>
          <p:cNvPr id="17" name="MS logo gray - EMF" descr="Microsoft logo, gray text version">
            <a:extLst>
              <a:ext uri="{FF2B5EF4-FFF2-40B4-BE49-F238E27FC236}">
                <a16:creationId xmlns:a16="http://schemas.microsoft.com/office/drawing/2014/main" id="{B605AFFB-ECC7-BC73-2966-D56BADE09BC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39687131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94360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accent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199" y="3962399"/>
            <a:ext cx="594360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3" name="MS logo gray - EMF" descr="Microsoft logo, gray text version">
            <a:extLst>
              <a:ext uri="{FF2B5EF4-FFF2-40B4-BE49-F238E27FC236}">
                <a16:creationId xmlns:a16="http://schemas.microsoft.com/office/drawing/2014/main" id="{B6A310A5-2746-FFC9-C289-A677D4E8400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5345756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solidFill>
          <a:srgbClr val="FFFFFF"/>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279770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7577195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72160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3282651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0055450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2899869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7852140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050287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16725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8431878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414633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endParaRPr lang="en-US" dirty="0"/>
          </a:p>
        </p:txBody>
      </p:sp>
    </p:spTree>
    <p:extLst>
      <p:ext uri="{BB962C8B-B14F-4D97-AF65-F5344CB8AC3E}">
        <p14:creationId xmlns:p14="http://schemas.microsoft.com/office/powerpoint/2010/main" val="21239851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298133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8573462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de Bottom">
    <p:bg>
      <p:bgPr>
        <a:solidFill>
          <a:srgbClr val="D7D2CB"/>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797647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de Top">
    <p:bg>
      <p:bgPr>
        <a:solidFill>
          <a:srgbClr val="D7D2C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22500826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de Right side">
    <p:bg>
      <p:bgPr>
        <a:solidFill>
          <a:srgbClr val="D7D2C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5710394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de Left sde">
    <p:bg>
      <p:bgPr>
        <a:solidFill>
          <a:srgbClr val="D7D2CB"/>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41374046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521208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521208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dirty="0"/>
              <a:t>Speaker name</a:t>
            </a:r>
          </a:p>
        </p:txBody>
      </p:sp>
    </p:spTree>
    <p:extLst>
      <p:ext uri="{BB962C8B-B14F-4D97-AF65-F5344CB8AC3E}">
        <p14:creationId xmlns:p14="http://schemas.microsoft.com/office/powerpoint/2010/main" val="38687490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4532839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7525051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2">
    <p:bg>
      <p:bgPr>
        <a:solidFill>
          <a:srgbClr val="8DC8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7568396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43307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6596654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41623113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2146568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23998659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1.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7.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0.sv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3" Type="http://schemas.openxmlformats.org/officeDocument/2006/relationships/hyperlink" Target="aka.ms/aitour27-resource-center" TargetMode="External"/><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hyperlink" Target="aka.ms/MicrosoftFoundryDiscord-AITour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CE0119-F82F-75EF-0AAE-422A9B463402}"/>
              </a:ext>
            </a:extLst>
          </p:cNvPr>
          <p:cNvSpPr>
            <a:spLocks noGrp="1"/>
          </p:cNvSpPr>
          <p:nvPr>
            <p:ph type="title" idx="4294967295"/>
          </p:nvPr>
        </p:nvSpPr>
        <p:spPr>
          <a:xfrm>
            <a:off x="1174750" y="457200"/>
            <a:ext cx="11017250" cy="554038"/>
          </a:xfrm>
        </p:spPr>
        <p:txBody>
          <a:bodyPr>
            <a:normAutofit/>
          </a:bodyPr>
          <a:lstStyle/>
          <a:p>
            <a:r>
              <a:rPr lang="en-US">
                <a:noFill/>
              </a:rPr>
              <a:t>Microsoft AI Tour</a:t>
            </a:r>
          </a:p>
        </p:txBody>
      </p:sp>
    </p:spTree>
    <p:extLst>
      <p:ext uri="{BB962C8B-B14F-4D97-AF65-F5344CB8AC3E}">
        <p14:creationId xmlns:p14="http://schemas.microsoft.com/office/powerpoint/2010/main" val="42513590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65EF-CE90-333A-AE91-4F2DFE26B9A5}"/>
              </a:ext>
            </a:extLst>
          </p:cNvPr>
          <p:cNvSpPr>
            <a:spLocks noGrp="1"/>
          </p:cNvSpPr>
          <p:nvPr>
            <p:ph type="title"/>
          </p:nvPr>
        </p:nvSpPr>
        <p:spPr>
          <a:xfrm>
            <a:off x="584200" y="2425780"/>
            <a:ext cx="7270262" cy="1107996"/>
          </a:xfrm>
        </p:spPr>
        <p:txBody>
          <a:bodyPr/>
          <a:lstStyle/>
          <a:p>
            <a:r>
              <a:rPr lang="en-GB" dirty="0"/>
              <a:t>Building &amp; Deploying AI Agents with Microsoft Foundry</a:t>
            </a:r>
          </a:p>
        </p:txBody>
      </p:sp>
      <p:sp>
        <p:nvSpPr>
          <p:cNvPr id="3" name="Text Placeholder 2">
            <a:extLst>
              <a:ext uri="{FF2B5EF4-FFF2-40B4-BE49-F238E27FC236}">
                <a16:creationId xmlns:a16="http://schemas.microsoft.com/office/drawing/2014/main" id="{13AA93F6-0237-907D-C0B7-ACABF04C7E9B}"/>
              </a:ext>
            </a:extLst>
          </p:cNvPr>
          <p:cNvSpPr>
            <a:spLocks noGrp="1"/>
          </p:cNvSpPr>
          <p:nvPr>
            <p:ph type="body" sz="quarter" idx="12"/>
          </p:nvPr>
        </p:nvSpPr>
        <p:spPr/>
        <p:txBody>
          <a:bodyPr/>
          <a:lstStyle/>
          <a:p>
            <a:r>
              <a:rPr lang="en-GB"/>
              <a:t>A five-minute introduction to ILL335</a:t>
            </a:r>
          </a:p>
        </p:txBody>
      </p:sp>
    </p:spTree>
    <p:extLst>
      <p:ext uri="{BB962C8B-B14F-4D97-AF65-F5344CB8AC3E}">
        <p14:creationId xmlns:p14="http://schemas.microsoft.com/office/powerpoint/2010/main" val="647699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B5EE3-7E68-390D-B20C-080A6EBF1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24DFA-BE7D-BC3F-5069-3FD32CC3000D}"/>
              </a:ext>
            </a:extLst>
          </p:cNvPr>
          <p:cNvSpPr>
            <a:spLocks noGrp="1"/>
          </p:cNvSpPr>
          <p:nvPr>
            <p:ph type="title"/>
          </p:nvPr>
        </p:nvSpPr>
        <p:spPr>
          <a:xfrm>
            <a:off x="587375" y="446810"/>
            <a:ext cx="11017250" cy="554038"/>
          </a:xfrm>
        </p:spPr>
        <p:txBody>
          <a:bodyPr/>
          <a:lstStyle/>
          <a:p>
            <a:r>
              <a:rPr lang="en-CA" dirty="0"/>
              <a:t>Meet </a:t>
            </a:r>
            <a:r>
              <a:rPr lang="en-CA" dirty="0" err="1"/>
              <a:t>Caldova</a:t>
            </a:r>
            <a:r>
              <a:rPr lang="en-CA" dirty="0"/>
              <a:t>: your lab scenario</a:t>
            </a:r>
            <a:endParaRPr lang="en-US" dirty="0"/>
          </a:p>
        </p:txBody>
      </p:sp>
      <p:sp>
        <p:nvSpPr>
          <p:cNvPr id="9" name="TextBox 8">
            <a:extLst>
              <a:ext uri="{FF2B5EF4-FFF2-40B4-BE49-F238E27FC236}">
                <a16:creationId xmlns:a16="http://schemas.microsoft.com/office/drawing/2014/main" id="{EB2EDFFA-25E5-BBD5-639C-BAEE3B629C23}"/>
              </a:ext>
            </a:extLst>
          </p:cNvPr>
          <p:cNvSpPr txBox="1"/>
          <p:nvPr/>
        </p:nvSpPr>
        <p:spPr>
          <a:xfrm>
            <a:off x="587375" y="1047929"/>
            <a:ext cx="10881360" cy="381643"/>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0" i="0" u="none" strike="noStrike" kern="0" cap="none" spc="0" normalizeH="0" baseline="0" noProof="0" dirty="0">
                <a:ln>
                  <a:noFill/>
                </a:ln>
                <a:gradFill>
                  <a:gsLst>
                    <a:gs pos="32110">
                      <a:srgbClr val="000000"/>
                    </a:gs>
                    <a:gs pos="72000">
                      <a:srgbClr val="000000"/>
                    </a:gs>
                  </a:gsLst>
                  <a:lin ang="2700000" scaled="1"/>
                </a:gradFill>
                <a:effectLst/>
                <a:uLnTx/>
                <a:uFillTx/>
                <a:latin typeface="Segoe UI Semibold" panose="020B0502040204020203" pitchFamily="34" charset="0"/>
                <a:ea typeface="+mn-ea"/>
                <a:cs typeface="+mn-cs"/>
              </a:rPr>
              <a:t>Build insight and responsible routing for consumer feedback</a:t>
            </a:r>
          </a:p>
        </p:txBody>
      </p:sp>
      <p:sp>
        <p:nvSpPr>
          <p:cNvPr id="16" name="Rounded Rectangle 15">
            <a:extLst>
              <a:ext uri="{FF2B5EF4-FFF2-40B4-BE49-F238E27FC236}">
                <a16:creationId xmlns:a16="http://schemas.microsoft.com/office/drawing/2014/main" id="{E67C7D4B-4C6E-0D7F-C35F-F71BF94D0951}"/>
              </a:ext>
              <a:ext uri="{C183D7F6-B498-43B3-948B-1728B52AA6E4}">
                <adec:decorative xmlns:adec="http://schemas.microsoft.com/office/drawing/2017/decorative" val="1"/>
              </a:ext>
            </a:extLst>
          </p:cNvPr>
          <p:cNvSpPr/>
          <p:nvPr/>
        </p:nvSpPr>
        <p:spPr bwMode="auto">
          <a:xfrm>
            <a:off x="597888" y="2012195"/>
            <a:ext cx="4921563" cy="3797876"/>
          </a:xfrm>
          <a:prstGeom prst="roundRect">
            <a:avLst>
              <a:gd name="adj" fmla="val 8639"/>
            </a:avLst>
          </a:prstGeom>
          <a:solidFill>
            <a:srgbClr val="194449">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err="1">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17" name="TextBox 16">
            <a:extLst>
              <a:ext uri="{FF2B5EF4-FFF2-40B4-BE49-F238E27FC236}">
                <a16:creationId xmlns:a16="http://schemas.microsoft.com/office/drawing/2014/main" id="{EA8BDC94-9FDE-CA90-45DD-CA7F107DE659}"/>
              </a:ext>
            </a:extLst>
          </p:cNvPr>
          <p:cNvSpPr txBox="1"/>
          <p:nvPr/>
        </p:nvSpPr>
        <p:spPr>
          <a:xfrm>
            <a:off x="2347825" y="2704387"/>
            <a:ext cx="1421688" cy="492371"/>
          </a:xfrm>
          <a:prstGeom prst="roundRect">
            <a:avLst>
              <a:gd name="adj" fmla="val 38744"/>
            </a:avLst>
          </a:prstGeom>
          <a:gradFill>
            <a:gsLst>
              <a:gs pos="0">
                <a:srgbClr val="7FC0E6"/>
              </a:gs>
              <a:gs pos="100000">
                <a:srgbClr val="B9DCD2"/>
              </a:gs>
              <a:gs pos="35000">
                <a:srgbClr val="8DC8E8"/>
              </a:gs>
            </a:gsLst>
            <a:path path="circle">
              <a:fillToRect r="100000" b="100000"/>
            </a:path>
          </a:gradFill>
        </p:spPr>
        <p:txBody>
          <a:bodyPr wrap="none" lIns="137160" tIns="18288" rIns="137160" bIns="54864" rtlCol="0">
            <a:spAutoFit/>
          </a:bodyPr>
          <a:lstStyle>
            <a:defPPr>
              <a:defRPr lang="en-US"/>
            </a:defPPr>
            <a:lvl1pPr marR="0" lvl="0" indent="0" algn="ctr" defTabSz="914437" fontAlgn="base">
              <a:lnSpc>
                <a:spcPct val="100000"/>
              </a:lnSpc>
              <a:spcBef>
                <a:spcPct val="0"/>
              </a:spcBef>
              <a:spcAft>
                <a:spcPct val="0"/>
              </a:spcAft>
              <a:buClrTx/>
              <a:buSzTx/>
              <a:buFontTx/>
              <a:buNone/>
              <a:tabLst>
                <a:tab pos="1487158" algn="l"/>
              </a:tabLst>
              <a:defRPr kumimoji="0" sz="2000" b="1" i="0" u="none" strike="noStrike" cap="none" spc="0" normalizeH="0" baseline="0">
                <a:ln w="3175">
                  <a:noFill/>
                </a:ln>
                <a:effectLst/>
                <a:uLnTx/>
                <a:uFillTx/>
                <a:latin typeface="Segoe UI Semibold" panose="020B0502040204020203" pitchFamily="34" charset="0"/>
                <a:cs typeface="Segoe UI" pitchFamily="34" charset="0"/>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20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Your role</a:t>
            </a:r>
          </a:p>
        </p:txBody>
      </p:sp>
      <p:sp>
        <p:nvSpPr>
          <p:cNvPr id="20" name="Title 6">
            <a:extLst>
              <a:ext uri="{FF2B5EF4-FFF2-40B4-BE49-F238E27FC236}">
                <a16:creationId xmlns:a16="http://schemas.microsoft.com/office/drawing/2014/main" id="{85A9BBEA-DFAF-FA8A-CA49-5BEAAF861C72}"/>
              </a:ext>
            </a:extLst>
          </p:cNvPr>
          <p:cNvSpPr txBox="1">
            <a:spLocks/>
          </p:cNvSpPr>
          <p:nvPr/>
        </p:nvSpPr>
        <p:spPr>
          <a:xfrm>
            <a:off x="1092709" y="3535815"/>
            <a:ext cx="3931920" cy="677108"/>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4400" b="1" i="0" u="none" strike="noStrike" kern="1200" cap="none" spc="-50" normalizeH="0" baseline="0" noProof="0" dirty="0">
                <a:ln w="3175">
                  <a:noFill/>
                </a:ln>
                <a:gradFill flip="none" rotWithShape="1">
                  <a:gsLst>
                    <a:gs pos="0">
                      <a:srgbClr val="175B9C"/>
                    </a:gs>
                    <a:gs pos="100000">
                      <a:srgbClr val="87ADA2"/>
                    </a:gs>
                    <a:gs pos="50000">
                      <a:srgbClr val="0078D4"/>
                    </a:gs>
                  </a:gsLst>
                  <a:path path="circle">
                    <a:fillToRect t="100000" r="100000"/>
                  </a:path>
                  <a:tileRect l="-100000" b="-100000"/>
                </a:gradFill>
                <a:effectLst/>
                <a:uLnTx/>
                <a:uFillTx/>
                <a:latin typeface="Segoe UI Semibold" panose="020B0502040204020203" pitchFamily="34" charset="0"/>
                <a:ea typeface="+mn-ea"/>
                <a:cs typeface="Segoe UI" pitchFamily="34" charset="0"/>
              </a:rPr>
              <a:t>AI developer</a:t>
            </a:r>
          </a:p>
        </p:txBody>
      </p:sp>
      <p:sp>
        <p:nvSpPr>
          <p:cNvPr id="21" name="TextBox 20">
            <a:extLst>
              <a:ext uri="{FF2B5EF4-FFF2-40B4-BE49-F238E27FC236}">
                <a16:creationId xmlns:a16="http://schemas.microsoft.com/office/drawing/2014/main" id="{EA215468-C243-45D4-6E41-2E63409CA529}"/>
              </a:ext>
            </a:extLst>
          </p:cNvPr>
          <p:cNvSpPr txBox="1"/>
          <p:nvPr/>
        </p:nvSpPr>
        <p:spPr>
          <a:xfrm>
            <a:off x="1688727" y="4434654"/>
            <a:ext cx="2739886" cy="543226"/>
          </a:xfrm>
          <a:prstGeom prst="rect">
            <a:avLst/>
          </a:prstGeom>
          <a:noFill/>
        </p:spPr>
        <p:txBody>
          <a:bodyPr wrap="square" lIns="0" tIns="0" rIns="0" bIns="0" rtlCol="0" anchor="t">
            <a:spAutoFit/>
          </a:bodyPr>
          <a:lstStyle/>
          <a:p>
            <a:pPr marL="0" marR="0" lvl="1" indent="0" algn="ctr" defTabSz="712817" rtl="0" eaLnBrk="1" fontAlgn="auto" latinLnBrk="0" hangingPunct="1">
              <a:lnSpc>
                <a:spcPct val="100000"/>
              </a:lnSpc>
              <a:spcBef>
                <a:spcPts val="1800"/>
              </a:spcBef>
              <a:spcAft>
                <a:spcPts val="0"/>
              </a:spcAft>
              <a:buClrTx/>
              <a:buSzTx/>
              <a:buFontTx/>
              <a:buNone/>
              <a:tabLst/>
              <a:defRPr/>
            </a:pPr>
            <a:r>
              <a:rPr kumimoji="0" lang="en-US" sz="1765" b="1" i="0" u="none" strike="noStrike" kern="1200" cap="none" spc="0" normalizeH="0" baseline="0" noProof="0" dirty="0">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Commercial digital + customer engagement</a:t>
            </a:r>
          </a:p>
        </p:txBody>
      </p:sp>
      <p:sp>
        <p:nvSpPr>
          <p:cNvPr id="14" name="TextBox 13">
            <a:extLst>
              <a:ext uri="{FF2B5EF4-FFF2-40B4-BE49-F238E27FC236}">
                <a16:creationId xmlns:a16="http://schemas.microsoft.com/office/drawing/2014/main" id="{5DD4083D-AA84-07FC-B820-98DEE7E4715A}"/>
              </a:ext>
            </a:extLst>
          </p:cNvPr>
          <p:cNvSpPr txBox="1"/>
          <p:nvPr/>
        </p:nvSpPr>
        <p:spPr>
          <a:xfrm>
            <a:off x="6014274" y="2211700"/>
            <a:ext cx="4248556" cy="901272"/>
          </a:xfrm>
          <a:prstGeom prst="rect">
            <a:avLst/>
          </a:prstGeom>
          <a:noFill/>
        </p:spPr>
        <p:txBody>
          <a:bodyPr wrap="square" lIns="36576" tIns="18288" rIns="36576" bIns="18288">
            <a:spAutoFit/>
          </a:bodyPr>
          <a:lstStyle/>
          <a:p>
            <a:pPr marL="0" marR="0" lvl="0" indent="0" algn="l" defTabSz="914437" rtl="0" eaLnBrk="1" fontAlgn="base" latinLnBrk="0" hangingPunct="1">
              <a:lnSpc>
                <a:spcPct val="100000"/>
              </a:lnSpc>
              <a:spcBef>
                <a:spcPct val="0"/>
              </a:spcBef>
              <a:spcAft>
                <a:spcPct val="0"/>
              </a:spcAft>
              <a:buClrTx/>
              <a:buSzTx/>
              <a:buFontTx/>
              <a:buNone/>
              <a:tabLst>
                <a:tab pos="1487158" algn="l"/>
              </a:tabLst>
              <a:defRPr/>
            </a:pPr>
            <a:r>
              <a:rPr kumimoji="0" sz="20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The challenge</a:t>
            </a:r>
            <a:endParaRPr kumimoji="0" lang="en-CA" sz="20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endParaRPr>
          </a:p>
          <a:p>
            <a:pPr marL="0" marR="0" lvl="0" indent="0" algn="l" defTabSz="457200" rtl="0" eaLnBrk="1" fontAlgn="auto" latinLnBrk="0" hangingPunct="1">
              <a:lnSpc>
                <a:spcPct val="100000"/>
              </a:lnSpc>
              <a:spcBef>
                <a:spcPts val="500"/>
              </a:spcBef>
              <a:spcAft>
                <a:spcPts val="800"/>
              </a:spcAft>
              <a:buClrTx/>
              <a:buSzTx/>
              <a:buFontTx/>
              <a:buNone/>
              <a:tabLst/>
              <a:defRPr/>
            </a:pPr>
            <a:r>
              <a:rPr kumimoji="0" sz="1600" b="1" i="0" u="none" strike="noStrike" kern="1200" cap="none" spc="0" normalizeH="0" baseline="0" noProof="0" dirty="0" err="1">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Caldova</a:t>
            </a:r>
            <a:r>
              <a:rPr kumimoji="0"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 receives consumer feedback across products and support channels</a:t>
            </a:r>
          </a:p>
        </p:txBody>
      </p:sp>
      <p:cxnSp>
        <p:nvCxnSpPr>
          <p:cNvPr id="27" name="Straight Arrow Connector 26" descr="Theme 1 multi-color line">
            <a:extLst>
              <a:ext uri="{FF2B5EF4-FFF2-40B4-BE49-F238E27FC236}">
                <a16:creationId xmlns:a16="http://schemas.microsoft.com/office/drawing/2014/main" id="{B0D551DB-F3DD-101E-ABB6-CB3BA48C273F}"/>
              </a:ext>
              <a:ext uri="{C183D7F6-B498-43B3-948B-1728B52AA6E4}">
                <adec:decorative xmlns:adec="http://schemas.microsoft.com/office/drawing/2017/decorative" val="0"/>
              </a:ext>
            </a:extLst>
          </p:cNvPr>
          <p:cNvCxnSpPr>
            <a:cxnSpLocks/>
          </p:cNvCxnSpPr>
          <p:nvPr/>
        </p:nvCxnSpPr>
        <p:spPr>
          <a:xfrm>
            <a:off x="6062750" y="3301104"/>
            <a:ext cx="5114477" cy="0"/>
          </a:xfrm>
          <a:prstGeom prst="straightConnector1">
            <a:avLst/>
          </a:pr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020CF76-55FC-64E2-BF44-7835621D022B}"/>
              </a:ext>
            </a:extLst>
          </p:cNvPr>
          <p:cNvSpPr txBox="1"/>
          <p:nvPr/>
        </p:nvSpPr>
        <p:spPr>
          <a:xfrm>
            <a:off x="6014272" y="3490309"/>
            <a:ext cx="5162955" cy="901272"/>
          </a:xfrm>
          <a:prstGeom prst="rect">
            <a:avLst/>
          </a:prstGeom>
          <a:noFill/>
        </p:spPr>
        <p:txBody>
          <a:bodyPr wrap="square" lIns="36576" tIns="18288" rIns="36576" bIns="18288">
            <a:spAutoFit/>
          </a:bodyPr>
          <a:lstStyle/>
          <a:p>
            <a:pPr marL="0" marR="0" lvl="0" indent="0" algn="l" defTabSz="914437" rtl="0" eaLnBrk="1" fontAlgn="base" latinLnBrk="0" hangingPunct="1">
              <a:lnSpc>
                <a:spcPct val="100000"/>
              </a:lnSpc>
              <a:spcBef>
                <a:spcPct val="0"/>
              </a:spcBef>
              <a:spcAft>
                <a:spcPct val="0"/>
              </a:spcAft>
              <a:buClrTx/>
              <a:buSzTx/>
              <a:buFontTx/>
              <a:buNone/>
              <a:tabLst>
                <a:tab pos="1487158" algn="l"/>
              </a:tabLst>
              <a:defRPr/>
            </a:pPr>
            <a:r>
              <a:rPr kumimoji="0" lang="en-CA" sz="20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Your mission</a:t>
            </a:r>
          </a:p>
          <a:p>
            <a:pPr marL="0" marR="0" lvl="0" indent="0" algn="l" defTabSz="457200" rtl="0" eaLnBrk="1" fontAlgn="base" latinLnBrk="0" hangingPunct="1">
              <a:lnSpc>
                <a:spcPct val="100000"/>
              </a:lnSpc>
              <a:spcBef>
                <a:spcPts val="500"/>
              </a:spcBef>
              <a:spcAft>
                <a:spcPts val="800"/>
              </a:spcAft>
              <a:buClrTx/>
              <a:buSzTx/>
              <a:buFontTx/>
              <a:buNone/>
              <a:tabLst>
                <a:tab pos="1487158" algn="l"/>
              </a:tabLst>
              <a:defRPr/>
            </a:pPr>
            <a:r>
              <a:rPr kumimoji="0" lang="en-CA"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Classify sentiment, summarize topics, and independently flag regulated signals for human review</a:t>
            </a:r>
          </a:p>
        </p:txBody>
      </p:sp>
      <p:cxnSp>
        <p:nvCxnSpPr>
          <p:cNvPr id="30" name="Straight Arrow Connector 29" descr="Theme 1 multi-color line">
            <a:extLst>
              <a:ext uri="{FF2B5EF4-FFF2-40B4-BE49-F238E27FC236}">
                <a16:creationId xmlns:a16="http://schemas.microsoft.com/office/drawing/2014/main" id="{669D786F-C3F2-B509-8DD0-612E02AE34FB}"/>
              </a:ext>
              <a:ext uri="{C183D7F6-B498-43B3-948B-1728B52AA6E4}">
                <adec:decorative xmlns:adec="http://schemas.microsoft.com/office/drawing/2017/decorative" val="0"/>
              </a:ext>
            </a:extLst>
          </p:cNvPr>
          <p:cNvCxnSpPr>
            <a:cxnSpLocks/>
          </p:cNvCxnSpPr>
          <p:nvPr/>
        </p:nvCxnSpPr>
        <p:spPr>
          <a:xfrm>
            <a:off x="6062750" y="4571764"/>
            <a:ext cx="5114477" cy="0"/>
          </a:xfrm>
          <a:prstGeom prst="straightConnector1">
            <a:avLst/>
          </a:pr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C8C2D5C-21FA-ED7D-8D17-29B6D4DB46CF}"/>
              </a:ext>
            </a:extLst>
          </p:cNvPr>
          <p:cNvSpPr txBox="1"/>
          <p:nvPr/>
        </p:nvSpPr>
        <p:spPr>
          <a:xfrm>
            <a:off x="6014273" y="4768916"/>
            <a:ext cx="5162955" cy="870495"/>
          </a:xfrm>
          <a:prstGeom prst="rect">
            <a:avLst/>
          </a:prstGeom>
          <a:noFill/>
        </p:spPr>
        <p:txBody>
          <a:bodyPr wrap="square" lIns="36576" tIns="18288" rIns="36576" bIns="18288">
            <a:spAutoFit/>
          </a:bodyPr>
          <a:lstStyle/>
          <a:p>
            <a:pPr marL="0" marR="0" lvl="0" indent="0" algn="l" defTabSz="914437" rtl="0" eaLnBrk="1" fontAlgn="base" latinLnBrk="0" hangingPunct="1">
              <a:lnSpc>
                <a:spcPct val="100000"/>
              </a:lnSpc>
              <a:spcBef>
                <a:spcPct val="0"/>
              </a:spcBef>
              <a:spcAft>
                <a:spcPct val="0"/>
              </a:spcAft>
              <a:buClrTx/>
              <a:buSzTx/>
              <a:buFontTx/>
              <a:buNone/>
              <a:tabLst>
                <a:tab pos="1487158" algn="l"/>
              </a:tabLst>
              <a:defRPr/>
            </a:pPr>
            <a:r>
              <a:rPr kumimoji="0" lang="en-CA" sz="18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Your finish line</a:t>
            </a:r>
          </a:p>
          <a:p>
            <a:pPr marL="0" marR="0" lvl="0" indent="0" algn="l" defTabSz="457200" rtl="0" eaLnBrk="1" fontAlgn="auto" latinLnBrk="0" hangingPunct="1">
              <a:lnSpc>
                <a:spcPct val="100000"/>
              </a:lnSpc>
              <a:spcBef>
                <a:spcPts val="500"/>
              </a:spcBef>
              <a:spcAft>
                <a:spcPts val="800"/>
              </a:spcAft>
              <a:buClrTx/>
              <a:buSzTx/>
              <a:buFontTx/>
              <a:buNone/>
              <a:tabLst/>
              <a:defRPr/>
            </a:pPr>
            <a:r>
              <a:rPr kumimoji="0" lang="en-CA"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A managed hosted agent callable through the Responses API</a:t>
            </a:r>
          </a:p>
        </p:txBody>
      </p:sp>
    </p:spTree>
    <p:extLst>
      <p:ext uri="{BB962C8B-B14F-4D97-AF65-F5344CB8AC3E}">
        <p14:creationId xmlns:p14="http://schemas.microsoft.com/office/powerpoint/2010/main" val="14289604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00"/>
                                        <p:tgtEl>
                                          <p:spTgt spid="16"/>
                                        </p:tgtEl>
                                      </p:cBhvr>
                                    </p:animEffect>
                                  </p:childTnLst>
                                </p:cTn>
                              </p:par>
                              <p:par>
                                <p:cTn id="11" presetID="10" presetClass="entr" presetSubtype="0" fill="hold" nodeType="withEffect">
                                  <p:stCondLst>
                                    <p:cond delay="4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200"/>
                                        <p:tgtEl>
                                          <p:spTgt spid="27"/>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00"/>
                                        <p:tgtEl>
                                          <p:spTgt spid="14"/>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200"/>
                                        <p:tgtEl>
                                          <p:spTgt spid="4"/>
                                        </p:tgtEl>
                                      </p:cBhvr>
                                    </p:animEffect>
                                  </p:childTnLst>
                                </p:cTn>
                              </p:par>
                              <p:par>
                                <p:cTn id="20" presetID="10" presetClass="entr" presetSubtype="0" fill="hold" nodeType="withEffect">
                                  <p:stCondLst>
                                    <p:cond delay="50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200"/>
                                        <p:tgtEl>
                                          <p:spTgt spid="30"/>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2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200"/>
                                        <p:tgtEl>
                                          <p:spTgt spid="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200"/>
                                        <p:tgtEl>
                                          <p:spTgt spid="9"/>
                                        </p:tgtEl>
                                      </p:cBhvr>
                                    </p:animEffect>
                                  </p:childTnLst>
                                </p:cTn>
                              </p:par>
                              <p:par>
                                <p:cTn id="32" presetID="10" presetClass="entr" presetSubtype="0" fill="hold" grpId="0" nodeType="withEffect">
                                  <p:stCondLst>
                                    <p:cond delay="10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200"/>
                                        <p:tgtEl>
                                          <p:spTgt spid="20"/>
                                        </p:tgtEl>
                                      </p:cBhvr>
                                    </p:animEffect>
                                  </p:childTnLst>
                                </p:cTn>
                              </p:par>
                              <p:par>
                                <p:cTn id="35" presetID="10" presetClass="entr" presetSubtype="0" fill="hold" grpId="0" nodeType="withEffect">
                                  <p:stCondLst>
                                    <p:cond delay="10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6" grpId="0" animBg="1"/>
      <p:bldP spid="17" grpId="0" animBg="1"/>
      <p:bldP spid="20" grpId="0"/>
      <p:bldP spid="21" grpId="0"/>
      <p:bldP spid="14" grpId="0"/>
      <p:bldP spid="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30C71-CD2C-642B-EE7C-AB24BEC29015}"/>
              </a:ext>
            </a:extLst>
          </p:cNvPr>
          <p:cNvSpPr>
            <a:spLocks noGrp="1"/>
          </p:cNvSpPr>
          <p:nvPr>
            <p:ph type="title"/>
          </p:nvPr>
        </p:nvSpPr>
        <p:spPr>
          <a:xfrm>
            <a:off x="587375" y="457200"/>
            <a:ext cx="11017250" cy="554038"/>
          </a:xfrm>
        </p:spPr>
        <p:txBody>
          <a:bodyPr/>
          <a:lstStyle/>
          <a:p>
            <a:r>
              <a:rPr lang="en-CA" dirty="0"/>
              <a:t>What is Microsoft Foundry?</a:t>
            </a:r>
            <a:endParaRPr lang="en-US" dirty="0"/>
          </a:p>
        </p:txBody>
      </p:sp>
      <p:sp>
        <p:nvSpPr>
          <p:cNvPr id="4" name="TextBox 3">
            <a:extLst>
              <a:ext uri="{FF2B5EF4-FFF2-40B4-BE49-F238E27FC236}">
                <a16:creationId xmlns:a16="http://schemas.microsoft.com/office/drawing/2014/main" id="{19BC0197-ED76-93CC-D01B-DDC1EAAF3CF2}"/>
              </a:ext>
            </a:extLst>
          </p:cNvPr>
          <p:cNvSpPr txBox="1"/>
          <p:nvPr/>
        </p:nvSpPr>
        <p:spPr>
          <a:xfrm>
            <a:off x="587375" y="1047929"/>
            <a:ext cx="10881360" cy="381643"/>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0" cap="none" spc="0" normalizeH="0" baseline="0" noProof="0" dirty="0">
                <a:ln>
                  <a:noFill/>
                </a:ln>
                <a:gradFill>
                  <a:gsLst>
                    <a:gs pos="32110">
                      <a:srgbClr val="000000"/>
                    </a:gs>
                    <a:gs pos="72000">
                      <a:srgbClr val="000000"/>
                    </a:gs>
                  </a:gsLst>
                  <a:lin ang="2700000" scaled="1"/>
                </a:gradFill>
                <a:effectLst/>
                <a:uLnTx/>
                <a:uFillTx/>
                <a:latin typeface="Segoe UI Semibold" panose="020B0502040204020203" pitchFamily="34" charset="0"/>
                <a:ea typeface="+mn-ea"/>
                <a:cs typeface="+mn-cs"/>
              </a:rPr>
              <a:t>A unified place to discover models and build, evaluate, and deploy AI applications</a:t>
            </a:r>
          </a:p>
        </p:txBody>
      </p:sp>
      <p:sp>
        <p:nvSpPr>
          <p:cNvPr id="23" name="Rounded Rectangle 22">
            <a:extLst>
              <a:ext uri="{FF2B5EF4-FFF2-40B4-BE49-F238E27FC236}">
                <a16:creationId xmlns:a16="http://schemas.microsoft.com/office/drawing/2014/main" id="{95DECB81-910E-E3C0-DF6E-BA14DA16645C}"/>
              </a:ext>
              <a:ext uri="{C183D7F6-B498-43B3-948B-1728B52AA6E4}">
                <adec:decorative xmlns:adec="http://schemas.microsoft.com/office/drawing/2017/decorative" val="1"/>
              </a:ext>
            </a:extLst>
          </p:cNvPr>
          <p:cNvSpPr/>
          <p:nvPr/>
        </p:nvSpPr>
        <p:spPr bwMode="auto">
          <a:xfrm>
            <a:off x="584200" y="1798553"/>
            <a:ext cx="3558285" cy="3469052"/>
          </a:xfrm>
          <a:prstGeom prst="roundRect">
            <a:avLst>
              <a:gd name="adj" fmla="val 9306"/>
            </a:avLst>
          </a:prstGeom>
          <a:solidFill>
            <a:srgbClr val="194449">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24" name="Rounded Rectangle 23">
            <a:extLst>
              <a:ext uri="{FF2B5EF4-FFF2-40B4-BE49-F238E27FC236}">
                <a16:creationId xmlns:a16="http://schemas.microsoft.com/office/drawing/2014/main" id="{CAED84DD-70FB-7D23-AF5F-FF11BA9644C8}"/>
              </a:ext>
              <a:ext uri="{C183D7F6-B498-43B3-948B-1728B52AA6E4}">
                <adec:decorative xmlns:adec="http://schemas.microsoft.com/office/drawing/2017/decorative" val="1"/>
              </a:ext>
            </a:extLst>
          </p:cNvPr>
          <p:cNvSpPr/>
          <p:nvPr/>
        </p:nvSpPr>
        <p:spPr bwMode="auto">
          <a:xfrm>
            <a:off x="4313683" y="1803748"/>
            <a:ext cx="3558285" cy="3469052"/>
          </a:xfrm>
          <a:prstGeom prst="roundRect">
            <a:avLst>
              <a:gd name="adj" fmla="val 9306"/>
            </a:avLst>
          </a:prstGeom>
          <a:solidFill>
            <a:srgbClr val="194449">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dirty="0">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25" name="Rounded Rectangle 24">
            <a:extLst>
              <a:ext uri="{FF2B5EF4-FFF2-40B4-BE49-F238E27FC236}">
                <a16:creationId xmlns:a16="http://schemas.microsoft.com/office/drawing/2014/main" id="{EBFBA0F4-36F6-BFFA-4B72-848B1052F76C}"/>
              </a:ext>
              <a:ext uri="{C183D7F6-B498-43B3-948B-1728B52AA6E4}">
                <adec:decorative xmlns:adec="http://schemas.microsoft.com/office/drawing/2017/decorative" val="1"/>
              </a:ext>
            </a:extLst>
          </p:cNvPr>
          <p:cNvSpPr/>
          <p:nvPr/>
        </p:nvSpPr>
        <p:spPr bwMode="auto">
          <a:xfrm>
            <a:off x="8043165" y="1803748"/>
            <a:ext cx="3558285" cy="3469052"/>
          </a:xfrm>
          <a:prstGeom prst="roundRect">
            <a:avLst>
              <a:gd name="adj" fmla="val 9306"/>
            </a:avLst>
          </a:prstGeom>
          <a:solidFill>
            <a:srgbClr val="194449">
              <a:alpha val="10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12" name="TextBox 11"/>
          <p:cNvSpPr txBox="1"/>
          <p:nvPr/>
        </p:nvSpPr>
        <p:spPr>
          <a:xfrm>
            <a:off x="877326" y="3003179"/>
            <a:ext cx="3208803" cy="566309"/>
          </a:xfrm>
          <a:prstGeom prst="rect">
            <a:avLst/>
          </a:prstGeom>
          <a:noFill/>
        </p:spPr>
        <p:txBody>
          <a:bodyPr wrap="square" lIns="36576" tIns="36576" rIns="36576" bIns="36576" anchor="t">
            <a:spAutoFit/>
          </a:bodyPr>
          <a:lstStyle/>
          <a:p>
            <a:pPr marL="0" marR="0" lvl="0" indent="0" algn="l" defTabSz="914437" rtl="0" eaLnBrk="1" fontAlgn="base" latinLnBrk="0" hangingPunct="1">
              <a:lnSpc>
                <a:spcPct val="100000"/>
              </a:lnSpc>
              <a:spcBef>
                <a:spcPct val="0"/>
              </a:spcBef>
              <a:spcAft>
                <a:spcPct val="0"/>
              </a:spcAft>
              <a:buClrTx/>
              <a:buSzTx/>
              <a:buFontTx/>
              <a:buNone/>
              <a:tabLst>
                <a:tab pos="1487158" algn="l"/>
              </a:tabLst>
              <a:defRPr/>
            </a:pPr>
            <a:r>
              <a:rPr kumimoji="0" sz="32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Discover</a:t>
            </a:r>
          </a:p>
        </p:txBody>
      </p:sp>
      <p:sp>
        <p:nvSpPr>
          <p:cNvPr id="13" name="TextBox 12"/>
          <p:cNvSpPr txBox="1"/>
          <p:nvPr/>
        </p:nvSpPr>
        <p:spPr>
          <a:xfrm>
            <a:off x="877327" y="3752866"/>
            <a:ext cx="2680066" cy="1058751"/>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Browse hosted models from multiple publishers and compare capabilities in the model catalog</a:t>
            </a:r>
          </a:p>
        </p:txBody>
      </p:sp>
      <p:grpSp>
        <p:nvGrpSpPr>
          <p:cNvPr id="44" name="Group 43">
            <a:extLst>
              <a:ext uri="{FF2B5EF4-FFF2-40B4-BE49-F238E27FC236}">
                <a16:creationId xmlns:a16="http://schemas.microsoft.com/office/drawing/2014/main" id="{2FE38DEE-6C0E-DC52-97BF-E2DB452F09FF}"/>
              </a:ext>
              <a:ext uri="{C183D7F6-B498-43B3-948B-1728B52AA6E4}">
                <adec:decorative xmlns:adec="http://schemas.microsoft.com/office/drawing/2017/decorative" val="1"/>
              </a:ext>
            </a:extLst>
          </p:cNvPr>
          <p:cNvGrpSpPr/>
          <p:nvPr/>
        </p:nvGrpSpPr>
        <p:grpSpPr>
          <a:xfrm>
            <a:off x="4577686" y="2061755"/>
            <a:ext cx="754336" cy="754336"/>
            <a:chOff x="4577685" y="2091675"/>
            <a:chExt cx="977560" cy="977560"/>
          </a:xfrm>
        </p:grpSpPr>
        <p:sp>
          <p:nvSpPr>
            <p:cNvPr id="31" name="Oval 30">
              <a:extLst>
                <a:ext uri="{FF2B5EF4-FFF2-40B4-BE49-F238E27FC236}">
                  <a16:creationId xmlns:a16="http://schemas.microsoft.com/office/drawing/2014/main" id="{323D68B9-D661-4BB5-B040-0B4D8FA752B4}"/>
                </a:ext>
                <a:ext uri="{C183D7F6-B498-43B3-948B-1728B52AA6E4}">
                  <adec:decorative xmlns:adec="http://schemas.microsoft.com/office/drawing/2017/decorative" val="1"/>
                </a:ext>
              </a:extLst>
            </p:cNvPr>
            <p:cNvSpPr/>
            <p:nvPr/>
          </p:nvSpPr>
          <p:spPr bwMode="auto">
            <a:xfrm>
              <a:off x="4577685" y="2091675"/>
              <a:ext cx="977560" cy="97756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pic>
          <p:nvPicPr>
            <p:cNvPr id="39" name="Graphic 38">
              <a:extLst>
                <a:ext uri="{FF2B5EF4-FFF2-40B4-BE49-F238E27FC236}">
                  <a16:creationId xmlns:a16="http://schemas.microsoft.com/office/drawing/2014/main" id="{6C9BD392-4BBB-C712-759E-84FA54E22E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1289" y="2335279"/>
              <a:ext cx="490352" cy="490352"/>
            </a:xfrm>
            <a:prstGeom prst="rect">
              <a:avLst/>
            </a:prstGeom>
          </p:spPr>
        </p:pic>
      </p:grpSp>
      <p:sp>
        <p:nvSpPr>
          <p:cNvPr id="16" name="TextBox 15"/>
          <p:cNvSpPr txBox="1"/>
          <p:nvPr/>
        </p:nvSpPr>
        <p:spPr>
          <a:xfrm>
            <a:off x="4606809" y="3003179"/>
            <a:ext cx="3208803" cy="566309"/>
          </a:xfrm>
          <a:prstGeom prst="rect">
            <a:avLst/>
          </a:prstGeom>
          <a:noFill/>
        </p:spPr>
        <p:txBody>
          <a:bodyPr wrap="square" lIns="36576" tIns="36576" rIns="36576" bIns="36576" anchor="t">
            <a:spAutoFit/>
          </a:bodyPr>
          <a:lstStyle/>
          <a:p>
            <a:pPr marL="0" marR="0" lvl="0" indent="0" algn="l" defTabSz="914437" rtl="0" eaLnBrk="1" fontAlgn="base" latinLnBrk="0" hangingPunct="1">
              <a:lnSpc>
                <a:spcPct val="100000"/>
              </a:lnSpc>
              <a:spcBef>
                <a:spcPct val="0"/>
              </a:spcBef>
              <a:spcAft>
                <a:spcPct val="0"/>
              </a:spcAft>
              <a:buClrTx/>
              <a:buSzTx/>
              <a:buFontTx/>
              <a:buNone/>
              <a:tabLst>
                <a:tab pos="1487158" algn="l"/>
              </a:tabLst>
              <a:defRPr/>
            </a:pPr>
            <a:r>
              <a:rPr kumimoji="0" sz="32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Build</a:t>
            </a:r>
          </a:p>
        </p:txBody>
      </p:sp>
      <p:sp>
        <p:nvSpPr>
          <p:cNvPr id="17" name="TextBox 16"/>
          <p:cNvSpPr txBox="1"/>
          <p:nvPr/>
        </p:nvSpPr>
        <p:spPr>
          <a:xfrm>
            <a:off x="4606810" y="3752866"/>
            <a:ext cx="2900558" cy="1058751"/>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Use identity-based authentication and </a:t>
            </a:r>
            <a:br>
              <a:rPr kumimoji="0" lang="en-CA"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br>
            <a:r>
              <a:rPr kumimoji="0"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OpenAI-compatible APIs from your application code</a:t>
            </a:r>
          </a:p>
        </p:txBody>
      </p:sp>
      <p:grpSp>
        <p:nvGrpSpPr>
          <p:cNvPr id="45" name="Group 44">
            <a:extLst>
              <a:ext uri="{FF2B5EF4-FFF2-40B4-BE49-F238E27FC236}">
                <a16:creationId xmlns:a16="http://schemas.microsoft.com/office/drawing/2014/main" id="{28AEAC1D-8F04-E2C4-C1EF-004B6BF17B2F}"/>
              </a:ext>
              <a:ext uri="{C183D7F6-B498-43B3-948B-1728B52AA6E4}">
                <adec:decorative xmlns:adec="http://schemas.microsoft.com/office/drawing/2017/decorative" val="1"/>
              </a:ext>
            </a:extLst>
          </p:cNvPr>
          <p:cNvGrpSpPr/>
          <p:nvPr/>
        </p:nvGrpSpPr>
        <p:grpSpPr>
          <a:xfrm>
            <a:off x="8342164" y="2061755"/>
            <a:ext cx="754336" cy="754336"/>
            <a:chOff x="8342163" y="2091675"/>
            <a:chExt cx="977560" cy="977560"/>
          </a:xfrm>
        </p:grpSpPr>
        <p:sp>
          <p:nvSpPr>
            <p:cNvPr id="34" name="Oval 33">
              <a:extLst>
                <a:ext uri="{FF2B5EF4-FFF2-40B4-BE49-F238E27FC236}">
                  <a16:creationId xmlns:a16="http://schemas.microsoft.com/office/drawing/2014/main" id="{767867E4-DDF7-7AD9-E88A-4C9B4B4CB5D9}"/>
                </a:ext>
                <a:ext uri="{C183D7F6-B498-43B3-948B-1728B52AA6E4}">
                  <adec:decorative xmlns:adec="http://schemas.microsoft.com/office/drawing/2017/decorative" val="1"/>
                </a:ext>
              </a:extLst>
            </p:cNvPr>
            <p:cNvSpPr/>
            <p:nvPr/>
          </p:nvSpPr>
          <p:spPr bwMode="auto">
            <a:xfrm>
              <a:off x="8342163" y="2091675"/>
              <a:ext cx="977560" cy="97756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pic>
          <p:nvPicPr>
            <p:cNvPr id="37" name="Graphic 36">
              <a:extLst>
                <a:ext uri="{FF2B5EF4-FFF2-40B4-BE49-F238E27FC236}">
                  <a16:creationId xmlns:a16="http://schemas.microsoft.com/office/drawing/2014/main" id="{2C01EB16-F54C-8717-28F2-EA3AD15FCA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85767" y="2335279"/>
              <a:ext cx="490352" cy="490352"/>
            </a:xfrm>
            <a:prstGeom prst="rect">
              <a:avLst/>
            </a:prstGeom>
          </p:spPr>
        </p:pic>
      </p:grpSp>
      <p:sp>
        <p:nvSpPr>
          <p:cNvPr id="20" name="TextBox 19"/>
          <p:cNvSpPr txBox="1"/>
          <p:nvPr/>
        </p:nvSpPr>
        <p:spPr>
          <a:xfrm>
            <a:off x="8323303" y="3003179"/>
            <a:ext cx="2435556" cy="566309"/>
          </a:xfrm>
          <a:prstGeom prst="rect">
            <a:avLst/>
          </a:prstGeom>
          <a:noFill/>
        </p:spPr>
        <p:txBody>
          <a:bodyPr wrap="square" lIns="36576" tIns="36576" rIns="36576" bIns="36576" anchor="t">
            <a:spAutoFit/>
          </a:bodyPr>
          <a:lstStyle/>
          <a:p>
            <a:pPr marL="0" marR="0" lvl="0" indent="0" algn="l" defTabSz="914437" rtl="0" eaLnBrk="1" fontAlgn="base" latinLnBrk="0" hangingPunct="1">
              <a:lnSpc>
                <a:spcPct val="100000"/>
              </a:lnSpc>
              <a:spcBef>
                <a:spcPct val="0"/>
              </a:spcBef>
              <a:spcAft>
                <a:spcPct val="0"/>
              </a:spcAft>
              <a:buClrTx/>
              <a:buSzTx/>
              <a:buFontTx/>
              <a:buNone/>
              <a:tabLst>
                <a:tab pos="1487158" algn="l"/>
              </a:tabLst>
              <a:defRPr/>
            </a:pPr>
            <a:r>
              <a:rPr kumimoji="0" sz="3200" b="1" i="0" u="none" strike="noStrike" kern="1200" cap="none" spc="0" normalizeH="0" baseline="0" noProof="0" dirty="0">
                <a:ln w="3175">
                  <a:noFill/>
                </a:ln>
                <a:solidFill>
                  <a:srgbClr val="000000"/>
                </a:solidFill>
                <a:effectLst/>
                <a:uLnTx/>
                <a:uFillTx/>
                <a:latin typeface="Segoe UI Semibold" panose="020B0502040204020203" pitchFamily="34" charset="0"/>
                <a:ea typeface="+mn-ea"/>
                <a:cs typeface="Segoe UI" pitchFamily="34" charset="0"/>
              </a:rPr>
              <a:t>Deploy</a:t>
            </a:r>
          </a:p>
        </p:txBody>
      </p:sp>
      <p:sp>
        <p:nvSpPr>
          <p:cNvPr id="21" name="TextBox 20"/>
          <p:cNvSpPr txBox="1"/>
          <p:nvPr/>
        </p:nvSpPr>
        <p:spPr>
          <a:xfrm>
            <a:off x="8323303" y="3752866"/>
            <a:ext cx="3145432" cy="812530"/>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gradFill>
                  <a:gsLst>
                    <a:gs pos="21101">
                      <a:srgbClr val="000000"/>
                    </a:gs>
                    <a:gs pos="31193">
                      <a:srgbClr val="000000"/>
                    </a:gs>
                  </a:gsLst>
                  <a:path path="circle">
                    <a:fillToRect l="100000" t="100000"/>
                  </a:path>
                </a:gradFill>
                <a:effectLst/>
                <a:uLnTx/>
                <a:uFillTx/>
                <a:latin typeface="Segoe UI Semibold" panose="020B0502040204020203" pitchFamily="34" charset="0"/>
                <a:ea typeface="+mn-ea"/>
                <a:cs typeface="Segoe Sans Display Semibold" pitchFamily="2" charset="0"/>
              </a:rPr>
              <a:t>Publish agent code to a managed runtime with identity, scaling, and observability</a:t>
            </a:r>
          </a:p>
        </p:txBody>
      </p:sp>
      <p:grpSp>
        <p:nvGrpSpPr>
          <p:cNvPr id="49" name="Group 48">
            <a:extLst>
              <a:ext uri="{FF2B5EF4-FFF2-40B4-BE49-F238E27FC236}">
                <a16:creationId xmlns:a16="http://schemas.microsoft.com/office/drawing/2014/main" id="{DD916110-86D3-E29A-3E3F-10FB2876EF43}"/>
              </a:ext>
              <a:ext uri="{C183D7F6-B498-43B3-948B-1728B52AA6E4}">
                <adec:decorative xmlns:adec="http://schemas.microsoft.com/office/drawing/2017/decorative" val="1"/>
              </a:ext>
            </a:extLst>
          </p:cNvPr>
          <p:cNvGrpSpPr/>
          <p:nvPr/>
        </p:nvGrpSpPr>
        <p:grpSpPr>
          <a:xfrm>
            <a:off x="584200" y="5550366"/>
            <a:ext cx="10149840" cy="381643"/>
            <a:chOff x="584200" y="5550366"/>
            <a:chExt cx="10149840" cy="381643"/>
          </a:xfrm>
        </p:grpSpPr>
        <p:sp>
          <p:nvSpPr>
            <p:cNvPr id="22" name="TextBox 21"/>
            <p:cNvSpPr txBox="1"/>
            <p:nvPr/>
          </p:nvSpPr>
          <p:spPr>
            <a:xfrm>
              <a:off x="584200" y="5550366"/>
              <a:ext cx="10149840" cy="381643"/>
            </a:xfrm>
            <a:prstGeom prst="rect">
              <a:avLst/>
            </a:prstGeom>
            <a:noFill/>
          </p:spPr>
          <p:txBody>
            <a:bodyPr wrap="square" lIns="36576" tIns="36576" rIns="36576" bIns="36576" anchor="t">
              <a:spAutoFit/>
            </a:bodyPr>
            <a:lstStyle/>
            <a:p>
              <a:pPr marL="0" marR="0" lvl="1" indent="0" algn="l" defTabSz="712817" rtl="0" eaLnBrk="1" fontAlgn="auto" latinLnBrk="0" hangingPunct="1">
                <a:lnSpc>
                  <a:spcPct val="100000"/>
                </a:lnSpc>
                <a:spcBef>
                  <a:spcPts val="1800"/>
                </a:spcBef>
                <a:spcAft>
                  <a:spcPts val="0"/>
                </a:spcAft>
                <a:buClrTx/>
                <a:buSzTx/>
                <a:buFontTx/>
                <a:buNone/>
                <a:tabLst/>
                <a:defRPr/>
              </a:pPr>
              <a:r>
                <a:rPr sz="2000" b="1" spc="-50" dirty="0">
                  <a:ln w="3175">
                    <a:noFill/>
                  </a:ln>
                  <a:gradFill flip="none" rotWithShape="1">
                    <a:gsLst>
                      <a:gs pos="0">
                        <a:srgbClr val="175B9C"/>
                      </a:gs>
                      <a:gs pos="41000">
                        <a:srgbClr val="87ADA2"/>
                      </a:gs>
                      <a:gs pos="21000">
                        <a:srgbClr val="0078D4"/>
                      </a:gs>
                    </a:gsLst>
                    <a:path path="circle">
                      <a:fillToRect t="100000" r="100000"/>
                    </a:path>
                    <a:tileRect l="-100000" b="-100000"/>
                  </a:gradFill>
                  <a:latin typeface="Segoe UI Semibold" panose="020B0502040204020203" pitchFamily="34" charset="0"/>
                  <a:cs typeface="Segoe UI" pitchFamily="34" charset="0"/>
                </a:rPr>
                <a:t>In this </a:t>
              </a:r>
              <a:r>
                <a:rPr lang="en-US" sz="2000" b="1" spc="-50" dirty="0">
                  <a:ln w="3175">
                    <a:noFill/>
                  </a:ln>
                  <a:gradFill flip="none" rotWithShape="1">
                    <a:gsLst>
                      <a:gs pos="0">
                        <a:srgbClr val="175B9C"/>
                      </a:gs>
                      <a:gs pos="41000">
                        <a:srgbClr val="87ADA2"/>
                      </a:gs>
                      <a:gs pos="21000">
                        <a:srgbClr val="0078D4"/>
                      </a:gs>
                    </a:gsLst>
                    <a:path path="circle">
                      <a:fillToRect t="100000" r="100000"/>
                    </a:path>
                    <a:tileRect l="-100000" b="-100000"/>
                  </a:gradFill>
                  <a:latin typeface="Segoe UI Semibold" panose="020B0502040204020203" pitchFamily="34" charset="0"/>
                  <a:cs typeface="Segoe UI" pitchFamily="34" charset="0"/>
                </a:rPr>
                <a:t>lab</a:t>
              </a:r>
              <a:r>
                <a:rPr lang="en-CA" sz="2000" b="1" spc="-50" dirty="0">
                  <a:ln w="3175">
                    <a:noFill/>
                  </a:ln>
                  <a:gradFill flip="none" rotWithShape="1">
                    <a:gsLst>
                      <a:gs pos="0">
                        <a:srgbClr val="175B9C"/>
                      </a:gs>
                      <a:gs pos="41000">
                        <a:srgbClr val="87ADA2"/>
                      </a:gs>
                      <a:gs pos="21000">
                        <a:srgbClr val="0078D4"/>
                      </a:gs>
                    </a:gsLst>
                    <a:path path="circle">
                      <a:fillToRect t="100000" r="100000"/>
                    </a:path>
                    <a:tileRect l="-100000" b="-100000"/>
                  </a:gradFill>
                  <a:latin typeface="Segoe UI Semibold" panose="020B0502040204020203" pitchFamily="34" charset="0"/>
                  <a:cs typeface="Segoe UI" pitchFamily="34" charset="0"/>
                </a:rPr>
                <a:t>: </a:t>
              </a:r>
              <a:r>
                <a:rPr kumimoji="0" lang="en-CA" sz="2000" b="1" i="0" u="none" strike="noStrike" kern="1200" cap="none" spc="0" normalizeH="0" baseline="0" noProof="0" dirty="0">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H</a:t>
              </a:r>
              <a:r>
                <a:rPr kumimoji="0" sz="2000" b="1" i="0" u="none" strike="noStrike" kern="1200" cap="none" spc="0" normalizeH="0" baseline="0" noProof="0" dirty="0" err="1">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osted</a:t>
              </a:r>
              <a:r>
                <a:rPr kumimoji="0" sz="2000" b="1" i="0" u="none" strike="noStrike" kern="1200" cap="none" spc="0" normalizeH="0" baseline="0" noProof="0" dirty="0">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 model </a:t>
              </a:r>
              <a:r>
                <a:rPr kumimoji="0" lang="en-CA" sz="2000" b="1" i="0" u="none" strike="noStrike" kern="1200" cap="none" spc="0" normalizeH="0" baseline="0" noProof="0" dirty="0">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      G</a:t>
              </a:r>
              <a:r>
                <a:rPr kumimoji="0" sz="2000" b="1" i="0" u="none" strike="noStrike" kern="1200" cap="none" spc="0" normalizeH="0" baseline="0" noProof="0" dirty="0" err="1">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overned</a:t>
              </a:r>
              <a:r>
                <a:rPr kumimoji="0" sz="2000" b="1" i="0" u="none" strike="noStrike" kern="1200" cap="none" spc="0" normalizeH="0" baseline="0" noProof="0" dirty="0">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 Python app</a:t>
              </a:r>
              <a:r>
                <a:rPr kumimoji="0" lang="en-CA" sz="2000" b="1" i="0" u="none" strike="noStrike" kern="1200" cap="none" spc="0" normalizeH="0" baseline="0" noProof="0" dirty="0">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       H</a:t>
              </a:r>
              <a:r>
                <a:rPr kumimoji="0" sz="2000" b="1" i="0" u="none" strike="noStrike" kern="1200" cap="none" spc="0" normalizeH="0" baseline="0" noProof="0" dirty="0" err="1">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osted</a:t>
              </a:r>
              <a:r>
                <a:rPr kumimoji="0" sz="2000" b="1" i="0" u="none" strike="noStrike" kern="1200" cap="none" spc="0" normalizeH="0" baseline="0" noProof="0" dirty="0">
                  <a:ln>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mn-cs"/>
                </a:rPr>
                <a:t> agent</a:t>
              </a:r>
            </a:p>
          </p:txBody>
        </p:sp>
        <p:cxnSp>
          <p:nvCxnSpPr>
            <p:cNvPr id="46" name="!!Straight Arrow Connector 119" descr="Arrow right">
              <a:extLst>
                <a:ext uri="{FF2B5EF4-FFF2-40B4-BE49-F238E27FC236}">
                  <a16:creationId xmlns:a16="http://schemas.microsoft.com/office/drawing/2014/main" id="{7A52F403-1B61-FACA-73B8-A27AC547A02F}"/>
                </a:ext>
              </a:extLst>
            </p:cNvPr>
            <p:cNvCxnSpPr>
              <a:cxnSpLocks/>
            </p:cNvCxnSpPr>
            <p:nvPr/>
          </p:nvCxnSpPr>
          <p:spPr>
            <a:xfrm flipH="1">
              <a:off x="3602076" y="5748632"/>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cxnSp>
          <p:nvCxnSpPr>
            <p:cNvPr id="48" name="!!Straight Arrow Connector 119" descr="Arrow right">
              <a:extLst>
                <a:ext uri="{FF2B5EF4-FFF2-40B4-BE49-F238E27FC236}">
                  <a16:creationId xmlns:a16="http://schemas.microsoft.com/office/drawing/2014/main" id="{BA52A9FD-2B46-02E8-06EB-57B33075E40E}"/>
                </a:ext>
              </a:extLst>
            </p:cNvPr>
            <p:cNvCxnSpPr>
              <a:cxnSpLocks/>
            </p:cNvCxnSpPr>
            <p:nvPr/>
          </p:nvCxnSpPr>
          <p:spPr>
            <a:xfrm flipH="1">
              <a:off x="6582749" y="5748457"/>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3BE8704A-A294-C911-24E7-48BD3FEEE64E}"/>
              </a:ext>
              <a:ext uri="{C183D7F6-B498-43B3-948B-1728B52AA6E4}">
                <adec:decorative xmlns:adec="http://schemas.microsoft.com/office/drawing/2017/decorative" val="1"/>
              </a:ext>
            </a:extLst>
          </p:cNvPr>
          <p:cNvGrpSpPr/>
          <p:nvPr/>
        </p:nvGrpSpPr>
        <p:grpSpPr>
          <a:xfrm>
            <a:off x="920086" y="2061755"/>
            <a:ext cx="754336" cy="754336"/>
            <a:chOff x="920085" y="2091675"/>
            <a:chExt cx="977560" cy="977560"/>
          </a:xfrm>
        </p:grpSpPr>
        <p:sp>
          <p:nvSpPr>
            <p:cNvPr id="28" name="Oval 27">
              <a:extLst>
                <a:ext uri="{FF2B5EF4-FFF2-40B4-BE49-F238E27FC236}">
                  <a16:creationId xmlns:a16="http://schemas.microsoft.com/office/drawing/2014/main" id="{0C5943B8-42E9-8680-BF24-1AA7BF1528AC}"/>
                </a:ext>
                <a:ext uri="{C183D7F6-B498-43B3-948B-1728B52AA6E4}">
                  <adec:decorative xmlns:adec="http://schemas.microsoft.com/office/drawing/2017/decorative" val="1"/>
                </a:ext>
              </a:extLst>
            </p:cNvPr>
            <p:cNvSpPr/>
            <p:nvPr/>
          </p:nvSpPr>
          <p:spPr bwMode="auto">
            <a:xfrm>
              <a:off x="920085" y="2091675"/>
              <a:ext cx="977560" cy="97756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pic>
          <p:nvPicPr>
            <p:cNvPr id="41" name="Graphic 40">
              <a:extLst>
                <a:ext uri="{FF2B5EF4-FFF2-40B4-BE49-F238E27FC236}">
                  <a16:creationId xmlns:a16="http://schemas.microsoft.com/office/drawing/2014/main" id="{2EA21C77-E3E4-E992-34F5-1029A341F4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3689" y="2335279"/>
              <a:ext cx="490352" cy="490352"/>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200"/>
                                        <p:tgtEl>
                                          <p:spTgt spid="23"/>
                                        </p:tgtEl>
                                      </p:cBhvr>
                                    </p:animEffect>
                                  </p:childTnLst>
                                </p:cTn>
                              </p:par>
                              <p:par>
                                <p:cTn id="14" presetID="10" presetClass="entr" presetSubtype="0" fill="hold" nodeType="withEffect">
                                  <p:stCondLst>
                                    <p:cond delay="10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200"/>
                                        <p:tgtEl>
                                          <p:spTgt spid="43"/>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
                                        <p:tgtEl>
                                          <p:spTgt spid="12"/>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
                                        <p:tgtEl>
                                          <p:spTgt spid="13"/>
                                        </p:tgtEl>
                                      </p:cBhvr>
                                    </p:animEffect>
                                  </p:childTnLst>
                                </p:cTn>
                              </p:par>
                              <p:par>
                                <p:cTn id="23" presetID="10" presetClass="entr" presetSubtype="0" fill="hold" nodeType="withEffect">
                                  <p:stCondLst>
                                    <p:cond delay="20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200"/>
                                        <p:tgtEl>
                                          <p:spTgt spid="44"/>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200"/>
                                        <p:tgtEl>
                                          <p:spTgt spid="24"/>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00"/>
                                        <p:tgtEl>
                                          <p:spTgt spid="16"/>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200"/>
                                        <p:tgtEl>
                                          <p:spTgt spid="17"/>
                                        </p:tgtEl>
                                      </p:cBhvr>
                                    </p:animEffect>
                                  </p:childTnLst>
                                </p:cTn>
                              </p:par>
                              <p:par>
                                <p:cTn id="35" presetID="10" presetClass="entr" presetSubtype="0" fill="hold" grpId="0" nodeType="withEffect">
                                  <p:stCondLst>
                                    <p:cond delay="30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00"/>
                                        <p:tgtEl>
                                          <p:spTgt spid="25"/>
                                        </p:tgtEl>
                                      </p:cBhvr>
                                    </p:animEffect>
                                  </p:childTnLst>
                                </p:cTn>
                              </p:par>
                              <p:par>
                                <p:cTn id="38" presetID="10" presetClass="entr" presetSubtype="0" fill="hold" grpId="0" nodeType="withEffect">
                                  <p:stCondLst>
                                    <p:cond delay="30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200"/>
                                        <p:tgtEl>
                                          <p:spTgt spid="20"/>
                                        </p:tgtEl>
                                      </p:cBhvr>
                                    </p:animEffect>
                                  </p:childTnLst>
                                </p:cTn>
                              </p:par>
                              <p:par>
                                <p:cTn id="41" presetID="10" presetClass="entr" presetSubtype="0" fill="hold" grpId="0" nodeType="withEffect">
                                  <p:stCondLst>
                                    <p:cond delay="30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200"/>
                                        <p:tgtEl>
                                          <p:spTgt spid="21"/>
                                        </p:tgtEl>
                                      </p:cBhvr>
                                    </p:animEffect>
                                  </p:childTnLst>
                                </p:cTn>
                              </p:par>
                              <p:par>
                                <p:cTn id="44" presetID="10" presetClass="entr" presetSubtype="0" fill="hold" nodeType="withEffect">
                                  <p:stCondLst>
                                    <p:cond delay="30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200"/>
                                        <p:tgtEl>
                                          <p:spTgt spid="45"/>
                                        </p:tgtEl>
                                      </p:cBhvr>
                                    </p:animEffect>
                                  </p:childTnLst>
                                </p:cTn>
                              </p:par>
                              <p:par>
                                <p:cTn id="47" presetID="10" presetClass="entr" presetSubtype="0" fill="hold" nodeType="withEffect">
                                  <p:stCondLst>
                                    <p:cond delay="40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2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23" grpId="0" animBg="1"/>
      <p:bldP spid="24" grpId="0" animBg="1"/>
      <p:bldP spid="25" grpId="0" animBg="1"/>
      <p:bldP spid="12" grpId="0"/>
      <p:bldP spid="13" grpId="0"/>
      <p:bldP spid="16" grpId="0"/>
      <p:bldP spid="17"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117B-B0EB-B810-7E51-70AA494E764B}"/>
              </a:ext>
            </a:extLst>
          </p:cNvPr>
          <p:cNvSpPr>
            <a:spLocks noGrp="1"/>
          </p:cNvSpPr>
          <p:nvPr>
            <p:ph type="title"/>
          </p:nvPr>
        </p:nvSpPr>
        <p:spPr>
          <a:xfrm>
            <a:off x="588962" y="2413338"/>
            <a:ext cx="3760299" cy="2031325"/>
          </a:xfrm>
        </p:spPr>
        <p:txBody>
          <a:bodyPr/>
          <a:lstStyle/>
          <a:p>
            <a:r>
              <a:rPr lang="en-CA" sz="4400" dirty="0"/>
              <a:t>Three concepts to know</a:t>
            </a:r>
          </a:p>
        </p:txBody>
      </p:sp>
      <p:sp>
        <p:nvSpPr>
          <p:cNvPr id="4" name="Oval 3">
            <a:extLst>
              <a:ext uri="{FF2B5EF4-FFF2-40B4-BE49-F238E27FC236}">
                <a16:creationId xmlns:a16="http://schemas.microsoft.com/office/drawing/2014/main" id="{0A8F01B1-A7D9-8FE3-4167-B9CA3D91B806}"/>
              </a:ext>
              <a:ext uri="{C183D7F6-B498-43B3-948B-1728B52AA6E4}">
                <adec:decorative xmlns:adec="http://schemas.microsoft.com/office/drawing/2017/decorative" val="1"/>
              </a:ext>
            </a:extLst>
          </p:cNvPr>
          <p:cNvSpPr/>
          <p:nvPr/>
        </p:nvSpPr>
        <p:spPr bwMode="auto">
          <a:xfrm>
            <a:off x="5483101" y="1400168"/>
            <a:ext cx="741520" cy="74152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algn="ctr" defTabSz="3448206">
              <a:spcBef>
                <a:spcPts val="1206"/>
              </a:spcBef>
              <a:tabLst>
                <a:tab pos="5666852" algn="l"/>
              </a:tabLst>
            </a:pPr>
            <a:endParaRPr lang="en-US" sz="5143" b="1">
              <a:ln w="3175">
                <a:noFill/>
              </a:ln>
              <a:gradFill flip="none" rotWithShape="1">
                <a:gsLst>
                  <a:gs pos="20183">
                    <a:srgbClr val="FFFFFF"/>
                  </a:gs>
                  <a:gs pos="42000">
                    <a:srgbClr val="FFFFFF"/>
                  </a:gs>
                </a:gsLst>
                <a:lin ang="2700000" scaled="0"/>
                <a:tileRect/>
              </a:gradFill>
              <a:latin typeface="Segoe UI Semibold" panose="020B0502040204020203" pitchFamily="34" charset="0"/>
              <a:cs typeface="Segoe Sans Display Semibold" pitchFamily="2" charset="0"/>
            </a:endParaRPr>
          </a:p>
        </p:txBody>
      </p:sp>
      <p:pic>
        <p:nvPicPr>
          <p:cNvPr id="41" name="Graphic 40">
            <a:extLst>
              <a:ext uri="{FF2B5EF4-FFF2-40B4-BE49-F238E27FC236}">
                <a16:creationId xmlns:a16="http://schemas.microsoft.com/office/drawing/2014/main" id="{BB570CA4-DC80-03A3-2A4B-3E00C6EA1F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63733" y="1580800"/>
            <a:ext cx="380256" cy="380256"/>
          </a:xfrm>
          <a:prstGeom prst="rect">
            <a:avLst/>
          </a:prstGeom>
        </p:spPr>
      </p:pic>
      <p:sp>
        <p:nvSpPr>
          <p:cNvPr id="27" name="Oval 26">
            <a:extLst>
              <a:ext uri="{FF2B5EF4-FFF2-40B4-BE49-F238E27FC236}">
                <a16:creationId xmlns:a16="http://schemas.microsoft.com/office/drawing/2014/main" id="{5A989385-5262-EB3F-2D1A-1A2D77FB4DE8}"/>
              </a:ext>
              <a:ext uri="{C183D7F6-B498-43B3-948B-1728B52AA6E4}">
                <adec:decorative xmlns:adec="http://schemas.microsoft.com/office/drawing/2017/decorative" val="1"/>
              </a:ext>
            </a:extLst>
          </p:cNvPr>
          <p:cNvSpPr/>
          <p:nvPr/>
        </p:nvSpPr>
        <p:spPr bwMode="auto">
          <a:xfrm>
            <a:off x="5483101" y="3066233"/>
            <a:ext cx="741520" cy="74152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algn="ctr" defTabSz="3448206">
              <a:spcBef>
                <a:spcPts val="1206"/>
              </a:spcBef>
              <a:tabLst>
                <a:tab pos="5666852" algn="l"/>
              </a:tabLst>
            </a:pPr>
            <a:endParaRPr lang="en-US" sz="5143" b="1">
              <a:ln w="3175">
                <a:noFill/>
              </a:ln>
              <a:gradFill flip="none" rotWithShape="1">
                <a:gsLst>
                  <a:gs pos="20183">
                    <a:srgbClr val="FFFFFF"/>
                  </a:gs>
                  <a:gs pos="42000">
                    <a:srgbClr val="FFFFFF"/>
                  </a:gs>
                </a:gsLst>
                <a:lin ang="2700000" scaled="0"/>
                <a:tileRect/>
              </a:gradFill>
              <a:latin typeface="Segoe UI Semibold" panose="020B0502040204020203" pitchFamily="34" charset="0"/>
              <a:cs typeface="Segoe Sans Display Semibold" pitchFamily="2" charset="0"/>
            </a:endParaRPr>
          </a:p>
        </p:txBody>
      </p:sp>
      <p:pic>
        <p:nvPicPr>
          <p:cNvPr id="39" name="Graphic 38">
            <a:extLst>
              <a:ext uri="{FF2B5EF4-FFF2-40B4-BE49-F238E27FC236}">
                <a16:creationId xmlns:a16="http://schemas.microsoft.com/office/drawing/2014/main" id="{A6BCCEC4-0A36-B0C8-D817-C10C3BC73E4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9431" y="3222563"/>
            <a:ext cx="428860" cy="428860"/>
          </a:xfrm>
          <a:prstGeom prst="rect">
            <a:avLst/>
          </a:prstGeom>
        </p:spPr>
      </p:pic>
      <p:sp>
        <p:nvSpPr>
          <p:cNvPr id="29" name="Oval 28">
            <a:extLst>
              <a:ext uri="{FF2B5EF4-FFF2-40B4-BE49-F238E27FC236}">
                <a16:creationId xmlns:a16="http://schemas.microsoft.com/office/drawing/2014/main" id="{10FA90EB-38A8-7285-D87E-17787A6C6BBA}"/>
              </a:ext>
              <a:ext uri="{C183D7F6-B498-43B3-948B-1728B52AA6E4}">
                <adec:decorative xmlns:adec="http://schemas.microsoft.com/office/drawing/2017/decorative" val="1"/>
              </a:ext>
            </a:extLst>
          </p:cNvPr>
          <p:cNvSpPr/>
          <p:nvPr/>
        </p:nvSpPr>
        <p:spPr bwMode="auto">
          <a:xfrm>
            <a:off x="5483101" y="4716313"/>
            <a:ext cx="741520" cy="74152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algn="ctr" defTabSz="3448206">
              <a:spcBef>
                <a:spcPts val="1206"/>
              </a:spcBef>
              <a:tabLst>
                <a:tab pos="5666852" algn="l"/>
              </a:tabLst>
            </a:pPr>
            <a:endParaRPr lang="en-US" sz="5143" b="1">
              <a:ln w="3175">
                <a:noFill/>
              </a:ln>
              <a:gradFill flip="none" rotWithShape="1">
                <a:gsLst>
                  <a:gs pos="20183">
                    <a:srgbClr val="FFFFFF"/>
                  </a:gs>
                  <a:gs pos="42000">
                    <a:srgbClr val="FFFFFF"/>
                  </a:gs>
                </a:gsLst>
                <a:lin ang="2700000" scaled="0"/>
                <a:tileRect/>
              </a:gradFill>
              <a:latin typeface="Segoe UI Semibold" panose="020B0502040204020203" pitchFamily="34" charset="0"/>
              <a:cs typeface="Segoe Sans Display Semibold" pitchFamily="2" charset="0"/>
            </a:endParaRPr>
          </a:p>
        </p:txBody>
      </p:sp>
      <p:pic>
        <p:nvPicPr>
          <p:cNvPr id="35" name="Graphic 34">
            <a:extLst>
              <a:ext uri="{FF2B5EF4-FFF2-40B4-BE49-F238E27FC236}">
                <a16:creationId xmlns:a16="http://schemas.microsoft.com/office/drawing/2014/main" id="{18300A72-E8C2-CCB5-93CA-65E08E22570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51306" y="4865875"/>
            <a:ext cx="405110" cy="405110"/>
          </a:xfrm>
          <a:prstGeom prst="rect">
            <a:avLst/>
          </a:prstGeom>
        </p:spPr>
      </p:pic>
      <p:sp>
        <p:nvSpPr>
          <p:cNvPr id="31" name="TextBox 30">
            <a:extLst>
              <a:ext uri="{FF2B5EF4-FFF2-40B4-BE49-F238E27FC236}">
                <a16:creationId xmlns:a16="http://schemas.microsoft.com/office/drawing/2014/main" id="{C7FA6D91-B192-8F23-C6A9-E0023B42FEF4}"/>
              </a:ext>
            </a:extLst>
          </p:cNvPr>
          <p:cNvSpPr txBox="1"/>
          <p:nvPr/>
        </p:nvSpPr>
        <p:spPr>
          <a:xfrm>
            <a:off x="6557244" y="1325394"/>
            <a:ext cx="4884446" cy="92589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CA" b="1" dirty="0">
                <a:ln w="3175">
                  <a:noFill/>
                </a:ln>
                <a:solidFill>
                  <a:srgbClr val="000000"/>
                </a:solidFill>
                <a:latin typeface="Segoe UI Semibold" panose="020B0502040204020203" pitchFamily="34" charset="0"/>
                <a:cs typeface="Segoe UI" pitchFamily="34" charset="0"/>
              </a:rPr>
              <a:t>Project</a:t>
            </a:r>
          </a:p>
          <a:p>
            <a:pPr defTabSz="457200">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Your workspace in Foundry. It scopes model deployments, connections, agents, and access</a:t>
            </a:r>
          </a:p>
        </p:txBody>
      </p:sp>
      <p:sp>
        <p:nvSpPr>
          <p:cNvPr id="32" name="TextBox 31">
            <a:extLst>
              <a:ext uri="{FF2B5EF4-FFF2-40B4-BE49-F238E27FC236}">
                <a16:creationId xmlns:a16="http://schemas.microsoft.com/office/drawing/2014/main" id="{ECB2875E-C9DE-F624-2E3F-132125D47542}"/>
              </a:ext>
            </a:extLst>
          </p:cNvPr>
          <p:cNvSpPr txBox="1"/>
          <p:nvPr/>
        </p:nvSpPr>
        <p:spPr>
          <a:xfrm>
            <a:off x="6557243" y="2974046"/>
            <a:ext cx="4884447" cy="92589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CA" b="1" dirty="0">
                <a:ln w="3175">
                  <a:noFill/>
                </a:ln>
                <a:solidFill>
                  <a:srgbClr val="000000"/>
                </a:solidFill>
                <a:latin typeface="Segoe UI Semibold" panose="020B0502040204020203" pitchFamily="34" charset="0"/>
                <a:cs typeface="Segoe UI" pitchFamily="34" charset="0"/>
              </a:rPr>
              <a:t>Model deployment</a:t>
            </a:r>
          </a:p>
          <a:p>
            <a:pPr defTabSz="457200">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A model made callable in your project. Your code calls the deployment name, not a raw catalog model</a:t>
            </a:r>
          </a:p>
        </p:txBody>
      </p:sp>
      <p:sp>
        <p:nvSpPr>
          <p:cNvPr id="33" name="TextBox 32">
            <a:extLst>
              <a:ext uri="{FF2B5EF4-FFF2-40B4-BE49-F238E27FC236}">
                <a16:creationId xmlns:a16="http://schemas.microsoft.com/office/drawing/2014/main" id="{9FE41BBC-5EEF-25D5-D6C1-4CC6D848C2A3}"/>
              </a:ext>
            </a:extLst>
          </p:cNvPr>
          <p:cNvSpPr txBox="1"/>
          <p:nvPr/>
        </p:nvSpPr>
        <p:spPr>
          <a:xfrm>
            <a:off x="6557243" y="4624126"/>
            <a:ext cx="4884447" cy="92589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CA" b="1" dirty="0">
                <a:ln w="3175">
                  <a:noFill/>
                </a:ln>
                <a:solidFill>
                  <a:srgbClr val="000000"/>
                </a:solidFill>
                <a:latin typeface="Segoe UI Semibold" panose="020B0502040204020203" pitchFamily="34" charset="0"/>
                <a:cs typeface="Segoe UI" pitchFamily="34" charset="0"/>
              </a:rPr>
              <a:t>Hosted agent</a:t>
            </a:r>
          </a:p>
          <a:p>
            <a:pPr defTabSz="457200">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Your Python workflow on a Foundry-managed runtime, exposed through the Responses API</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par>
                                <p:cTn id="20" presetID="10" presetClass="entr" presetSubtype="0" fill="hold" nodeType="withEffect">
                                  <p:stCondLst>
                                    <p:cond delay="10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nodeType="withEffect">
                                  <p:stCondLst>
                                    <p:cond delay="20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par>
                                <p:cTn id="29" presetID="10" presetClass="entr" presetSubtype="0" fill="hold" nodeType="withEffect">
                                  <p:stCondLst>
                                    <p:cond delay="30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27" grpId="0" animBg="1"/>
      <p:bldP spid="29" grpId="0" animBg="1"/>
      <p:bldP spid="31" grpId="0"/>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E720B-5CE1-85DF-B38D-7268A0FC587A}"/>
              </a:ext>
            </a:extLst>
          </p:cNvPr>
          <p:cNvSpPr>
            <a:spLocks noGrp="1"/>
          </p:cNvSpPr>
          <p:nvPr>
            <p:ph type="title"/>
          </p:nvPr>
        </p:nvSpPr>
        <p:spPr>
          <a:xfrm>
            <a:off x="588169" y="457200"/>
            <a:ext cx="11017250" cy="677108"/>
          </a:xfrm>
        </p:spPr>
        <p:txBody>
          <a:bodyPr/>
          <a:lstStyle/>
          <a:p>
            <a:pPr algn="ctr" defTabSz="2413689" fontAlgn="base">
              <a:spcAft>
                <a:spcPct val="0"/>
              </a:spcAft>
              <a:tabLst>
                <a:tab pos="2455604" algn="l"/>
              </a:tabLst>
              <a:defRPr/>
            </a:pPr>
            <a:r>
              <a:rPr lang="en-CA" sz="4400" b="1" dirty="0">
                <a:gradFill>
                  <a:gsLst>
                    <a:gs pos="5505">
                      <a:schemeClr val="tx1"/>
                    </a:gs>
                    <a:gs pos="38000">
                      <a:schemeClr val="tx1"/>
                    </a:gs>
                  </a:gsLst>
                  <a:path path="circle">
                    <a:fillToRect l="100000" t="100000"/>
                  </a:path>
                </a:gradFill>
                <a:latin typeface="Segoe UI Semibold" panose="020B0502040204020203" pitchFamily="34" charset="0"/>
                <a:cs typeface="Segoe Sans Display Semibold" pitchFamily="2" charset="0"/>
              </a:rPr>
              <a:t>Your lab journey</a:t>
            </a:r>
            <a:endParaRPr lang="en-US" sz="4400" b="1" dirty="0">
              <a:gradFill>
                <a:gsLst>
                  <a:gs pos="5505">
                    <a:schemeClr val="tx1"/>
                  </a:gs>
                  <a:gs pos="38000">
                    <a:schemeClr val="tx1"/>
                  </a:gs>
                </a:gsLst>
                <a:path path="circle">
                  <a:fillToRect l="100000" t="100000"/>
                </a:path>
              </a:gradFill>
              <a:latin typeface="Segoe UI Semibold" panose="020B0502040204020203" pitchFamily="34" charset="0"/>
              <a:cs typeface="Segoe Sans Display Semibold" pitchFamily="2" charset="0"/>
            </a:endParaRPr>
          </a:p>
        </p:txBody>
      </p:sp>
      <p:sp>
        <p:nvSpPr>
          <p:cNvPr id="4" name="TextBox 3">
            <a:extLst>
              <a:ext uri="{FF2B5EF4-FFF2-40B4-BE49-F238E27FC236}">
                <a16:creationId xmlns:a16="http://schemas.microsoft.com/office/drawing/2014/main" id="{A2DD8092-1A59-05D4-FF7D-7CC3D0C461D1}"/>
              </a:ext>
            </a:extLst>
          </p:cNvPr>
          <p:cNvSpPr txBox="1"/>
          <p:nvPr/>
        </p:nvSpPr>
        <p:spPr>
          <a:xfrm>
            <a:off x="656114" y="1189914"/>
            <a:ext cx="10881360" cy="381643"/>
          </a:xfrm>
          <a:prstGeom prst="rect">
            <a:avLst/>
          </a:prstGeom>
          <a:noFill/>
        </p:spPr>
        <p:txBody>
          <a:bodyPr wrap="square" lIns="36576" tIns="36576" rIns="36576" bIns="36576" anchor="t">
            <a:spAutoFit/>
          </a:bodyPr>
          <a:lstStyle/>
          <a:p>
            <a:pPr algn="ctr"/>
            <a:r>
              <a:rPr lang="en-CA" sz="2000" kern="0" dirty="0">
                <a:gradFill>
                  <a:gsLst>
                    <a:gs pos="32110">
                      <a:schemeClr val="tx1"/>
                    </a:gs>
                    <a:gs pos="72000">
                      <a:schemeClr val="tx1"/>
                    </a:gs>
                  </a:gsLst>
                  <a:lin ang="2700000" scaled="1"/>
                </a:gradFill>
                <a:latin typeface="Segoe UI Semibold" panose="020B0502040204020203" pitchFamily="34" charset="0"/>
              </a:rPr>
              <a:t>One end-to-end developer workflow</a:t>
            </a:r>
          </a:p>
        </p:txBody>
      </p:sp>
      <p:sp>
        <p:nvSpPr>
          <p:cNvPr id="5" name="Rounded Rectangle 4">
            <a:extLst>
              <a:ext uri="{FF2B5EF4-FFF2-40B4-BE49-F238E27FC236}">
                <a16:creationId xmlns:a16="http://schemas.microsoft.com/office/drawing/2014/main" id="{513C55F7-7DC6-9331-4A46-DEFCB15B94E8}"/>
              </a:ext>
              <a:ext uri="{C183D7F6-B498-43B3-948B-1728B52AA6E4}">
                <adec:decorative xmlns:adec="http://schemas.microsoft.com/office/drawing/2017/decorative" val="1"/>
              </a:ext>
            </a:extLst>
          </p:cNvPr>
          <p:cNvSpPr/>
          <p:nvPr/>
        </p:nvSpPr>
        <p:spPr bwMode="auto">
          <a:xfrm>
            <a:off x="588264"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40" name="Rounded Rectangle 39">
            <a:extLst>
              <a:ext uri="{FF2B5EF4-FFF2-40B4-BE49-F238E27FC236}">
                <a16:creationId xmlns:a16="http://schemas.microsoft.com/office/drawing/2014/main" id="{7AB9715E-563D-C6DA-C6CA-45A4428E108C}"/>
              </a:ext>
              <a:ext uri="{C183D7F6-B498-43B3-948B-1728B52AA6E4}">
                <adec:decorative xmlns:adec="http://schemas.microsoft.com/office/drawing/2017/decorative" val="1"/>
              </a:ext>
            </a:extLst>
          </p:cNvPr>
          <p:cNvSpPr/>
          <p:nvPr/>
        </p:nvSpPr>
        <p:spPr bwMode="auto">
          <a:xfrm>
            <a:off x="2848948"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41" name="Rounded Rectangle 40">
            <a:extLst>
              <a:ext uri="{FF2B5EF4-FFF2-40B4-BE49-F238E27FC236}">
                <a16:creationId xmlns:a16="http://schemas.microsoft.com/office/drawing/2014/main" id="{F05D448E-DE8F-E8ED-8B58-A27BCA20156B}"/>
              </a:ext>
              <a:ext uri="{C183D7F6-B498-43B3-948B-1728B52AA6E4}">
                <adec:decorative xmlns:adec="http://schemas.microsoft.com/office/drawing/2017/decorative" val="1"/>
              </a:ext>
            </a:extLst>
          </p:cNvPr>
          <p:cNvSpPr/>
          <p:nvPr/>
        </p:nvSpPr>
        <p:spPr bwMode="auto">
          <a:xfrm>
            <a:off x="5109632"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42" name="Rounded Rectangle 41">
            <a:extLst>
              <a:ext uri="{FF2B5EF4-FFF2-40B4-BE49-F238E27FC236}">
                <a16:creationId xmlns:a16="http://schemas.microsoft.com/office/drawing/2014/main" id="{92DC36A8-3CAA-55BA-5CC9-025D81CFF507}"/>
              </a:ext>
              <a:ext uri="{C183D7F6-B498-43B3-948B-1728B52AA6E4}">
                <adec:decorative xmlns:adec="http://schemas.microsoft.com/office/drawing/2017/decorative" val="1"/>
              </a:ext>
            </a:extLst>
          </p:cNvPr>
          <p:cNvSpPr/>
          <p:nvPr/>
        </p:nvSpPr>
        <p:spPr bwMode="auto">
          <a:xfrm>
            <a:off x="7370316"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44" name="Rounded Rectangle 43">
            <a:extLst>
              <a:ext uri="{FF2B5EF4-FFF2-40B4-BE49-F238E27FC236}">
                <a16:creationId xmlns:a16="http://schemas.microsoft.com/office/drawing/2014/main" id="{FFDED5E1-39DC-C1E4-616D-C281C5AA3C9A}"/>
              </a:ext>
              <a:ext uri="{C183D7F6-B498-43B3-948B-1728B52AA6E4}">
                <adec:decorative xmlns:adec="http://schemas.microsoft.com/office/drawing/2017/decorative" val="1"/>
              </a:ext>
            </a:extLst>
          </p:cNvPr>
          <p:cNvSpPr/>
          <p:nvPr/>
        </p:nvSpPr>
        <p:spPr bwMode="auto">
          <a:xfrm>
            <a:off x="9630998"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dirty="0">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56" name="Oval 55">
            <a:extLst>
              <a:ext uri="{FF2B5EF4-FFF2-40B4-BE49-F238E27FC236}">
                <a16:creationId xmlns:a16="http://schemas.microsoft.com/office/drawing/2014/main" id="{F923C053-6A78-1B5F-1CCC-F4AA4A5623C7}"/>
              </a:ext>
              <a:ext uri="{C183D7F6-B498-43B3-948B-1728B52AA6E4}">
                <adec:decorative xmlns:adec="http://schemas.microsoft.com/office/drawing/2017/decorative" val="1"/>
              </a:ext>
            </a:extLst>
          </p:cNvPr>
          <p:cNvSpPr/>
          <p:nvPr/>
        </p:nvSpPr>
        <p:spPr bwMode="auto">
          <a:xfrm>
            <a:off x="1353034"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1</a:t>
            </a:r>
          </a:p>
        </p:txBody>
      </p:sp>
      <p:sp>
        <p:nvSpPr>
          <p:cNvPr id="46" name="TextBox 45">
            <a:extLst>
              <a:ext uri="{FF2B5EF4-FFF2-40B4-BE49-F238E27FC236}">
                <a16:creationId xmlns:a16="http://schemas.microsoft.com/office/drawing/2014/main" id="{AC535DE7-1087-A60C-149C-44CC9470F572}"/>
              </a:ext>
            </a:extLst>
          </p:cNvPr>
          <p:cNvSpPr txBox="1"/>
          <p:nvPr/>
        </p:nvSpPr>
        <p:spPr>
          <a:xfrm>
            <a:off x="722976"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sz="2400" b="1" dirty="0">
                <a:ln w="3175">
                  <a:noFill/>
                </a:ln>
                <a:solidFill>
                  <a:srgbClr val="000000"/>
                </a:solidFill>
                <a:latin typeface="Segoe UI Semibold" panose="020B0502040204020203" pitchFamily="34" charset="0"/>
                <a:cs typeface="Segoe UI" pitchFamily="34" charset="0"/>
              </a:rPr>
              <a:t>Discover</a:t>
            </a:r>
          </a:p>
        </p:txBody>
      </p:sp>
      <p:sp>
        <p:nvSpPr>
          <p:cNvPr id="47" name="TextBox 46">
            <a:extLst>
              <a:ext uri="{FF2B5EF4-FFF2-40B4-BE49-F238E27FC236}">
                <a16:creationId xmlns:a16="http://schemas.microsoft.com/office/drawing/2014/main" id="{70DC9EDA-5C60-3DF4-29EE-40A63DE3DC1A}"/>
              </a:ext>
            </a:extLst>
          </p:cNvPr>
          <p:cNvSpPr txBox="1"/>
          <p:nvPr/>
        </p:nvSpPr>
        <p:spPr>
          <a:xfrm>
            <a:off x="779248" y="3796165"/>
            <a:ext cx="1590771" cy="320088"/>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Model catalog</a:t>
            </a:r>
          </a:p>
        </p:txBody>
      </p:sp>
      <p:cxnSp>
        <p:nvCxnSpPr>
          <p:cNvPr id="61" name="!!Straight Arrow Connector 119" descr="Arrow right">
            <a:extLst>
              <a:ext uri="{FF2B5EF4-FFF2-40B4-BE49-F238E27FC236}">
                <a16:creationId xmlns:a16="http://schemas.microsoft.com/office/drawing/2014/main" id="{413E8D9A-F9F7-E372-6290-04774D72F187}"/>
              </a:ext>
            </a:extLst>
          </p:cNvPr>
          <p:cNvCxnSpPr>
            <a:cxnSpLocks/>
          </p:cNvCxnSpPr>
          <p:nvPr/>
        </p:nvCxnSpPr>
        <p:spPr>
          <a:xfrm flipH="1">
            <a:off x="2561002" y="3429000"/>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83A6BE4E-D7E5-3851-AFBA-7849310A81AD}"/>
              </a:ext>
              <a:ext uri="{C183D7F6-B498-43B3-948B-1728B52AA6E4}">
                <adec:decorative xmlns:adec="http://schemas.microsoft.com/office/drawing/2017/decorative" val="1"/>
              </a:ext>
            </a:extLst>
          </p:cNvPr>
          <p:cNvSpPr/>
          <p:nvPr/>
        </p:nvSpPr>
        <p:spPr bwMode="auto">
          <a:xfrm>
            <a:off x="3613718"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2</a:t>
            </a:r>
          </a:p>
        </p:txBody>
      </p:sp>
      <p:sp>
        <p:nvSpPr>
          <p:cNvPr id="48" name="TextBox 47">
            <a:extLst>
              <a:ext uri="{FF2B5EF4-FFF2-40B4-BE49-F238E27FC236}">
                <a16:creationId xmlns:a16="http://schemas.microsoft.com/office/drawing/2014/main" id="{C163E4ED-D8B1-A1F1-9C7E-A665EB2EFF29}"/>
              </a:ext>
            </a:extLst>
          </p:cNvPr>
          <p:cNvSpPr txBox="1"/>
          <p:nvPr/>
        </p:nvSpPr>
        <p:spPr>
          <a:xfrm>
            <a:off x="2983660"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Verify</a:t>
            </a:r>
          </a:p>
        </p:txBody>
      </p:sp>
      <p:sp>
        <p:nvSpPr>
          <p:cNvPr id="49" name="TextBox 48">
            <a:extLst>
              <a:ext uri="{FF2B5EF4-FFF2-40B4-BE49-F238E27FC236}">
                <a16:creationId xmlns:a16="http://schemas.microsoft.com/office/drawing/2014/main" id="{5B35ABF5-7A02-95A6-4A66-B962C321B050}"/>
              </a:ext>
            </a:extLst>
          </p:cNvPr>
          <p:cNvSpPr txBox="1"/>
          <p:nvPr/>
        </p:nvSpPr>
        <p:spPr>
          <a:xfrm>
            <a:off x="3039932" y="3796165"/>
            <a:ext cx="1590771" cy="320088"/>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Project + .env</a:t>
            </a:r>
          </a:p>
        </p:txBody>
      </p:sp>
      <p:cxnSp>
        <p:nvCxnSpPr>
          <p:cNvPr id="62" name="!!Straight Arrow Connector 119" descr="Arrow right">
            <a:extLst>
              <a:ext uri="{FF2B5EF4-FFF2-40B4-BE49-F238E27FC236}">
                <a16:creationId xmlns:a16="http://schemas.microsoft.com/office/drawing/2014/main" id="{AD4BE0D2-D536-82E0-901F-019E66FC7CCE}"/>
              </a:ext>
            </a:extLst>
          </p:cNvPr>
          <p:cNvCxnSpPr>
            <a:cxnSpLocks/>
          </p:cNvCxnSpPr>
          <p:nvPr/>
        </p:nvCxnSpPr>
        <p:spPr>
          <a:xfrm flipH="1">
            <a:off x="4823556" y="3429000"/>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62FA60A3-BF38-E942-4898-B9445F4F50B6}"/>
              </a:ext>
              <a:ext uri="{C183D7F6-B498-43B3-948B-1728B52AA6E4}">
                <adec:decorative xmlns:adec="http://schemas.microsoft.com/office/drawing/2017/decorative" val="1"/>
              </a:ext>
            </a:extLst>
          </p:cNvPr>
          <p:cNvSpPr/>
          <p:nvPr/>
        </p:nvSpPr>
        <p:spPr bwMode="auto">
          <a:xfrm>
            <a:off x="5874402"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3</a:t>
            </a:r>
          </a:p>
        </p:txBody>
      </p:sp>
      <p:sp>
        <p:nvSpPr>
          <p:cNvPr id="50" name="TextBox 49">
            <a:extLst>
              <a:ext uri="{FF2B5EF4-FFF2-40B4-BE49-F238E27FC236}">
                <a16:creationId xmlns:a16="http://schemas.microsoft.com/office/drawing/2014/main" id="{98A67683-87A6-7C6F-9758-BABB373A99EE}"/>
              </a:ext>
            </a:extLst>
          </p:cNvPr>
          <p:cNvSpPr txBox="1"/>
          <p:nvPr/>
        </p:nvSpPr>
        <p:spPr>
          <a:xfrm>
            <a:off x="5244344"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Connect</a:t>
            </a:r>
          </a:p>
        </p:txBody>
      </p:sp>
      <p:sp>
        <p:nvSpPr>
          <p:cNvPr id="51" name="TextBox 50">
            <a:extLst>
              <a:ext uri="{FF2B5EF4-FFF2-40B4-BE49-F238E27FC236}">
                <a16:creationId xmlns:a16="http://schemas.microsoft.com/office/drawing/2014/main" id="{CE6220D6-2D08-B9CD-2A76-7D7CC4707135}"/>
              </a:ext>
            </a:extLst>
          </p:cNvPr>
          <p:cNvSpPr txBox="1"/>
          <p:nvPr/>
        </p:nvSpPr>
        <p:spPr>
          <a:xfrm>
            <a:off x="5300616" y="3796165"/>
            <a:ext cx="1590771" cy="320088"/>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Responses API</a:t>
            </a:r>
          </a:p>
        </p:txBody>
      </p:sp>
      <p:cxnSp>
        <p:nvCxnSpPr>
          <p:cNvPr id="63" name="!!Straight Arrow Connector 119" descr="Arrow right">
            <a:extLst>
              <a:ext uri="{FF2B5EF4-FFF2-40B4-BE49-F238E27FC236}">
                <a16:creationId xmlns:a16="http://schemas.microsoft.com/office/drawing/2014/main" id="{A8896D55-1A42-9223-D7C4-62206990398E}"/>
              </a:ext>
            </a:extLst>
          </p:cNvPr>
          <p:cNvCxnSpPr>
            <a:cxnSpLocks/>
          </p:cNvCxnSpPr>
          <p:nvPr/>
        </p:nvCxnSpPr>
        <p:spPr>
          <a:xfrm flipH="1">
            <a:off x="7086110" y="3429000"/>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E74B3941-CAF1-FC61-D001-3285D215F93C}"/>
              </a:ext>
              <a:ext uri="{C183D7F6-B498-43B3-948B-1728B52AA6E4}">
                <adec:decorative xmlns:adec="http://schemas.microsoft.com/office/drawing/2017/decorative" val="1"/>
              </a:ext>
            </a:extLst>
          </p:cNvPr>
          <p:cNvSpPr/>
          <p:nvPr/>
        </p:nvSpPr>
        <p:spPr bwMode="auto">
          <a:xfrm>
            <a:off x="8135086"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4</a:t>
            </a:r>
          </a:p>
        </p:txBody>
      </p:sp>
      <p:sp>
        <p:nvSpPr>
          <p:cNvPr id="52" name="TextBox 51">
            <a:extLst>
              <a:ext uri="{FF2B5EF4-FFF2-40B4-BE49-F238E27FC236}">
                <a16:creationId xmlns:a16="http://schemas.microsoft.com/office/drawing/2014/main" id="{4D37D7B3-3628-1021-079D-B69681002BC4}"/>
              </a:ext>
            </a:extLst>
          </p:cNvPr>
          <p:cNvSpPr txBox="1"/>
          <p:nvPr/>
        </p:nvSpPr>
        <p:spPr>
          <a:xfrm>
            <a:off x="7505028"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Govern</a:t>
            </a:r>
          </a:p>
        </p:txBody>
      </p:sp>
      <p:sp>
        <p:nvSpPr>
          <p:cNvPr id="53" name="TextBox 52">
            <a:extLst>
              <a:ext uri="{FF2B5EF4-FFF2-40B4-BE49-F238E27FC236}">
                <a16:creationId xmlns:a16="http://schemas.microsoft.com/office/drawing/2014/main" id="{F6DB390B-3964-F72B-6071-68FC0455284C}"/>
              </a:ext>
            </a:extLst>
          </p:cNvPr>
          <p:cNvSpPr txBox="1"/>
          <p:nvPr/>
        </p:nvSpPr>
        <p:spPr>
          <a:xfrm>
            <a:off x="7561300" y="3796165"/>
            <a:ext cx="1590771" cy="320088"/>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JSON + routing</a:t>
            </a:r>
          </a:p>
        </p:txBody>
      </p:sp>
      <p:cxnSp>
        <p:nvCxnSpPr>
          <p:cNvPr id="64" name="!!Straight Arrow Connector 119" descr="Arrow right">
            <a:extLst>
              <a:ext uri="{FF2B5EF4-FFF2-40B4-BE49-F238E27FC236}">
                <a16:creationId xmlns:a16="http://schemas.microsoft.com/office/drawing/2014/main" id="{D1C77D07-BB07-06E2-5A0C-B316EA640AFB}"/>
              </a:ext>
            </a:extLst>
          </p:cNvPr>
          <p:cNvCxnSpPr>
            <a:cxnSpLocks/>
          </p:cNvCxnSpPr>
          <p:nvPr/>
        </p:nvCxnSpPr>
        <p:spPr>
          <a:xfrm flipH="1">
            <a:off x="9348664" y="3429000"/>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611D751E-13B5-E92B-873F-C9FDF0E06FC8}"/>
              </a:ext>
              <a:ext uri="{C183D7F6-B498-43B3-948B-1728B52AA6E4}">
                <adec:decorative xmlns:adec="http://schemas.microsoft.com/office/drawing/2017/decorative" val="1"/>
              </a:ext>
            </a:extLst>
          </p:cNvPr>
          <p:cNvSpPr/>
          <p:nvPr/>
        </p:nvSpPr>
        <p:spPr bwMode="auto">
          <a:xfrm>
            <a:off x="10395768"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5</a:t>
            </a:r>
          </a:p>
        </p:txBody>
      </p:sp>
      <p:sp>
        <p:nvSpPr>
          <p:cNvPr id="54" name="TextBox 53">
            <a:extLst>
              <a:ext uri="{FF2B5EF4-FFF2-40B4-BE49-F238E27FC236}">
                <a16:creationId xmlns:a16="http://schemas.microsoft.com/office/drawing/2014/main" id="{EFE4C118-FAB1-41C5-91A1-D764D7821AA8}"/>
              </a:ext>
            </a:extLst>
          </p:cNvPr>
          <p:cNvSpPr txBox="1"/>
          <p:nvPr/>
        </p:nvSpPr>
        <p:spPr>
          <a:xfrm>
            <a:off x="9765710"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Deploy</a:t>
            </a:r>
          </a:p>
        </p:txBody>
      </p:sp>
      <p:sp>
        <p:nvSpPr>
          <p:cNvPr id="55" name="TextBox 54">
            <a:extLst>
              <a:ext uri="{FF2B5EF4-FFF2-40B4-BE49-F238E27FC236}">
                <a16:creationId xmlns:a16="http://schemas.microsoft.com/office/drawing/2014/main" id="{E5CDE2DD-97EF-CB1B-4DDF-04417DC985DE}"/>
              </a:ext>
            </a:extLst>
          </p:cNvPr>
          <p:cNvSpPr txBox="1"/>
          <p:nvPr/>
        </p:nvSpPr>
        <p:spPr>
          <a:xfrm>
            <a:off x="9821982" y="3796165"/>
            <a:ext cx="1590771" cy="320088"/>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Hosted agent</a:t>
            </a:r>
          </a:p>
        </p:txBody>
      </p:sp>
      <p:sp>
        <p:nvSpPr>
          <p:cNvPr id="39" name="TextBox 38"/>
          <p:cNvSpPr txBox="1"/>
          <p:nvPr/>
        </p:nvSpPr>
        <p:spPr>
          <a:xfrm>
            <a:off x="2766646" y="4952351"/>
            <a:ext cx="6658708" cy="812530"/>
          </a:xfrm>
          <a:prstGeom prst="rect">
            <a:avLst/>
          </a:prstGeom>
          <a:noFill/>
        </p:spPr>
        <p:txBody>
          <a:bodyPr wrap="square" lIns="36576" tIns="36576" rIns="36576" bIns="36576" anchor="t">
            <a:spAutoFit/>
          </a:bodyPr>
          <a:lstStyle/>
          <a:p>
            <a:pPr algn="ctr"/>
            <a:r>
              <a:rPr sz="2400" b="1"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Lab 5 model comparison is a self-paced extension after the live session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59"/>
                                        </p:tgtEl>
                                        <p:attrNameLst>
                                          <p:attrName>style.visibility</p:attrName>
                                        </p:attrNameLst>
                                      </p:cBhvr>
                                      <p:to>
                                        <p:strVal val="visible"/>
                                      </p:to>
                                    </p:set>
                                    <p:animEffect transition="in" filter="fade">
                                      <p:cBhvr>
                                        <p:cTn id="16" dur="500"/>
                                        <p:tgtEl>
                                          <p:spTgt spid="59"/>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500"/>
                                        <p:tgtEl>
                                          <p:spTgt spid="6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par>
                                <p:cTn id="32" presetID="10" presetClass="entr" presetSubtype="0" fill="hold" grpId="0" nodeType="withEffect">
                                  <p:stCondLst>
                                    <p:cond delay="10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cTn>
                              </p:par>
                              <p:par>
                                <p:cTn id="35" presetID="10" presetClass="entr" presetSubtype="0" fill="hold" grpId="0" nodeType="withEffect">
                                  <p:stCondLst>
                                    <p:cond delay="20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childTnLst>
                                </p:cTn>
                              </p:par>
                              <p:par>
                                <p:cTn id="38" presetID="10" presetClass="entr" presetSubtype="0" fill="hold" grpId="0" nodeType="withEffect">
                                  <p:stCondLst>
                                    <p:cond delay="20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par>
                                <p:cTn id="41" presetID="10" presetClass="entr" presetSubtype="0" fill="hold" grpId="0" nodeType="withEffect">
                                  <p:stCondLst>
                                    <p:cond delay="20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500"/>
                                        <p:tgtEl>
                                          <p:spTgt spid="49"/>
                                        </p:tgtEl>
                                      </p:cBhvr>
                                    </p:animEffect>
                                  </p:childTnLst>
                                </p:cTn>
                              </p:par>
                              <p:par>
                                <p:cTn id="44" presetID="10" presetClass="entr" presetSubtype="0" fill="hold" grpId="0" nodeType="withEffect">
                                  <p:stCondLst>
                                    <p:cond delay="30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500"/>
                                        <p:tgtEl>
                                          <p:spTgt spid="41"/>
                                        </p:tgtEl>
                                      </p:cBhvr>
                                    </p:animEffect>
                                  </p:childTnLst>
                                </p:cTn>
                              </p:par>
                              <p:par>
                                <p:cTn id="47" presetID="10" presetClass="entr" presetSubtype="0" fill="hold" grpId="0" nodeType="withEffect">
                                  <p:stCondLst>
                                    <p:cond delay="30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500"/>
                                        <p:tgtEl>
                                          <p:spTgt spid="50"/>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grpId="0" nodeType="withEffect">
                                  <p:stCondLst>
                                    <p:cond delay="4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6" presetID="10" presetClass="entr" presetSubtype="0" fill="hold" grpId="0" nodeType="withEffect">
                                  <p:stCondLst>
                                    <p:cond delay="400"/>
                                  </p:stCondLst>
                                  <p:childTnLst>
                                    <p:set>
                                      <p:cBhvr>
                                        <p:cTn id="57" dur="1" fill="hold">
                                          <p:stCondLst>
                                            <p:cond delay="0"/>
                                          </p:stCondLst>
                                        </p:cTn>
                                        <p:tgtEl>
                                          <p:spTgt spid="52"/>
                                        </p:tgtEl>
                                        <p:attrNameLst>
                                          <p:attrName>style.visibility</p:attrName>
                                        </p:attrNameLst>
                                      </p:cBhvr>
                                      <p:to>
                                        <p:strVal val="visible"/>
                                      </p:to>
                                    </p:set>
                                    <p:animEffect transition="in" filter="fade">
                                      <p:cBhvr>
                                        <p:cTn id="58" dur="500"/>
                                        <p:tgtEl>
                                          <p:spTgt spid="52"/>
                                        </p:tgtEl>
                                      </p:cBhvr>
                                    </p:animEffect>
                                  </p:childTnLst>
                                </p:cTn>
                              </p:par>
                              <p:par>
                                <p:cTn id="59" presetID="10" presetClass="entr" presetSubtype="0" fill="hold" grpId="0" nodeType="withEffect">
                                  <p:stCondLst>
                                    <p:cond delay="40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500"/>
                                        <p:tgtEl>
                                          <p:spTgt spid="53"/>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500"/>
                                        <p:tgtEl>
                                          <p:spTgt spid="44"/>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500"/>
                                        <p:tgtEl>
                                          <p:spTgt spid="54"/>
                                        </p:tgtEl>
                                      </p:cBhvr>
                                    </p:animEffect>
                                  </p:childTnLst>
                                </p:cTn>
                              </p:par>
                              <p:par>
                                <p:cTn id="68" presetID="10" presetClass="entr" presetSubtype="0" fill="hold" grpId="0" nodeType="withEffect">
                                  <p:stCondLst>
                                    <p:cond delay="500"/>
                                  </p:stCondLst>
                                  <p:childTnLst>
                                    <p:set>
                                      <p:cBhvr>
                                        <p:cTn id="69" dur="1" fill="hold">
                                          <p:stCondLst>
                                            <p:cond delay="0"/>
                                          </p:stCondLst>
                                        </p:cTn>
                                        <p:tgtEl>
                                          <p:spTgt spid="55"/>
                                        </p:tgtEl>
                                        <p:attrNameLst>
                                          <p:attrName>style.visibility</p:attrName>
                                        </p:attrNameLst>
                                      </p:cBhvr>
                                      <p:to>
                                        <p:strVal val="visible"/>
                                      </p:to>
                                    </p:set>
                                    <p:animEffect transition="in" filter="fade">
                                      <p:cBhvr>
                                        <p:cTn id="70" dur="500"/>
                                        <p:tgtEl>
                                          <p:spTgt spid="55"/>
                                        </p:tgtEl>
                                      </p:cBhvr>
                                    </p:animEffect>
                                  </p:childTnLst>
                                </p:cTn>
                              </p:par>
                              <p:par>
                                <p:cTn id="71" presetID="10" presetClass="entr" presetSubtype="0" fill="hold" nodeType="withEffect">
                                  <p:stCondLst>
                                    <p:cond delay="500"/>
                                  </p:stCondLst>
                                  <p:childTnLst>
                                    <p:set>
                                      <p:cBhvr>
                                        <p:cTn id="72" dur="1" fill="hold">
                                          <p:stCondLst>
                                            <p:cond delay="0"/>
                                          </p:stCondLst>
                                        </p:cTn>
                                        <p:tgtEl>
                                          <p:spTgt spid="64"/>
                                        </p:tgtEl>
                                        <p:attrNameLst>
                                          <p:attrName>style.visibility</p:attrName>
                                        </p:attrNameLst>
                                      </p:cBhvr>
                                      <p:to>
                                        <p:strVal val="visible"/>
                                      </p:to>
                                    </p:set>
                                    <p:animEffect transition="in" filter="fade">
                                      <p:cBhvr>
                                        <p:cTn id="73" dur="500"/>
                                        <p:tgtEl>
                                          <p:spTgt spid="64"/>
                                        </p:tgtEl>
                                      </p:cBhvr>
                                    </p:animEffect>
                                  </p:childTnLst>
                                </p:cTn>
                              </p:par>
                              <p:par>
                                <p:cTn id="74" presetID="10" presetClass="entr" presetSubtype="0" fill="hold" nodeType="withEffect">
                                  <p:stCondLst>
                                    <p:cond delay="40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par>
                                <p:cTn id="77" presetID="10" presetClass="entr" presetSubtype="0" fill="hold" nodeType="withEffect">
                                  <p:stCondLst>
                                    <p:cond delay="300"/>
                                  </p:stCondLst>
                                  <p:childTnLst>
                                    <p:set>
                                      <p:cBhvr>
                                        <p:cTn id="78" dur="1" fill="hold">
                                          <p:stCondLst>
                                            <p:cond delay="0"/>
                                          </p:stCondLst>
                                        </p:cTn>
                                        <p:tgtEl>
                                          <p:spTgt spid="62"/>
                                        </p:tgtEl>
                                        <p:attrNameLst>
                                          <p:attrName>style.visibility</p:attrName>
                                        </p:attrNameLst>
                                      </p:cBhvr>
                                      <p:to>
                                        <p:strVal val="visible"/>
                                      </p:to>
                                    </p:set>
                                    <p:animEffect transition="in" filter="fade">
                                      <p:cBhvr>
                                        <p:cTn id="79" dur="500"/>
                                        <p:tgtEl>
                                          <p:spTgt spid="62"/>
                                        </p:tgtEl>
                                      </p:cBhvr>
                                    </p:animEffect>
                                  </p:childTnLst>
                                </p:cTn>
                              </p:par>
                              <p:par>
                                <p:cTn id="80" presetID="10" presetClass="entr" presetSubtype="0" fill="hold" nodeType="withEffect">
                                  <p:stCondLst>
                                    <p:cond delay="200"/>
                                  </p:stCondLst>
                                  <p:childTnLst>
                                    <p:set>
                                      <p:cBhvr>
                                        <p:cTn id="81" dur="1" fill="hold">
                                          <p:stCondLst>
                                            <p:cond delay="0"/>
                                          </p:stCondLst>
                                        </p:cTn>
                                        <p:tgtEl>
                                          <p:spTgt spid="61"/>
                                        </p:tgtEl>
                                        <p:attrNameLst>
                                          <p:attrName>style.visibility</p:attrName>
                                        </p:attrNameLst>
                                      </p:cBhvr>
                                      <p:to>
                                        <p:strVal val="visible"/>
                                      </p:to>
                                    </p:set>
                                    <p:animEffect transition="in" filter="fade">
                                      <p:cBhvr>
                                        <p:cTn id="82" dur="500"/>
                                        <p:tgtEl>
                                          <p:spTgt spid="61"/>
                                        </p:tgtEl>
                                      </p:cBhvr>
                                    </p:animEffect>
                                  </p:childTnLst>
                                </p:cTn>
                              </p:par>
                              <p:par>
                                <p:cTn id="83" presetID="10" presetClass="entr" presetSubtype="0" fill="hold" grpId="0" nodeType="withEffect">
                                  <p:stCondLst>
                                    <p:cond delay="60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40" grpId="0" animBg="1"/>
      <p:bldP spid="41" grpId="0" animBg="1"/>
      <p:bldP spid="42" grpId="0" animBg="1"/>
      <p:bldP spid="44" grpId="0" animBg="1"/>
      <p:bldP spid="56" grpId="0" animBg="1"/>
      <p:bldP spid="46" grpId="0"/>
      <p:bldP spid="47" grpId="0"/>
      <p:bldP spid="57" grpId="0" animBg="1"/>
      <p:bldP spid="48" grpId="0"/>
      <p:bldP spid="49" grpId="0"/>
      <p:bldP spid="58" grpId="0" animBg="1"/>
      <p:bldP spid="50" grpId="0"/>
      <p:bldP spid="51" grpId="0"/>
      <p:bldP spid="59" grpId="0" animBg="1"/>
      <p:bldP spid="52" grpId="0"/>
      <p:bldP spid="53" grpId="0"/>
      <p:bldP spid="60" grpId="0" animBg="1"/>
      <p:bldP spid="54" grpId="0"/>
      <p:bldP spid="55" grpId="0"/>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4D7B-886F-C95E-7398-6938D1C1A64F}"/>
              </a:ext>
            </a:extLst>
          </p:cNvPr>
          <p:cNvSpPr>
            <a:spLocks noGrp="1"/>
          </p:cNvSpPr>
          <p:nvPr>
            <p:ph type="title"/>
          </p:nvPr>
        </p:nvSpPr>
        <p:spPr>
          <a:xfrm>
            <a:off x="588263" y="457200"/>
            <a:ext cx="11018520" cy="553998"/>
          </a:xfrm>
        </p:spPr>
        <p:txBody>
          <a:bodyPr/>
          <a:lstStyle/>
          <a:p>
            <a:r>
              <a:rPr lang="en-CA" dirty="0"/>
              <a:t>Your </a:t>
            </a:r>
            <a:r>
              <a:rPr lang="en-CA" dirty="0" err="1"/>
              <a:t>skillable</a:t>
            </a:r>
            <a:r>
              <a:rPr lang="en-CA" dirty="0"/>
              <a:t> environment</a:t>
            </a:r>
            <a:endParaRPr lang="en-US" dirty="0"/>
          </a:p>
        </p:txBody>
      </p:sp>
      <p:sp>
        <p:nvSpPr>
          <p:cNvPr id="4" name="TextBox 3">
            <a:extLst>
              <a:ext uri="{FF2B5EF4-FFF2-40B4-BE49-F238E27FC236}">
                <a16:creationId xmlns:a16="http://schemas.microsoft.com/office/drawing/2014/main" id="{CC5CA827-900A-D24B-E8FC-A3ADA7DA1632}"/>
              </a:ext>
            </a:extLst>
          </p:cNvPr>
          <p:cNvSpPr txBox="1"/>
          <p:nvPr/>
        </p:nvSpPr>
        <p:spPr>
          <a:xfrm>
            <a:off x="587375" y="1047929"/>
            <a:ext cx="10881360" cy="381643"/>
          </a:xfrm>
          <a:prstGeom prst="rect">
            <a:avLst/>
          </a:prstGeom>
          <a:noFill/>
        </p:spPr>
        <p:txBody>
          <a:bodyPr wrap="square" lIns="36576" tIns="36576" rIns="36576" bIns="36576" anchor="t">
            <a:spAutoFit/>
          </a:bodyPr>
          <a:lstStyle/>
          <a:p>
            <a:r>
              <a:rPr lang="en-CA" sz="2000" kern="0" dirty="0">
                <a:gradFill>
                  <a:gsLst>
                    <a:gs pos="32110">
                      <a:schemeClr val="tx1"/>
                    </a:gs>
                    <a:gs pos="72000">
                      <a:schemeClr val="tx1"/>
                    </a:gs>
                  </a:gsLst>
                  <a:lin ang="2700000" scaled="1"/>
                </a:gradFill>
                <a:latin typeface="Segoe UI Semibold" panose="020B0502040204020203" pitchFamily="34" charset="0"/>
              </a:rPr>
              <a:t>Everything you need is provided in the lab instructions panel</a:t>
            </a:r>
          </a:p>
        </p:txBody>
      </p:sp>
      <p:sp>
        <p:nvSpPr>
          <p:cNvPr id="32" name="Rounded Rectangle 31">
            <a:extLst>
              <a:ext uri="{FF2B5EF4-FFF2-40B4-BE49-F238E27FC236}">
                <a16:creationId xmlns:a16="http://schemas.microsoft.com/office/drawing/2014/main" id="{EA8DFC6F-AF93-4E95-428F-173F4BE0CA0B}"/>
              </a:ext>
              <a:ext uri="{C183D7F6-B498-43B3-948B-1728B52AA6E4}">
                <adec:decorative xmlns:adec="http://schemas.microsoft.com/office/drawing/2017/decorative" val="1"/>
              </a:ext>
            </a:extLst>
          </p:cNvPr>
          <p:cNvSpPr/>
          <p:nvPr/>
        </p:nvSpPr>
        <p:spPr>
          <a:xfrm>
            <a:off x="585786" y="3763107"/>
            <a:ext cx="11017249" cy="2192216"/>
          </a:xfrm>
          <a:prstGeom prst="roundRect">
            <a:avLst>
              <a:gd name="adj" fmla="val 13860"/>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CA" sz="1765" b="1" dirty="0">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10" name="Rounded Rectangle 9"/>
          <p:cNvSpPr/>
          <p:nvPr/>
        </p:nvSpPr>
        <p:spPr>
          <a:xfrm>
            <a:off x="585787" y="1934308"/>
            <a:ext cx="2103120" cy="1543460"/>
          </a:xfrm>
          <a:prstGeom prst="roundRect">
            <a:avLst>
              <a:gd name="adj" fmla="val 17231"/>
            </a:avLst>
          </a:prstGeom>
          <a:noFill/>
          <a:ln w="1270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180000" tIns="0" rIns="0" bIns="0" rtlCol="0" anchor="ctr" anchorCtr="0">
            <a:noAutofit/>
          </a:bodyPr>
          <a:lstStyle/>
          <a:p>
            <a:pPr defTabSz="914437" fontAlgn="base">
              <a:spcBef>
                <a:spcPct val="0"/>
              </a:spcBef>
              <a:spcAft>
                <a:spcPct val="0"/>
              </a:spcAft>
              <a:tabLst>
                <a:tab pos="1487158" algn="l"/>
              </a:tabLst>
              <a:defRPr/>
            </a:pPr>
            <a:r>
              <a:rPr lang="en-CA" sz="2800" b="1" spc="-50"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VM</a:t>
            </a:r>
          </a:p>
          <a:p>
            <a:pPr>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Password + </a:t>
            </a:r>
            <a:b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b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desktop</a:t>
            </a:r>
          </a:p>
        </p:txBody>
      </p:sp>
      <p:sp>
        <p:nvSpPr>
          <p:cNvPr id="6" name="Rounded Rectangle 5">
            <a:extLst>
              <a:ext uri="{FF2B5EF4-FFF2-40B4-BE49-F238E27FC236}">
                <a16:creationId xmlns:a16="http://schemas.microsoft.com/office/drawing/2014/main" id="{C8E7FD6F-AD91-4578-F1E3-BF52FACD9AD9}"/>
              </a:ext>
            </a:extLst>
          </p:cNvPr>
          <p:cNvSpPr/>
          <p:nvPr/>
        </p:nvSpPr>
        <p:spPr>
          <a:xfrm>
            <a:off x="2815113" y="1934308"/>
            <a:ext cx="2103120" cy="1543460"/>
          </a:xfrm>
          <a:prstGeom prst="roundRect">
            <a:avLst>
              <a:gd name="adj" fmla="val 17231"/>
            </a:avLst>
          </a:prstGeom>
          <a:noFill/>
          <a:ln w="1270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180000" tIns="0" rIns="0" bIns="0" rtlCol="0" anchor="ctr" anchorCtr="0">
            <a:noAutofit/>
          </a:bodyPr>
          <a:lstStyle/>
          <a:p>
            <a:pPr defTabSz="914437" fontAlgn="base">
              <a:spcBef>
                <a:spcPct val="0"/>
              </a:spcBef>
              <a:spcAft>
                <a:spcPct val="0"/>
              </a:spcAft>
              <a:tabLst>
                <a:tab pos="1487158" algn="l"/>
              </a:tabLst>
              <a:defRPr/>
            </a:pPr>
            <a:r>
              <a:rPr lang="en-CA" sz="2800" b="1" spc="-50"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AZURE</a:t>
            </a:r>
          </a:p>
          <a:p>
            <a:pPr>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Username + TAP/password</a:t>
            </a:r>
          </a:p>
        </p:txBody>
      </p:sp>
      <p:sp>
        <p:nvSpPr>
          <p:cNvPr id="29" name="Rounded Rectangle 28">
            <a:extLst>
              <a:ext uri="{FF2B5EF4-FFF2-40B4-BE49-F238E27FC236}">
                <a16:creationId xmlns:a16="http://schemas.microsoft.com/office/drawing/2014/main" id="{4448AE10-AA48-F8DC-4E67-32C7C36BE94E}"/>
              </a:ext>
            </a:extLst>
          </p:cNvPr>
          <p:cNvSpPr/>
          <p:nvPr/>
        </p:nvSpPr>
        <p:spPr>
          <a:xfrm>
            <a:off x="5044439" y="1934308"/>
            <a:ext cx="2103120" cy="1543460"/>
          </a:xfrm>
          <a:prstGeom prst="roundRect">
            <a:avLst>
              <a:gd name="adj" fmla="val 17231"/>
            </a:avLst>
          </a:prstGeom>
          <a:noFill/>
          <a:ln w="1270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180000" tIns="0" rIns="0" bIns="0" rtlCol="0" anchor="ctr" anchorCtr="0">
            <a:noAutofit/>
          </a:bodyPr>
          <a:lstStyle/>
          <a:p>
            <a:pPr defTabSz="914437" fontAlgn="base">
              <a:spcBef>
                <a:spcPct val="0"/>
              </a:spcBef>
              <a:spcAft>
                <a:spcPct val="0"/>
              </a:spcAft>
              <a:tabLst>
                <a:tab pos="1487158" algn="l"/>
              </a:tabLst>
              <a:defRPr/>
            </a:pPr>
            <a:r>
              <a:rPr lang="en-CA" sz="2800" b="1" spc="-50"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.ENV</a:t>
            </a:r>
          </a:p>
          <a:p>
            <a:pPr>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Project endpoint configured</a:t>
            </a:r>
          </a:p>
        </p:txBody>
      </p:sp>
      <p:sp>
        <p:nvSpPr>
          <p:cNvPr id="30" name="Rounded Rectangle 29">
            <a:extLst>
              <a:ext uri="{FF2B5EF4-FFF2-40B4-BE49-F238E27FC236}">
                <a16:creationId xmlns:a16="http://schemas.microsoft.com/office/drawing/2014/main" id="{89C88FCC-F4FC-FF55-E713-7E2DC9A83053}"/>
              </a:ext>
            </a:extLst>
          </p:cNvPr>
          <p:cNvSpPr/>
          <p:nvPr/>
        </p:nvSpPr>
        <p:spPr>
          <a:xfrm>
            <a:off x="7273765" y="1934308"/>
            <a:ext cx="2103120" cy="1543460"/>
          </a:xfrm>
          <a:prstGeom prst="roundRect">
            <a:avLst>
              <a:gd name="adj" fmla="val 17231"/>
            </a:avLst>
          </a:prstGeom>
          <a:noFill/>
          <a:ln w="1270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180000" tIns="0" rIns="0" bIns="0" rtlCol="0" anchor="ctr" anchorCtr="0">
            <a:noAutofit/>
          </a:bodyPr>
          <a:lstStyle/>
          <a:p>
            <a:pPr defTabSz="914437" fontAlgn="base">
              <a:spcBef>
                <a:spcPct val="0"/>
              </a:spcBef>
              <a:spcAft>
                <a:spcPct val="0"/>
              </a:spcAft>
              <a:tabLst>
                <a:tab pos="1487158" algn="l"/>
              </a:tabLst>
              <a:defRPr/>
            </a:pPr>
            <a:r>
              <a:rPr lang="en-CA" sz="2800" b="1" spc="-50"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MODEL</a:t>
            </a:r>
          </a:p>
          <a:p>
            <a:pPr>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gpt-5.4-mini deployed</a:t>
            </a:r>
          </a:p>
        </p:txBody>
      </p:sp>
      <p:sp>
        <p:nvSpPr>
          <p:cNvPr id="31" name="Rounded Rectangle 30">
            <a:extLst>
              <a:ext uri="{FF2B5EF4-FFF2-40B4-BE49-F238E27FC236}">
                <a16:creationId xmlns:a16="http://schemas.microsoft.com/office/drawing/2014/main" id="{9E3A8CEC-9716-0C88-BF23-ADCC8F7A0791}"/>
              </a:ext>
            </a:extLst>
          </p:cNvPr>
          <p:cNvSpPr/>
          <p:nvPr/>
        </p:nvSpPr>
        <p:spPr>
          <a:xfrm>
            <a:off x="9503093" y="1934308"/>
            <a:ext cx="2103120" cy="1543460"/>
          </a:xfrm>
          <a:prstGeom prst="roundRect">
            <a:avLst>
              <a:gd name="adj" fmla="val 17231"/>
            </a:avLst>
          </a:prstGeom>
          <a:noFill/>
          <a:ln w="1270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180000" tIns="0" rIns="0" bIns="0" rtlCol="0" anchor="ctr" anchorCtr="0">
            <a:noAutofit/>
          </a:bodyPr>
          <a:lstStyle/>
          <a:p>
            <a:pPr defTabSz="914437" fontAlgn="base">
              <a:spcBef>
                <a:spcPct val="0"/>
              </a:spcBef>
              <a:spcAft>
                <a:spcPct val="0"/>
              </a:spcAft>
              <a:tabLst>
                <a:tab pos="1487158" algn="l"/>
              </a:tabLst>
              <a:defRPr/>
            </a:pPr>
            <a:r>
              <a:rPr lang="en-CA" sz="2800" b="1" spc="-50"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VS CODE</a:t>
            </a:r>
          </a:p>
          <a:p>
            <a:pPr>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Foundry Toolkit installed</a:t>
            </a:r>
          </a:p>
        </p:txBody>
      </p:sp>
      <p:sp>
        <p:nvSpPr>
          <p:cNvPr id="26" name="TextBox 25"/>
          <p:cNvSpPr txBox="1"/>
          <p:nvPr/>
        </p:nvSpPr>
        <p:spPr>
          <a:xfrm>
            <a:off x="807719" y="4021398"/>
            <a:ext cx="1536895" cy="320088"/>
          </a:xfrm>
          <a:prstGeom prst="rect">
            <a:avLst/>
          </a:prstGeom>
          <a:noFill/>
        </p:spPr>
        <p:txBody>
          <a:bodyPr wrap="square" lIns="36576" tIns="36576" rIns="36576" bIns="36576" anchor="t">
            <a:spAutoFit/>
          </a:bodyPr>
          <a:lstStyle/>
          <a:p>
            <a:pPr defTabSz="914437" fontAlgn="base">
              <a:spcBef>
                <a:spcPct val="0"/>
              </a:spcBef>
              <a:spcAft>
                <a:spcPct val="0"/>
              </a:spcAft>
              <a:tabLst>
                <a:tab pos="1487158" algn="l"/>
              </a:tabLst>
              <a:defRPr/>
            </a:pPr>
            <a:r>
              <a:rPr lang="en-CA" sz="1600" b="1" spc="-50"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Start here</a:t>
            </a:r>
          </a:p>
        </p:txBody>
      </p:sp>
      <p:sp>
        <p:nvSpPr>
          <p:cNvPr id="27" name="TextBox 26"/>
          <p:cNvSpPr txBox="1"/>
          <p:nvPr/>
        </p:nvSpPr>
        <p:spPr>
          <a:xfrm>
            <a:off x="807719" y="4341018"/>
            <a:ext cx="8008035" cy="689420"/>
          </a:xfrm>
          <a:prstGeom prst="rect">
            <a:avLst/>
          </a:prstGeom>
          <a:noFill/>
        </p:spPr>
        <p:txBody>
          <a:bodyPr wrap="square" lIns="36576" tIns="36576" rIns="36576" bIns="36576" anchor="t">
            <a:spAutoFit/>
          </a:bodyPr>
          <a:lstStyle/>
          <a:p>
            <a:pPr algn="l"/>
            <a:r>
              <a:rPr sz="2000" kern="0" dirty="0">
                <a:gradFill>
                  <a:gsLst>
                    <a:gs pos="32110">
                      <a:schemeClr val="tx1"/>
                    </a:gs>
                    <a:gs pos="72000">
                      <a:schemeClr val="tx1"/>
                    </a:gs>
                  </a:gsLst>
                  <a:lin ang="2700000" scaled="1"/>
                </a:gradFill>
                <a:latin typeface="Segoe UI Semibold" panose="020B0502040204020203" pitchFamily="34" charset="0"/>
              </a:rPr>
              <a:t>Open C:\Users\</a:t>
            </a:r>
            <a:r>
              <a:rPr sz="2000" kern="0" dirty="0" err="1">
                <a:gradFill>
                  <a:gsLst>
                    <a:gs pos="32110">
                      <a:schemeClr val="tx1"/>
                    </a:gs>
                    <a:gs pos="72000">
                      <a:schemeClr val="tx1"/>
                    </a:gs>
                  </a:gsLst>
                  <a:lin ang="2700000" scaled="1"/>
                </a:gradFill>
                <a:latin typeface="Segoe UI Semibold" panose="020B0502040204020203" pitchFamily="34" charset="0"/>
              </a:rPr>
              <a:t>LabUser</a:t>
            </a:r>
            <a:r>
              <a:rPr sz="2000" kern="0" dirty="0">
                <a:gradFill>
                  <a:gsLst>
                    <a:gs pos="32110">
                      <a:schemeClr val="tx1"/>
                    </a:gs>
                    <a:gs pos="72000">
                      <a:schemeClr val="tx1"/>
                    </a:gs>
                  </a:gsLst>
                  <a:lin ang="2700000" scaled="1"/>
                </a:gradFill>
                <a:latin typeface="Segoe UI Semibold" panose="020B0502040204020203" pitchFamily="34" charset="0"/>
              </a:rPr>
              <a:t>\Desktop\AI-Tour-ILL335-main in VS Code, trust the workspace, then follow the </a:t>
            </a:r>
            <a:r>
              <a:rPr sz="2000" kern="0" dirty="0" err="1">
                <a:gradFill>
                  <a:gsLst>
                    <a:gs pos="32110">
                      <a:schemeClr val="tx1"/>
                    </a:gs>
                    <a:gs pos="72000">
                      <a:schemeClr val="tx1"/>
                    </a:gs>
                  </a:gsLst>
                  <a:lin ang="2700000" scaled="1"/>
                </a:gradFill>
                <a:latin typeface="Segoe UI Semibold" panose="020B0502040204020203" pitchFamily="34" charset="0"/>
              </a:rPr>
              <a:t>Skillable</a:t>
            </a:r>
            <a:r>
              <a:rPr sz="2000" kern="0" dirty="0">
                <a:gradFill>
                  <a:gsLst>
                    <a:gs pos="32110">
                      <a:schemeClr val="tx1"/>
                    </a:gs>
                    <a:gs pos="72000">
                      <a:schemeClr val="tx1"/>
                    </a:gs>
                  </a:gsLst>
                  <a:lin ang="2700000" scaled="1"/>
                </a:gradFill>
                <a:latin typeface="Segoe UI Semibold" panose="020B0502040204020203" pitchFamily="34" charset="0"/>
              </a:rPr>
              <a:t> instructions.</a:t>
            </a:r>
          </a:p>
        </p:txBody>
      </p:sp>
      <p:cxnSp>
        <p:nvCxnSpPr>
          <p:cNvPr id="33" name="Straight Arrow Connector 32" descr="Theme 1 multi-color line">
            <a:extLst>
              <a:ext uri="{FF2B5EF4-FFF2-40B4-BE49-F238E27FC236}">
                <a16:creationId xmlns:a16="http://schemas.microsoft.com/office/drawing/2014/main" id="{6CF6C62B-14C4-C442-CB60-5FCA34CDC97F}"/>
              </a:ext>
              <a:ext uri="{C183D7F6-B498-43B3-948B-1728B52AA6E4}">
                <adec:decorative xmlns:adec="http://schemas.microsoft.com/office/drawing/2017/decorative" val="0"/>
              </a:ext>
            </a:extLst>
          </p:cNvPr>
          <p:cNvCxnSpPr>
            <a:cxnSpLocks/>
          </p:cNvCxnSpPr>
          <p:nvPr/>
        </p:nvCxnSpPr>
        <p:spPr>
          <a:xfrm>
            <a:off x="852569" y="5169641"/>
            <a:ext cx="10342969" cy="0"/>
          </a:xfrm>
          <a:prstGeom prst="straightConnector1">
            <a:avLst/>
          </a:pr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07719" y="5334029"/>
            <a:ext cx="10058400" cy="320088"/>
          </a:xfrm>
          <a:prstGeom prst="rect">
            <a:avLst/>
          </a:prstGeom>
          <a:noFill/>
        </p:spPr>
        <p:txBody>
          <a:bodyPr wrap="square" lIns="36576" tIns="36576" rIns="36576" bIns="36576" anchor="t">
            <a:spAutoFit/>
          </a:bodyPr>
          <a:lstStyle/>
          <a:p>
            <a:pPr>
              <a:spcBef>
                <a:spcPts val="500"/>
              </a:spcBef>
            </a:pPr>
            <a:r>
              <a:rPr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Use the keyboard icon / Type action to enter supplied credentials accurately.</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60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grpId="0" nodeType="withEffect">
                                  <p:stCondLst>
                                    <p:cond delay="60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10" presetClass="entr" presetSubtype="0" fill="hold" nodeType="withEffect">
                                  <p:stCondLst>
                                    <p:cond delay="60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grpId="0" nodeType="withEffect">
                                  <p:stCondLst>
                                    <p:cond delay="60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32" grpId="0" animBg="1"/>
      <p:bldP spid="10" grpId="0" animBg="1"/>
      <p:bldP spid="6" grpId="0" animBg="1"/>
      <p:bldP spid="29" grpId="0" animBg="1"/>
      <p:bldP spid="30" grpId="0" animBg="1"/>
      <p:bldP spid="31" grpId="0" animBg="1"/>
      <p:bldP spid="26" grpId="0"/>
      <p:bldP spid="27"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2673-D924-7343-1EFF-ACABEB70DE07}"/>
              </a:ext>
            </a:extLst>
          </p:cNvPr>
          <p:cNvSpPr>
            <a:spLocks noGrp="1"/>
          </p:cNvSpPr>
          <p:nvPr>
            <p:ph type="title"/>
          </p:nvPr>
        </p:nvSpPr>
        <p:spPr>
          <a:xfrm>
            <a:off x="587375" y="457200"/>
            <a:ext cx="11017250" cy="677108"/>
          </a:xfrm>
        </p:spPr>
        <p:txBody>
          <a:bodyPr/>
          <a:lstStyle/>
          <a:p>
            <a:pPr algn="ctr" defTabSz="2413689" fontAlgn="base">
              <a:spcAft>
                <a:spcPct val="0"/>
              </a:spcAft>
              <a:tabLst>
                <a:tab pos="2455604" algn="l"/>
              </a:tabLst>
              <a:defRPr/>
            </a:pPr>
            <a:r>
              <a:rPr lang="en-CA" sz="4400" b="1" dirty="0">
                <a:gradFill>
                  <a:gsLst>
                    <a:gs pos="5505">
                      <a:schemeClr val="tx1"/>
                    </a:gs>
                    <a:gs pos="38000">
                      <a:schemeClr val="tx1"/>
                    </a:gs>
                  </a:gsLst>
                  <a:path path="circle">
                    <a:fillToRect l="100000" t="100000"/>
                  </a:path>
                </a:gradFill>
                <a:latin typeface="Segoe UI Semibold" panose="020B0502040204020203" pitchFamily="34" charset="0"/>
                <a:cs typeface="Segoe Sans Display Semibold" pitchFamily="2" charset="0"/>
              </a:rPr>
              <a:t>What you will build</a:t>
            </a:r>
          </a:p>
        </p:txBody>
      </p:sp>
      <p:sp>
        <p:nvSpPr>
          <p:cNvPr id="59" name="TextBox 58">
            <a:extLst>
              <a:ext uri="{FF2B5EF4-FFF2-40B4-BE49-F238E27FC236}">
                <a16:creationId xmlns:a16="http://schemas.microsoft.com/office/drawing/2014/main" id="{9F9765E3-2823-BFC2-FDEE-4ADE8C74EB55}"/>
              </a:ext>
            </a:extLst>
          </p:cNvPr>
          <p:cNvSpPr txBox="1"/>
          <p:nvPr/>
        </p:nvSpPr>
        <p:spPr>
          <a:xfrm>
            <a:off x="656114" y="1189914"/>
            <a:ext cx="10881360" cy="381643"/>
          </a:xfrm>
          <a:prstGeom prst="rect">
            <a:avLst/>
          </a:prstGeom>
          <a:noFill/>
        </p:spPr>
        <p:txBody>
          <a:bodyPr wrap="square" lIns="36576" tIns="36576" rIns="36576" bIns="36576" anchor="t">
            <a:spAutoFit/>
          </a:bodyPr>
          <a:lstStyle/>
          <a:p>
            <a:pPr algn="ctr"/>
            <a:r>
              <a:rPr lang="en-CA" sz="2000" kern="0" dirty="0">
                <a:gradFill>
                  <a:gsLst>
                    <a:gs pos="32110">
                      <a:schemeClr val="tx1"/>
                    </a:gs>
                    <a:gs pos="72000">
                      <a:schemeClr val="tx1"/>
                    </a:gs>
                  </a:gsLst>
                  <a:lin ang="2700000" scaled="1"/>
                </a:gradFill>
                <a:latin typeface="Segoe UI Semibold" panose="020B0502040204020203" pitchFamily="34" charset="0"/>
              </a:rPr>
              <a:t>A governed consumer sentiment pipeline</a:t>
            </a:r>
          </a:p>
        </p:txBody>
      </p:sp>
      <p:sp>
        <p:nvSpPr>
          <p:cNvPr id="6" name="Rounded Rectangle 5">
            <a:extLst>
              <a:ext uri="{FF2B5EF4-FFF2-40B4-BE49-F238E27FC236}">
                <a16:creationId xmlns:a16="http://schemas.microsoft.com/office/drawing/2014/main" id="{33E3DE00-A381-D339-0F7C-3E8FAA524C4D}"/>
              </a:ext>
              <a:ext uri="{C183D7F6-B498-43B3-948B-1728B52AA6E4}">
                <adec:decorative xmlns:adec="http://schemas.microsoft.com/office/drawing/2017/decorative" val="1"/>
              </a:ext>
            </a:extLst>
          </p:cNvPr>
          <p:cNvSpPr/>
          <p:nvPr/>
        </p:nvSpPr>
        <p:spPr bwMode="auto">
          <a:xfrm>
            <a:off x="588264"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49" name="Oval 48">
            <a:extLst>
              <a:ext uri="{FF2B5EF4-FFF2-40B4-BE49-F238E27FC236}">
                <a16:creationId xmlns:a16="http://schemas.microsoft.com/office/drawing/2014/main" id="{00192975-D9E1-CFA0-597E-3F84AA562E29}"/>
              </a:ext>
              <a:ext uri="{C183D7F6-B498-43B3-948B-1728B52AA6E4}">
                <adec:decorative xmlns:adec="http://schemas.microsoft.com/office/drawing/2017/decorative" val="1"/>
              </a:ext>
            </a:extLst>
          </p:cNvPr>
          <p:cNvSpPr/>
          <p:nvPr/>
        </p:nvSpPr>
        <p:spPr bwMode="auto">
          <a:xfrm>
            <a:off x="1353034"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1</a:t>
            </a:r>
          </a:p>
        </p:txBody>
      </p:sp>
      <p:sp>
        <p:nvSpPr>
          <p:cNvPr id="39" name="TextBox 38">
            <a:extLst>
              <a:ext uri="{FF2B5EF4-FFF2-40B4-BE49-F238E27FC236}">
                <a16:creationId xmlns:a16="http://schemas.microsoft.com/office/drawing/2014/main" id="{CBBDDC27-693D-0705-73F7-0580838A8C31}"/>
              </a:ext>
            </a:extLst>
          </p:cNvPr>
          <p:cNvSpPr txBox="1"/>
          <p:nvPr/>
        </p:nvSpPr>
        <p:spPr>
          <a:xfrm>
            <a:off x="722976"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Feedback</a:t>
            </a:r>
            <a:endParaRPr sz="2400" b="1" dirty="0">
              <a:ln w="3175">
                <a:noFill/>
              </a:ln>
              <a:solidFill>
                <a:srgbClr val="000000"/>
              </a:solidFill>
              <a:latin typeface="Segoe UI Semibold" panose="020B0502040204020203" pitchFamily="34" charset="0"/>
              <a:cs typeface="Segoe UI" pitchFamily="34" charset="0"/>
            </a:endParaRPr>
          </a:p>
        </p:txBody>
      </p:sp>
      <p:sp>
        <p:nvSpPr>
          <p:cNvPr id="40" name="TextBox 39">
            <a:extLst>
              <a:ext uri="{FF2B5EF4-FFF2-40B4-BE49-F238E27FC236}">
                <a16:creationId xmlns:a16="http://schemas.microsoft.com/office/drawing/2014/main" id="{18007830-658E-4AF1-F9C5-285AA5AC749A}"/>
              </a:ext>
            </a:extLst>
          </p:cNvPr>
          <p:cNvSpPr txBox="1"/>
          <p:nvPr/>
        </p:nvSpPr>
        <p:spPr>
          <a:xfrm>
            <a:off x="779248" y="3796165"/>
            <a:ext cx="1590771" cy="320088"/>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Consumer text</a:t>
            </a:r>
          </a:p>
        </p:txBody>
      </p:sp>
      <p:cxnSp>
        <p:nvCxnSpPr>
          <p:cNvPr id="54" name="!!Straight Arrow Connector 119" descr="Arrow right">
            <a:extLst>
              <a:ext uri="{FF2B5EF4-FFF2-40B4-BE49-F238E27FC236}">
                <a16:creationId xmlns:a16="http://schemas.microsoft.com/office/drawing/2014/main" id="{9483AE46-5309-6DE8-4856-BA51875CA452}"/>
              </a:ext>
            </a:extLst>
          </p:cNvPr>
          <p:cNvCxnSpPr>
            <a:cxnSpLocks/>
          </p:cNvCxnSpPr>
          <p:nvPr/>
        </p:nvCxnSpPr>
        <p:spPr>
          <a:xfrm flipH="1">
            <a:off x="2561002" y="3486492"/>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03519318-856F-003E-F62F-89B7420E9215}"/>
              </a:ext>
              <a:ext uri="{C183D7F6-B498-43B3-948B-1728B52AA6E4}">
                <adec:decorative xmlns:adec="http://schemas.microsoft.com/office/drawing/2017/decorative" val="1"/>
              </a:ext>
            </a:extLst>
          </p:cNvPr>
          <p:cNvSpPr/>
          <p:nvPr/>
        </p:nvSpPr>
        <p:spPr bwMode="auto">
          <a:xfrm>
            <a:off x="2848948"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50" name="Oval 49">
            <a:extLst>
              <a:ext uri="{FF2B5EF4-FFF2-40B4-BE49-F238E27FC236}">
                <a16:creationId xmlns:a16="http://schemas.microsoft.com/office/drawing/2014/main" id="{C00FCF96-0C9E-91F3-2581-8BD7BE1D814E}"/>
              </a:ext>
              <a:ext uri="{C183D7F6-B498-43B3-948B-1728B52AA6E4}">
                <adec:decorative xmlns:adec="http://schemas.microsoft.com/office/drawing/2017/decorative" val="1"/>
              </a:ext>
            </a:extLst>
          </p:cNvPr>
          <p:cNvSpPr/>
          <p:nvPr/>
        </p:nvSpPr>
        <p:spPr bwMode="auto">
          <a:xfrm>
            <a:off x="3613718"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2</a:t>
            </a:r>
          </a:p>
        </p:txBody>
      </p:sp>
      <p:sp>
        <p:nvSpPr>
          <p:cNvPr id="41" name="TextBox 40">
            <a:extLst>
              <a:ext uri="{FF2B5EF4-FFF2-40B4-BE49-F238E27FC236}">
                <a16:creationId xmlns:a16="http://schemas.microsoft.com/office/drawing/2014/main" id="{E5D353B6-7919-98F3-979D-2BDAF63E2DB5}"/>
              </a:ext>
            </a:extLst>
          </p:cNvPr>
          <p:cNvSpPr txBox="1"/>
          <p:nvPr/>
        </p:nvSpPr>
        <p:spPr>
          <a:xfrm>
            <a:off x="2983660"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Prompt</a:t>
            </a:r>
          </a:p>
        </p:txBody>
      </p:sp>
      <p:sp>
        <p:nvSpPr>
          <p:cNvPr id="42" name="TextBox 41">
            <a:extLst>
              <a:ext uri="{FF2B5EF4-FFF2-40B4-BE49-F238E27FC236}">
                <a16:creationId xmlns:a16="http://schemas.microsoft.com/office/drawing/2014/main" id="{ED9031C7-64B7-A1F4-5AA5-CA9B80A250DD}"/>
              </a:ext>
            </a:extLst>
          </p:cNvPr>
          <p:cNvSpPr txBox="1"/>
          <p:nvPr/>
        </p:nvSpPr>
        <p:spPr>
          <a:xfrm>
            <a:off x="3039932" y="3796165"/>
            <a:ext cx="1590771" cy="566309"/>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Instructions + input</a:t>
            </a:r>
          </a:p>
        </p:txBody>
      </p:sp>
      <p:cxnSp>
        <p:nvCxnSpPr>
          <p:cNvPr id="55" name="!!Straight Arrow Connector 119" descr="Arrow right">
            <a:extLst>
              <a:ext uri="{FF2B5EF4-FFF2-40B4-BE49-F238E27FC236}">
                <a16:creationId xmlns:a16="http://schemas.microsoft.com/office/drawing/2014/main" id="{80D459E7-544E-F3E5-581E-7283FECB66E1}"/>
              </a:ext>
            </a:extLst>
          </p:cNvPr>
          <p:cNvCxnSpPr>
            <a:cxnSpLocks/>
          </p:cNvCxnSpPr>
          <p:nvPr/>
        </p:nvCxnSpPr>
        <p:spPr>
          <a:xfrm flipH="1">
            <a:off x="4823556" y="3486492"/>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A0544DEE-AFEF-A96B-1755-ACE6012A2E12}"/>
              </a:ext>
              <a:ext uri="{C183D7F6-B498-43B3-948B-1728B52AA6E4}">
                <adec:decorative xmlns:adec="http://schemas.microsoft.com/office/drawing/2017/decorative" val="1"/>
              </a:ext>
            </a:extLst>
          </p:cNvPr>
          <p:cNvSpPr/>
          <p:nvPr/>
        </p:nvSpPr>
        <p:spPr bwMode="auto">
          <a:xfrm>
            <a:off x="5109632"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51" name="Oval 50">
            <a:extLst>
              <a:ext uri="{FF2B5EF4-FFF2-40B4-BE49-F238E27FC236}">
                <a16:creationId xmlns:a16="http://schemas.microsoft.com/office/drawing/2014/main" id="{90BD235D-9AF9-ABC5-4C91-631B09356744}"/>
              </a:ext>
              <a:ext uri="{C183D7F6-B498-43B3-948B-1728B52AA6E4}">
                <adec:decorative xmlns:adec="http://schemas.microsoft.com/office/drawing/2017/decorative" val="1"/>
              </a:ext>
            </a:extLst>
          </p:cNvPr>
          <p:cNvSpPr/>
          <p:nvPr/>
        </p:nvSpPr>
        <p:spPr bwMode="auto">
          <a:xfrm>
            <a:off x="5874402"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3</a:t>
            </a:r>
          </a:p>
        </p:txBody>
      </p:sp>
      <p:sp>
        <p:nvSpPr>
          <p:cNvPr id="43" name="TextBox 42">
            <a:extLst>
              <a:ext uri="{FF2B5EF4-FFF2-40B4-BE49-F238E27FC236}">
                <a16:creationId xmlns:a16="http://schemas.microsoft.com/office/drawing/2014/main" id="{69869611-83F1-C416-78DF-D172001DB517}"/>
              </a:ext>
            </a:extLst>
          </p:cNvPr>
          <p:cNvSpPr txBox="1"/>
          <p:nvPr/>
        </p:nvSpPr>
        <p:spPr>
          <a:xfrm>
            <a:off x="5244344"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Model</a:t>
            </a:r>
          </a:p>
        </p:txBody>
      </p:sp>
      <p:sp>
        <p:nvSpPr>
          <p:cNvPr id="44" name="TextBox 43">
            <a:extLst>
              <a:ext uri="{FF2B5EF4-FFF2-40B4-BE49-F238E27FC236}">
                <a16:creationId xmlns:a16="http://schemas.microsoft.com/office/drawing/2014/main" id="{543B5D2C-4DB6-AE4F-4A5D-B377C7B88773}"/>
              </a:ext>
            </a:extLst>
          </p:cNvPr>
          <p:cNvSpPr txBox="1"/>
          <p:nvPr/>
        </p:nvSpPr>
        <p:spPr>
          <a:xfrm>
            <a:off x="5300616" y="3796165"/>
            <a:ext cx="1590771" cy="320088"/>
          </a:xfrm>
          <a:prstGeom prst="rect">
            <a:avLst/>
          </a:prstGeom>
          <a:noFill/>
        </p:spPr>
        <p:txBody>
          <a:bodyPr wrap="square" lIns="36576" tIns="36576" rIns="36576" bIns="36576" anchor="t">
            <a:spAutoFit/>
          </a:bodyPr>
          <a:lstStyle/>
          <a:p>
            <a:pPr algn="ctr">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gpt-5.4-mini</a:t>
            </a:r>
          </a:p>
        </p:txBody>
      </p:sp>
      <p:cxnSp>
        <p:nvCxnSpPr>
          <p:cNvPr id="56" name="!!Straight Arrow Connector 119" descr="Arrow right">
            <a:extLst>
              <a:ext uri="{FF2B5EF4-FFF2-40B4-BE49-F238E27FC236}">
                <a16:creationId xmlns:a16="http://schemas.microsoft.com/office/drawing/2014/main" id="{8121CC0B-A0C7-4151-6495-D06079975CA4}"/>
              </a:ext>
            </a:extLst>
          </p:cNvPr>
          <p:cNvCxnSpPr>
            <a:cxnSpLocks/>
          </p:cNvCxnSpPr>
          <p:nvPr/>
        </p:nvCxnSpPr>
        <p:spPr>
          <a:xfrm flipH="1">
            <a:off x="7086110" y="3486492"/>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37" name="Rounded Rectangle 36">
            <a:extLst>
              <a:ext uri="{FF2B5EF4-FFF2-40B4-BE49-F238E27FC236}">
                <a16:creationId xmlns:a16="http://schemas.microsoft.com/office/drawing/2014/main" id="{BD77872E-A305-E852-E14D-6F7BE82D2471}"/>
              </a:ext>
              <a:ext uri="{C183D7F6-B498-43B3-948B-1728B52AA6E4}">
                <adec:decorative xmlns:adec="http://schemas.microsoft.com/office/drawing/2017/decorative" val="1"/>
              </a:ext>
            </a:extLst>
          </p:cNvPr>
          <p:cNvSpPr/>
          <p:nvPr/>
        </p:nvSpPr>
        <p:spPr bwMode="auto">
          <a:xfrm>
            <a:off x="7370316"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52" name="Oval 51">
            <a:extLst>
              <a:ext uri="{FF2B5EF4-FFF2-40B4-BE49-F238E27FC236}">
                <a16:creationId xmlns:a16="http://schemas.microsoft.com/office/drawing/2014/main" id="{D0BDAEBD-ADF0-0A5D-D736-6D84EDDC6625}"/>
              </a:ext>
              <a:ext uri="{C183D7F6-B498-43B3-948B-1728B52AA6E4}">
                <adec:decorative xmlns:adec="http://schemas.microsoft.com/office/drawing/2017/decorative" val="1"/>
              </a:ext>
            </a:extLst>
          </p:cNvPr>
          <p:cNvSpPr/>
          <p:nvPr/>
        </p:nvSpPr>
        <p:spPr bwMode="auto">
          <a:xfrm>
            <a:off x="8135086"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4</a:t>
            </a:r>
          </a:p>
        </p:txBody>
      </p:sp>
      <p:sp>
        <p:nvSpPr>
          <p:cNvPr id="45" name="TextBox 44">
            <a:extLst>
              <a:ext uri="{FF2B5EF4-FFF2-40B4-BE49-F238E27FC236}">
                <a16:creationId xmlns:a16="http://schemas.microsoft.com/office/drawing/2014/main" id="{2E64E1B3-ACDE-1C82-C5D3-DB37BE3EBC91}"/>
              </a:ext>
            </a:extLst>
          </p:cNvPr>
          <p:cNvSpPr txBox="1"/>
          <p:nvPr/>
        </p:nvSpPr>
        <p:spPr>
          <a:xfrm>
            <a:off x="7505028"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Json</a:t>
            </a:r>
          </a:p>
        </p:txBody>
      </p:sp>
      <p:sp>
        <p:nvSpPr>
          <p:cNvPr id="46" name="TextBox 45">
            <a:extLst>
              <a:ext uri="{FF2B5EF4-FFF2-40B4-BE49-F238E27FC236}">
                <a16:creationId xmlns:a16="http://schemas.microsoft.com/office/drawing/2014/main" id="{4B6B024D-819D-7F17-D0FF-581C1547ED82}"/>
              </a:ext>
            </a:extLst>
          </p:cNvPr>
          <p:cNvSpPr txBox="1"/>
          <p:nvPr/>
        </p:nvSpPr>
        <p:spPr>
          <a:xfrm>
            <a:off x="7561300" y="3796165"/>
            <a:ext cx="1590771" cy="566309"/>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Structured result</a:t>
            </a:r>
          </a:p>
        </p:txBody>
      </p:sp>
      <p:cxnSp>
        <p:nvCxnSpPr>
          <p:cNvPr id="57" name="!!Straight Arrow Connector 119" descr="Arrow right">
            <a:extLst>
              <a:ext uri="{FF2B5EF4-FFF2-40B4-BE49-F238E27FC236}">
                <a16:creationId xmlns:a16="http://schemas.microsoft.com/office/drawing/2014/main" id="{4A10FD8C-139B-C299-42CB-24F485681E16}"/>
              </a:ext>
            </a:extLst>
          </p:cNvPr>
          <p:cNvCxnSpPr>
            <a:cxnSpLocks/>
          </p:cNvCxnSpPr>
          <p:nvPr/>
        </p:nvCxnSpPr>
        <p:spPr>
          <a:xfrm flipH="1">
            <a:off x="9348664" y="3486492"/>
            <a:ext cx="182880" cy="0"/>
          </a:xfrm>
          <a:prstGeom prst="straightConnector1">
            <a:avLst/>
          </a:prstGeom>
          <a:ln w="12700" cap="rnd">
            <a:solidFill>
              <a:schemeClr val="tx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27D754B9-E1CD-D7B6-BB27-4F3BE91FA412}"/>
              </a:ext>
              <a:ext uri="{C183D7F6-B498-43B3-948B-1728B52AA6E4}">
                <adec:decorative xmlns:adec="http://schemas.microsoft.com/office/drawing/2017/decorative" val="1"/>
              </a:ext>
            </a:extLst>
          </p:cNvPr>
          <p:cNvSpPr/>
          <p:nvPr/>
        </p:nvSpPr>
        <p:spPr bwMode="auto">
          <a:xfrm>
            <a:off x="9630998" y="2305685"/>
            <a:ext cx="1972738" cy="2246630"/>
          </a:xfrm>
          <a:prstGeom prst="roundRect">
            <a:avLst>
              <a:gd name="adj" fmla="val 1037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err="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53" name="Oval 52">
            <a:extLst>
              <a:ext uri="{FF2B5EF4-FFF2-40B4-BE49-F238E27FC236}">
                <a16:creationId xmlns:a16="http://schemas.microsoft.com/office/drawing/2014/main" id="{BA95BC22-4308-5D4A-9EFF-12AB10A1602F}"/>
              </a:ext>
              <a:ext uri="{C183D7F6-B498-43B3-948B-1728B52AA6E4}">
                <adec:decorative xmlns:adec="http://schemas.microsoft.com/office/drawing/2017/decorative" val="1"/>
              </a:ext>
            </a:extLst>
          </p:cNvPr>
          <p:cNvSpPr/>
          <p:nvPr/>
        </p:nvSpPr>
        <p:spPr bwMode="auto">
          <a:xfrm>
            <a:off x="10395768" y="2662921"/>
            <a:ext cx="443198" cy="443198"/>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8206">
              <a:spcBef>
                <a:spcPts val="1206"/>
              </a:spcBef>
              <a:tabLst>
                <a:tab pos="5666852" algn="l"/>
              </a:tabLst>
            </a:pPr>
            <a:r>
              <a:rPr lang="en-US" b="1" dirty="0">
                <a:ln w="3175">
                  <a:noFill/>
                </a:ln>
                <a:latin typeface="Segoe UI Semibold" panose="020B0502040204020203" pitchFamily="34" charset="0"/>
                <a:cs typeface="Segoe Sans Display Semibold" pitchFamily="2" charset="0"/>
              </a:rPr>
              <a:t>5</a:t>
            </a:r>
          </a:p>
        </p:txBody>
      </p:sp>
      <p:sp>
        <p:nvSpPr>
          <p:cNvPr id="47" name="TextBox 46">
            <a:extLst>
              <a:ext uri="{FF2B5EF4-FFF2-40B4-BE49-F238E27FC236}">
                <a16:creationId xmlns:a16="http://schemas.microsoft.com/office/drawing/2014/main" id="{DB2A35DE-84A2-3EFB-8E10-4D774D1F5BD9}"/>
              </a:ext>
            </a:extLst>
          </p:cNvPr>
          <p:cNvSpPr txBox="1"/>
          <p:nvPr/>
        </p:nvSpPr>
        <p:spPr>
          <a:xfrm>
            <a:off x="9765710" y="3265205"/>
            <a:ext cx="1703314" cy="443198"/>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Route</a:t>
            </a:r>
          </a:p>
        </p:txBody>
      </p:sp>
      <p:sp>
        <p:nvSpPr>
          <p:cNvPr id="48" name="TextBox 47">
            <a:extLst>
              <a:ext uri="{FF2B5EF4-FFF2-40B4-BE49-F238E27FC236}">
                <a16:creationId xmlns:a16="http://schemas.microsoft.com/office/drawing/2014/main" id="{BC68DB23-4451-AB06-7C75-A6060AF49B4F}"/>
              </a:ext>
            </a:extLst>
          </p:cNvPr>
          <p:cNvSpPr txBox="1"/>
          <p:nvPr/>
        </p:nvSpPr>
        <p:spPr>
          <a:xfrm>
            <a:off x="9821982" y="3796165"/>
            <a:ext cx="1590771" cy="566309"/>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Human review / dashboard</a:t>
            </a:r>
          </a:p>
        </p:txBody>
      </p:sp>
      <p:sp>
        <p:nvSpPr>
          <p:cNvPr id="58" name="TextBox 57">
            <a:extLst>
              <a:ext uri="{FF2B5EF4-FFF2-40B4-BE49-F238E27FC236}">
                <a16:creationId xmlns:a16="http://schemas.microsoft.com/office/drawing/2014/main" id="{76906789-0EFC-6D03-09FB-1318898C3ADC}"/>
              </a:ext>
            </a:extLst>
          </p:cNvPr>
          <p:cNvSpPr txBox="1"/>
          <p:nvPr/>
        </p:nvSpPr>
        <p:spPr>
          <a:xfrm>
            <a:off x="1158240" y="4952351"/>
            <a:ext cx="9875520" cy="443198"/>
          </a:xfrm>
          <a:prstGeom prst="rect">
            <a:avLst/>
          </a:prstGeom>
          <a:noFill/>
        </p:spPr>
        <p:txBody>
          <a:bodyPr wrap="square" lIns="36576" tIns="36576" rIns="36576" bIns="36576" anchor="t">
            <a:spAutoFit/>
          </a:bodyPr>
          <a:lstStyle/>
          <a:p>
            <a:pPr algn="ctr"/>
            <a:r>
              <a:rPr lang="en-CA" sz="2400" b="1"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The model identifies signals; your code makes the routing decision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51"/>
                                        </p:tgtEl>
                                        <p:attrNameLst>
                                          <p:attrName>style.visibility</p:attrName>
                                        </p:attrNameLst>
                                      </p:cBhvr>
                                      <p:to>
                                        <p:strVal val="visible"/>
                                      </p:to>
                                    </p:set>
                                    <p:animEffect transition="in" filter="fade">
                                      <p:cBhvr>
                                        <p:cTn id="13" dur="500"/>
                                        <p:tgtEl>
                                          <p:spTgt spid="51"/>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500"/>
                                        <p:tgtEl>
                                          <p:spTgt spid="5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fade">
                                      <p:cBhvr>
                                        <p:cTn id="22" dur="500"/>
                                        <p:tgtEl>
                                          <p:spTgt spid="5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par>
                                <p:cTn id="32" presetID="10" presetClass="entr" presetSubtype="0" fill="hold" grpId="0" nodeType="withEffect">
                                  <p:stCondLst>
                                    <p:cond delay="10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par>
                                <p:cTn id="35" presetID="10" presetClass="entr" presetSubtype="0" fill="hold" grpId="0" nodeType="withEffect">
                                  <p:stCondLst>
                                    <p:cond delay="20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200"/>
                                  </p:stCondLst>
                                  <p:childTnLst>
                                    <p:set>
                                      <p:cBhvr>
                                        <p:cTn id="39" dur="1" fill="hold">
                                          <p:stCondLst>
                                            <p:cond delay="0"/>
                                          </p:stCondLst>
                                        </p:cTn>
                                        <p:tgtEl>
                                          <p:spTgt spid="41"/>
                                        </p:tgtEl>
                                        <p:attrNameLst>
                                          <p:attrName>style.visibility</p:attrName>
                                        </p:attrNameLst>
                                      </p:cBhvr>
                                      <p:to>
                                        <p:strVal val="visible"/>
                                      </p:to>
                                    </p:set>
                                    <p:animEffect transition="in" filter="fade">
                                      <p:cBhvr>
                                        <p:cTn id="40" dur="500"/>
                                        <p:tgtEl>
                                          <p:spTgt spid="41"/>
                                        </p:tgtEl>
                                      </p:cBhvr>
                                    </p:animEffect>
                                  </p:childTnLst>
                                </p:cTn>
                              </p:par>
                              <p:par>
                                <p:cTn id="41" presetID="10" presetClass="entr" presetSubtype="0" fill="hold" grpId="0" nodeType="withEffect">
                                  <p:stCondLst>
                                    <p:cond delay="20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par>
                                <p:cTn id="44" presetID="10" presetClass="entr" presetSubtype="0" fill="hold" grpId="0" nodeType="withEffect">
                                  <p:stCondLst>
                                    <p:cond delay="30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par>
                                <p:cTn id="47" presetID="10" presetClass="entr" presetSubtype="0" fill="hold" grpId="0" nodeType="withEffect">
                                  <p:stCondLst>
                                    <p:cond delay="30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childTnLst>
                                </p:cTn>
                              </p:par>
                              <p:par>
                                <p:cTn id="53" presetID="10" presetClass="entr" presetSubtype="0" fill="hold" grpId="0" nodeType="withEffect">
                                  <p:stCondLst>
                                    <p:cond delay="40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500"/>
                                        <p:tgtEl>
                                          <p:spTgt spid="37"/>
                                        </p:tgtEl>
                                      </p:cBhvr>
                                    </p:animEffect>
                                  </p:childTnLst>
                                </p:cTn>
                              </p:par>
                              <p:par>
                                <p:cTn id="56" presetID="10" presetClass="entr" presetSubtype="0" fill="hold" grpId="0" nodeType="withEffect">
                                  <p:stCondLst>
                                    <p:cond delay="40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par>
                                <p:cTn id="59" presetID="10" presetClass="entr" presetSubtype="0" fill="hold" grpId="0" nodeType="withEffect">
                                  <p:stCondLst>
                                    <p:cond delay="40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500"/>
                                        <p:tgtEl>
                                          <p:spTgt spid="38"/>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500"/>
                                        <p:tgtEl>
                                          <p:spTgt spid="47"/>
                                        </p:tgtEl>
                                      </p:cBhvr>
                                    </p:animEffect>
                                  </p:childTnLst>
                                </p:cTn>
                              </p:par>
                              <p:par>
                                <p:cTn id="68" presetID="10" presetClass="entr" presetSubtype="0" fill="hold" grpId="0" nodeType="withEffect">
                                  <p:stCondLst>
                                    <p:cond delay="50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500"/>
                                        <p:tgtEl>
                                          <p:spTgt spid="48"/>
                                        </p:tgtEl>
                                      </p:cBhvr>
                                    </p:animEffect>
                                  </p:childTnLst>
                                </p:cTn>
                              </p:par>
                              <p:par>
                                <p:cTn id="71" presetID="10" presetClass="entr" presetSubtype="0" fill="hold" grpId="0" nodeType="withEffect">
                                  <p:stCondLst>
                                    <p:cond delay="600"/>
                                  </p:stCondLst>
                                  <p:childTnLst>
                                    <p:set>
                                      <p:cBhvr>
                                        <p:cTn id="72" dur="1" fill="hold">
                                          <p:stCondLst>
                                            <p:cond delay="0"/>
                                          </p:stCondLst>
                                        </p:cTn>
                                        <p:tgtEl>
                                          <p:spTgt spid="58"/>
                                        </p:tgtEl>
                                        <p:attrNameLst>
                                          <p:attrName>style.visibility</p:attrName>
                                        </p:attrNameLst>
                                      </p:cBhvr>
                                      <p:to>
                                        <p:strVal val="visible"/>
                                      </p:to>
                                    </p:set>
                                    <p:animEffect transition="in" filter="fade">
                                      <p:cBhvr>
                                        <p:cTn id="73" dur="500"/>
                                        <p:tgtEl>
                                          <p:spTgt spid="58"/>
                                        </p:tgtEl>
                                      </p:cBhvr>
                                    </p:animEffect>
                                  </p:childTnLst>
                                </p:cTn>
                              </p:par>
                              <p:par>
                                <p:cTn id="74" presetID="10" presetClass="entr" presetSubtype="0" fill="hold" nodeType="withEffect">
                                  <p:stCondLst>
                                    <p:cond delay="200"/>
                                  </p:stCondLst>
                                  <p:childTnLst>
                                    <p:set>
                                      <p:cBhvr>
                                        <p:cTn id="75" dur="1" fill="hold">
                                          <p:stCondLst>
                                            <p:cond delay="0"/>
                                          </p:stCondLst>
                                        </p:cTn>
                                        <p:tgtEl>
                                          <p:spTgt spid="54"/>
                                        </p:tgtEl>
                                        <p:attrNameLst>
                                          <p:attrName>style.visibility</p:attrName>
                                        </p:attrNameLst>
                                      </p:cBhvr>
                                      <p:to>
                                        <p:strVal val="visible"/>
                                      </p:to>
                                    </p:set>
                                    <p:animEffect transition="in" filter="fade">
                                      <p:cBhvr>
                                        <p:cTn id="76" dur="500"/>
                                        <p:tgtEl>
                                          <p:spTgt spid="54"/>
                                        </p:tgtEl>
                                      </p:cBhvr>
                                    </p:animEffect>
                                  </p:childTnLst>
                                </p:cTn>
                              </p:par>
                              <p:par>
                                <p:cTn id="77" presetID="10" presetClass="entr" presetSubtype="0" fill="hold" nodeType="withEffect">
                                  <p:stCondLst>
                                    <p:cond delay="30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500"/>
                                        <p:tgtEl>
                                          <p:spTgt spid="55"/>
                                        </p:tgtEl>
                                      </p:cBhvr>
                                    </p:animEffect>
                                  </p:childTnLst>
                                </p:cTn>
                              </p:par>
                              <p:par>
                                <p:cTn id="80" presetID="10" presetClass="entr" presetSubtype="0" fill="hold" nodeType="withEffect">
                                  <p:stCondLst>
                                    <p:cond delay="40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500"/>
                                        <p:tgtEl>
                                          <p:spTgt spid="56"/>
                                        </p:tgtEl>
                                      </p:cBhvr>
                                    </p:animEffect>
                                  </p:childTnLst>
                                </p:cTn>
                              </p:par>
                              <p:par>
                                <p:cTn id="83" presetID="10" presetClass="entr" presetSubtype="0" fill="hold" nodeType="withEffect">
                                  <p:stCondLst>
                                    <p:cond delay="50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9" grpId="0"/>
      <p:bldP spid="6" grpId="0" animBg="1"/>
      <p:bldP spid="49" grpId="0" animBg="1"/>
      <p:bldP spid="39" grpId="0"/>
      <p:bldP spid="40" grpId="0"/>
      <p:bldP spid="35" grpId="0" animBg="1"/>
      <p:bldP spid="50" grpId="0" animBg="1"/>
      <p:bldP spid="41" grpId="0"/>
      <p:bldP spid="42" grpId="0"/>
      <p:bldP spid="36" grpId="0" animBg="1"/>
      <p:bldP spid="51" grpId="0" animBg="1"/>
      <p:bldP spid="43" grpId="0"/>
      <p:bldP spid="44" grpId="0"/>
      <p:bldP spid="37" grpId="0" animBg="1"/>
      <p:bldP spid="52" grpId="0" animBg="1"/>
      <p:bldP spid="45" grpId="0"/>
      <p:bldP spid="46" grpId="0"/>
      <p:bldP spid="38" grpId="0" animBg="1"/>
      <p:bldP spid="53" grpId="0" animBg="1"/>
      <p:bldP spid="47" grpId="0"/>
      <p:bldP spid="48" grpId="0"/>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3168E-1100-4E47-7152-194203238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61FD6-FB13-68CA-25C3-D97A2001F0E6}"/>
              </a:ext>
            </a:extLst>
          </p:cNvPr>
          <p:cNvSpPr>
            <a:spLocks noGrp="1"/>
          </p:cNvSpPr>
          <p:nvPr>
            <p:ph type="title"/>
          </p:nvPr>
        </p:nvSpPr>
        <p:spPr>
          <a:xfrm>
            <a:off x="559838" y="1770928"/>
            <a:ext cx="3464877" cy="1231106"/>
          </a:xfrm>
        </p:spPr>
        <p:txBody>
          <a:bodyPr/>
          <a:lstStyle/>
          <a:p>
            <a:r>
              <a:rPr lang="en-CA" sz="4000" dirty="0"/>
              <a:t>How the live session works</a:t>
            </a:r>
          </a:p>
        </p:txBody>
      </p:sp>
      <p:sp>
        <p:nvSpPr>
          <p:cNvPr id="3" name="TextBox 2">
            <a:extLst>
              <a:ext uri="{FF2B5EF4-FFF2-40B4-BE49-F238E27FC236}">
                <a16:creationId xmlns:a16="http://schemas.microsoft.com/office/drawing/2014/main" id="{ABD5693B-CC72-2259-806E-A6150C1549E8}"/>
              </a:ext>
            </a:extLst>
          </p:cNvPr>
          <p:cNvSpPr txBox="1"/>
          <p:nvPr/>
        </p:nvSpPr>
        <p:spPr>
          <a:xfrm>
            <a:off x="559838" y="3241444"/>
            <a:ext cx="4286482" cy="689420"/>
          </a:xfrm>
          <a:prstGeom prst="rect">
            <a:avLst/>
          </a:prstGeom>
          <a:noFill/>
        </p:spPr>
        <p:txBody>
          <a:bodyPr wrap="square" lIns="0" tIns="36576" rIns="36576" bIns="36576" anchor="t">
            <a:spAutoFit/>
          </a:bodyPr>
          <a:lstStyle/>
          <a:p>
            <a:pPr algn="l"/>
            <a:r>
              <a:rPr sz="2000" b="1"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Follow the instructor, pause at</a:t>
            </a:r>
            <a:r>
              <a:rPr lang="en-CA" sz="2000" b="1"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 </a:t>
            </a:r>
            <a:r>
              <a:rPr sz="2000" b="1"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checkpoints, ask proctors early</a:t>
            </a:r>
          </a:p>
        </p:txBody>
      </p:sp>
      <p:cxnSp>
        <p:nvCxnSpPr>
          <p:cNvPr id="6" name="Straight Connector 5">
            <a:extLst>
              <a:ext uri="{FF2B5EF4-FFF2-40B4-BE49-F238E27FC236}">
                <a16:creationId xmlns:a16="http://schemas.microsoft.com/office/drawing/2014/main" id="{AC5A6D78-C70F-2768-DAD3-9E9FDE36058D}"/>
              </a:ext>
              <a:ext uri="{C183D7F6-B498-43B3-948B-1728B52AA6E4}">
                <adec:decorative xmlns:adec="http://schemas.microsoft.com/office/drawing/2017/decorative" val="1"/>
              </a:ext>
            </a:extLst>
          </p:cNvPr>
          <p:cNvCxnSpPr>
            <a:cxnSpLocks/>
          </p:cNvCxnSpPr>
          <p:nvPr/>
        </p:nvCxnSpPr>
        <p:spPr>
          <a:xfrm>
            <a:off x="559838" y="4155932"/>
            <a:ext cx="3672840" cy="0"/>
          </a:xfrm>
          <a:prstGeom prst="line">
            <a:avLst/>
          </a:prstGeom>
          <a:ln w="12700" cap="rnd">
            <a:solidFill>
              <a:schemeClr val="tx1">
                <a:alpha val="4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0B9DCE2-3409-B7EA-E88F-F14A4CF12E56}"/>
              </a:ext>
            </a:extLst>
          </p:cNvPr>
          <p:cNvSpPr txBox="1"/>
          <p:nvPr/>
        </p:nvSpPr>
        <p:spPr>
          <a:xfrm>
            <a:off x="559838" y="4325868"/>
            <a:ext cx="3672840" cy="566309"/>
          </a:xfrm>
          <a:prstGeom prst="rect">
            <a:avLst/>
          </a:prstGeom>
          <a:noFill/>
        </p:spPr>
        <p:txBody>
          <a:bodyPr wrap="square" lIns="0" tIns="36576" rIns="36576" bIns="36576" anchor="t">
            <a:spAutoFit/>
          </a:bodyPr>
          <a:lstStyle/>
          <a:p>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Never paste passwords, access tokens, or .env values into chat or source code</a:t>
            </a:r>
          </a:p>
        </p:txBody>
      </p:sp>
      <p:sp>
        <p:nvSpPr>
          <p:cNvPr id="4" name="Oval 3">
            <a:extLst>
              <a:ext uri="{FF2B5EF4-FFF2-40B4-BE49-F238E27FC236}">
                <a16:creationId xmlns:a16="http://schemas.microsoft.com/office/drawing/2014/main" id="{A146DB3B-B63A-E8CB-0823-36CF22B32941}"/>
              </a:ext>
              <a:ext uri="{C183D7F6-B498-43B3-948B-1728B52AA6E4}">
                <adec:decorative xmlns:adec="http://schemas.microsoft.com/office/drawing/2017/decorative" val="1"/>
              </a:ext>
            </a:extLst>
          </p:cNvPr>
          <p:cNvSpPr/>
          <p:nvPr/>
        </p:nvSpPr>
        <p:spPr bwMode="auto">
          <a:xfrm>
            <a:off x="5483101" y="1400168"/>
            <a:ext cx="741520" cy="74152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27" name="Oval 26">
            <a:extLst>
              <a:ext uri="{FF2B5EF4-FFF2-40B4-BE49-F238E27FC236}">
                <a16:creationId xmlns:a16="http://schemas.microsoft.com/office/drawing/2014/main" id="{85363439-1220-BC6E-FF7D-C96C39E4B30E}"/>
              </a:ext>
              <a:ext uri="{C183D7F6-B498-43B3-948B-1728B52AA6E4}">
                <adec:decorative xmlns:adec="http://schemas.microsoft.com/office/drawing/2017/decorative" val="1"/>
              </a:ext>
            </a:extLst>
          </p:cNvPr>
          <p:cNvSpPr/>
          <p:nvPr/>
        </p:nvSpPr>
        <p:spPr bwMode="auto">
          <a:xfrm>
            <a:off x="5483101" y="3066233"/>
            <a:ext cx="741520" cy="74152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29" name="Oval 28">
            <a:extLst>
              <a:ext uri="{FF2B5EF4-FFF2-40B4-BE49-F238E27FC236}">
                <a16:creationId xmlns:a16="http://schemas.microsoft.com/office/drawing/2014/main" id="{5CFC915F-591A-0560-FE00-F63F5A279179}"/>
              </a:ext>
              <a:ext uri="{C183D7F6-B498-43B3-948B-1728B52AA6E4}">
                <adec:decorative xmlns:adec="http://schemas.microsoft.com/office/drawing/2017/decorative" val="1"/>
              </a:ext>
            </a:extLst>
          </p:cNvPr>
          <p:cNvSpPr/>
          <p:nvPr/>
        </p:nvSpPr>
        <p:spPr bwMode="auto">
          <a:xfrm>
            <a:off x="5483101" y="4716313"/>
            <a:ext cx="741520" cy="741520"/>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Semibold" panose="020B0502040204020203" pitchFamily="34" charset="0"/>
              <a:ea typeface="+mn-ea"/>
              <a:cs typeface="Segoe Sans Display Semibold" pitchFamily="2" charset="0"/>
            </a:endParaRPr>
          </a:p>
        </p:txBody>
      </p:sp>
      <p:sp>
        <p:nvSpPr>
          <p:cNvPr id="31" name="TextBox 30">
            <a:extLst>
              <a:ext uri="{FF2B5EF4-FFF2-40B4-BE49-F238E27FC236}">
                <a16:creationId xmlns:a16="http://schemas.microsoft.com/office/drawing/2014/main" id="{43C2B963-B94B-DAF5-105B-6361B1EE8C14}"/>
              </a:ext>
            </a:extLst>
          </p:cNvPr>
          <p:cNvSpPr txBox="1"/>
          <p:nvPr/>
        </p:nvSpPr>
        <p:spPr>
          <a:xfrm>
            <a:off x="6557244" y="1325394"/>
            <a:ext cx="4884446" cy="92589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CA" b="1" dirty="0">
                <a:ln w="3175">
                  <a:noFill/>
                </a:ln>
                <a:solidFill>
                  <a:srgbClr val="000000"/>
                </a:solidFill>
                <a:latin typeface="Segoe UI Semibold" panose="020B0502040204020203" pitchFamily="34" charset="0"/>
                <a:cs typeface="Segoe UI" pitchFamily="34" charset="0"/>
              </a:rPr>
              <a:t>Follow</a:t>
            </a:r>
          </a:p>
          <a:p>
            <a:pPr lvl="0" defTabSz="457200">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Keep the </a:t>
            </a:r>
            <a:r>
              <a:rPr lang="en-CA" sz="1600" b="1" dirty="0" err="1">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Skillable</a:t>
            </a: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 instructions and VS Code visible. Enter commands exactly where shown</a:t>
            </a:r>
          </a:p>
        </p:txBody>
      </p:sp>
      <p:sp>
        <p:nvSpPr>
          <p:cNvPr id="32" name="TextBox 31">
            <a:extLst>
              <a:ext uri="{FF2B5EF4-FFF2-40B4-BE49-F238E27FC236}">
                <a16:creationId xmlns:a16="http://schemas.microsoft.com/office/drawing/2014/main" id="{FBE1B3AF-BFFE-CA8A-92BD-3C886E1AF53E}"/>
              </a:ext>
            </a:extLst>
          </p:cNvPr>
          <p:cNvSpPr txBox="1"/>
          <p:nvPr/>
        </p:nvSpPr>
        <p:spPr>
          <a:xfrm>
            <a:off x="6557243" y="2850934"/>
            <a:ext cx="4232677" cy="117211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CA" b="1" dirty="0">
                <a:ln w="3175">
                  <a:noFill/>
                </a:ln>
                <a:solidFill>
                  <a:srgbClr val="000000"/>
                </a:solidFill>
                <a:latin typeface="Segoe UI Semibold" panose="020B0502040204020203" pitchFamily="34" charset="0"/>
                <a:cs typeface="Segoe UI" pitchFamily="34" charset="0"/>
              </a:rPr>
              <a:t>Check</a:t>
            </a:r>
          </a:p>
          <a:p>
            <a:pPr lvl="0" defTabSz="457200">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Stop at each checkpoint: validator PASS, inference output, valid JSON, local agent response, hosted status active</a:t>
            </a:r>
          </a:p>
        </p:txBody>
      </p:sp>
      <p:sp>
        <p:nvSpPr>
          <p:cNvPr id="33" name="TextBox 32">
            <a:extLst>
              <a:ext uri="{FF2B5EF4-FFF2-40B4-BE49-F238E27FC236}">
                <a16:creationId xmlns:a16="http://schemas.microsoft.com/office/drawing/2014/main" id="{85A50BA4-F578-EEE9-8F24-3F5573D0FC5D}"/>
              </a:ext>
            </a:extLst>
          </p:cNvPr>
          <p:cNvSpPr txBox="1"/>
          <p:nvPr/>
        </p:nvSpPr>
        <p:spPr>
          <a:xfrm>
            <a:off x="6557243" y="4501015"/>
            <a:ext cx="4131077" cy="117211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CA" b="1" dirty="0">
                <a:ln w="3175">
                  <a:noFill/>
                </a:ln>
                <a:solidFill>
                  <a:srgbClr val="000000"/>
                </a:solidFill>
                <a:latin typeface="Segoe UI Semibold" panose="020B0502040204020203" pitchFamily="34" charset="0"/>
                <a:cs typeface="Segoe UI" pitchFamily="34" charset="0"/>
              </a:rPr>
              <a:t>Ask</a:t>
            </a:r>
          </a:p>
          <a:p>
            <a:pPr lvl="0" defTabSz="457200">
              <a:spcBef>
                <a:spcPts val="500"/>
              </a:spcBef>
            </a:pP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Raise your hand as soon as an error differs from the instructor’s screen. Share the error text, not credentials</a:t>
            </a:r>
          </a:p>
        </p:txBody>
      </p:sp>
      <p:pic>
        <p:nvPicPr>
          <p:cNvPr id="11" name="Graphic 10">
            <a:extLst>
              <a:ext uri="{FF2B5EF4-FFF2-40B4-BE49-F238E27FC236}">
                <a16:creationId xmlns:a16="http://schemas.microsoft.com/office/drawing/2014/main" id="{75340C87-771F-4F06-8AF2-C073CF9B7D9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8965" y="1576032"/>
            <a:ext cx="389792" cy="389792"/>
          </a:xfrm>
          <a:prstGeom prst="rect">
            <a:avLst/>
          </a:prstGeom>
        </p:spPr>
      </p:pic>
      <p:pic>
        <p:nvPicPr>
          <p:cNvPr id="13" name="Graphic 12">
            <a:extLst>
              <a:ext uri="{FF2B5EF4-FFF2-40B4-BE49-F238E27FC236}">
                <a16:creationId xmlns:a16="http://schemas.microsoft.com/office/drawing/2014/main" id="{3E45D60F-E838-A50C-4DF9-5D2FA8C062F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58965" y="3242097"/>
            <a:ext cx="389792" cy="389792"/>
          </a:xfrm>
          <a:prstGeom prst="rect">
            <a:avLst/>
          </a:prstGeom>
        </p:spPr>
      </p:pic>
      <p:pic>
        <p:nvPicPr>
          <p:cNvPr id="15" name="Graphic 14">
            <a:extLst>
              <a:ext uri="{FF2B5EF4-FFF2-40B4-BE49-F238E27FC236}">
                <a16:creationId xmlns:a16="http://schemas.microsoft.com/office/drawing/2014/main" id="{45D95F62-3F1D-D994-FBF9-5DD31BF0FC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58965" y="4892177"/>
            <a:ext cx="389792" cy="389792"/>
          </a:xfrm>
          <a:prstGeom prst="rect">
            <a:avLst/>
          </a:prstGeom>
        </p:spPr>
      </p:pic>
    </p:spTree>
    <p:extLst>
      <p:ext uri="{BB962C8B-B14F-4D97-AF65-F5344CB8AC3E}">
        <p14:creationId xmlns:p14="http://schemas.microsoft.com/office/powerpoint/2010/main" val="3033634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par>
                                <p:cTn id="35" presetID="10" presetClass="entr" presetSubtype="0" fill="hold" nodeType="withEffect">
                                  <p:stCondLst>
                                    <p:cond delay="1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nodeType="withEffect">
                                  <p:stCondLst>
                                    <p:cond delay="2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3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4" grpId="0" animBg="1"/>
      <p:bldP spid="27" grpId="0" animBg="1"/>
      <p:bldP spid="29" grpId="0" animBg="1"/>
      <p:bldP spid="31" grpId="0"/>
      <p:bldP spid="32"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9DAA1-8FA2-E707-6453-25651011B974}"/>
              </a:ext>
            </a:extLst>
          </p:cNvPr>
          <p:cNvSpPr>
            <a:spLocks noGrp="1"/>
          </p:cNvSpPr>
          <p:nvPr>
            <p:ph type="title"/>
          </p:nvPr>
        </p:nvSpPr>
        <p:spPr>
          <a:xfrm>
            <a:off x="588169" y="452005"/>
            <a:ext cx="11017250" cy="554038"/>
          </a:xfrm>
        </p:spPr>
        <p:txBody>
          <a:bodyPr/>
          <a:lstStyle/>
          <a:p>
            <a:pPr algn="ctr"/>
            <a:r>
              <a:rPr lang="en-CA" dirty="0"/>
              <a:t>Responsible routing by design</a:t>
            </a:r>
            <a:endParaRPr lang="en-US" dirty="0"/>
          </a:p>
        </p:txBody>
      </p:sp>
      <p:sp>
        <p:nvSpPr>
          <p:cNvPr id="4" name="TextBox 3">
            <a:extLst>
              <a:ext uri="{FF2B5EF4-FFF2-40B4-BE49-F238E27FC236}">
                <a16:creationId xmlns:a16="http://schemas.microsoft.com/office/drawing/2014/main" id="{F849552B-85C6-8256-2BF7-C0987EBE2617}"/>
              </a:ext>
            </a:extLst>
          </p:cNvPr>
          <p:cNvSpPr txBox="1"/>
          <p:nvPr/>
        </p:nvSpPr>
        <p:spPr>
          <a:xfrm>
            <a:off x="656114" y="1047929"/>
            <a:ext cx="10881360" cy="381643"/>
          </a:xfrm>
          <a:prstGeom prst="rect">
            <a:avLst/>
          </a:prstGeom>
          <a:noFill/>
        </p:spPr>
        <p:txBody>
          <a:bodyPr wrap="square" lIns="36576" tIns="36576" rIns="36576" bIns="36576" anchor="t">
            <a:spAutoFit/>
          </a:bodyPr>
          <a:lstStyle/>
          <a:p>
            <a:pPr algn="ctr"/>
            <a:r>
              <a:rPr lang="en-CA" sz="2000" kern="0" dirty="0">
                <a:gradFill>
                  <a:gsLst>
                    <a:gs pos="32110">
                      <a:schemeClr val="tx1"/>
                    </a:gs>
                    <a:gs pos="72000">
                      <a:schemeClr val="tx1"/>
                    </a:gs>
                  </a:gsLst>
                  <a:lin ang="2700000" scaled="1"/>
                </a:gradFill>
                <a:latin typeface="Segoe UI Semibold" panose="020B0502040204020203" pitchFamily="34" charset="0"/>
              </a:rPr>
              <a:t>Regulated signals always go to a human reviewer</a:t>
            </a:r>
          </a:p>
        </p:txBody>
      </p:sp>
      <p:sp>
        <p:nvSpPr>
          <p:cNvPr id="6" name="Rounded Rectangle 5">
            <a:extLst>
              <a:ext uri="{FF2B5EF4-FFF2-40B4-BE49-F238E27FC236}">
                <a16:creationId xmlns:a16="http://schemas.microsoft.com/office/drawing/2014/main" id="{DE5DAF62-E273-35DF-2585-1F95048562B1}"/>
              </a:ext>
              <a:ext uri="{C183D7F6-B498-43B3-948B-1728B52AA6E4}">
                <adec:decorative xmlns:adec="http://schemas.microsoft.com/office/drawing/2017/decorative" val="1"/>
              </a:ext>
            </a:extLst>
          </p:cNvPr>
          <p:cNvSpPr/>
          <p:nvPr/>
        </p:nvSpPr>
        <p:spPr bwMode="auto">
          <a:xfrm>
            <a:off x="656114" y="1803748"/>
            <a:ext cx="3558285" cy="3469052"/>
          </a:xfrm>
          <a:prstGeom prst="roundRect">
            <a:avLst>
              <a:gd name="adj" fmla="val 930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38" name="Oval 37">
            <a:extLst>
              <a:ext uri="{FF2B5EF4-FFF2-40B4-BE49-F238E27FC236}">
                <a16:creationId xmlns:a16="http://schemas.microsoft.com/office/drawing/2014/main" id="{864B0C9E-F7BF-C642-9703-1636B1B70C62}"/>
              </a:ext>
              <a:ext uri="{C183D7F6-B498-43B3-948B-1728B52AA6E4}">
                <adec:decorative xmlns:adec="http://schemas.microsoft.com/office/drawing/2017/decorative" val="1"/>
              </a:ext>
            </a:extLst>
          </p:cNvPr>
          <p:cNvSpPr/>
          <p:nvPr/>
        </p:nvSpPr>
        <p:spPr bwMode="auto">
          <a:xfrm>
            <a:off x="1986174" y="2161928"/>
            <a:ext cx="754336" cy="754336"/>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algn="ctr" defTabSz="3448206">
              <a:spcBef>
                <a:spcPts val="1206"/>
              </a:spcBef>
              <a:tabLst>
                <a:tab pos="5666852" algn="l"/>
              </a:tabLst>
            </a:pPr>
            <a:endParaRPr lang="en-US" sz="5143" b="1">
              <a:ln w="3175">
                <a:noFill/>
              </a:ln>
              <a:gradFill flip="none" rotWithShape="1">
                <a:gsLst>
                  <a:gs pos="20183">
                    <a:srgbClr val="FFFFFF"/>
                  </a:gs>
                  <a:gs pos="42000">
                    <a:srgbClr val="FFFFFF"/>
                  </a:gs>
                </a:gsLst>
                <a:lin ang="2700000" scaled="0"/>
                <a:tileRect/>
              </a:gradFill>
              <a:latin typeface="Segoe UI Semibold" panose="020B0502040204020203" pitchFamily="34" charset="0"/>
              <a:cs typeface="Segoe Sans Display Semibold" pitchFamily="2" charset="0"/>
            </a:endParaRPr>
          </a:p>
        </p:txBody>
      </p:sp>
      <p:pic>
        <p:nvPicPr>
          <p:cNvPr id="41" name="Graphic 40">
            <a:extLst>
              <a:ext uri="{FF2B5EF4-FFF2-40B4-BE49-F238E27FC236}">
                <a16:creationId xmlns:a16="http://schemas.microsoft.com/office/drawing/2014/main" id="{768DF19D-62EF-DCB1-8D74-3CABD666ADF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68702" y="2344457"/>
            <a:ext cx="389280" cy="389278"/>
          </a:xfrm>
          <a:prstGeom prst="rect">
            <a:avLst/>
          </a:prstGeom>
        </p:spPr>
      </p:pic>
      <p:sp>
        <p:nvSpPr>
          <p:cNvPr id="25" name="TextBox 24">
            <a:extLst>
              <a:ext uri="{FF2B5EF4-FFF2-40B4-BE49-F238E27FC236}">
                <a16:creationId xmlns:a16="http://schemas.microsoft.com/office/drawing/2014/main" id="{2888B649-FB49-975E-766C-D80AE7AAEDDD}"/>
              </a:ext>
            </a:extLst>
          </p:cNvPr>
          <p:cNvSpPr txBox="1"/>
          <p:nvPr/>
        </p:nvSpPr>
        <p:spPr>
          <a:xfrm>
            <a:off x="758941" y="3149029"/>
            <a:ext cx="3208803" cy="812530"/>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Potential adverse event</a:t>
            </a:r>
          </a:p>
        </p:txBody>
      </p:sp>
      <p:sp>
        <p:nvSpPr>
          <p:cNvPr id="26" name="TextBox 25">
            <a:extLst>
              <a:ext uri="{FF2B5EF4-FFF2-40B4-BE49-F238E27FC236}">
                <a16:creationId xmlns:a16="http://schemas.microsoft.com/office/drawing/2014/main" id="{8881D346-AB63-1E2B-1FF6-B6366399AA1D}"/>
              </a:ext>
            </a:extLst>
          </p:cNvPr>
          <p:cNvSpPr txBox="1"/>
          <p:nvPr/>
        </p:nvSpPr>
        <p:spPr>
          <a:xfrm>
            <a:off x="1023309" y="4028780"/>
            <a:ext cx="2680066" cy="812530"/>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A reported symptom or unwanted experience after product use</a:t>
            </a:r>
          </a:p>
        </p:txBody>
      </p:sp>
      <p:sp>
        <p:nvSpPr>
          <p:cNvPr id="23" name="Rounded Rectangle 22">
            <a:extLst>
              <a:ext uri="{FF2B5EF4-FFF2-40B4-BE49-F238E27FC236}">
                <a16:creationId xmlns:a16="http://schemas.microsoft.com/office/drawing/2014/main" id="{B2B1892D-4716-29EC-35B1-8ED538CA6CE2}"/>
              </a:ext>
              <a:ext uri="{C183D7F6-B498-43B3-948B-1728B52AA6E4}">
                <adec:decorative xmlns:adec="http://schemas.microsoft.com/office/drawing/2017/decorative" val="1"/>
              </a:ext>
            </a:extLst>
          </p:cNvPr>
          <p:cNvSpPr/>
          <p:nvPr/>
        </p:nvSpPr>
        <p:spPr bwMode="auto">
          <a:xfrm>
            <a:off x="4385597" y="1803748"/>
            <a:ext cx="3558285" cy="3469052"/>
          </a:xfrm>
          <a:prstGeom prst="roundRect">
            <a:avLst>
              <a:gd name="adj" fmla="val 930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35" name="Oval 34">
            <a:extLst>
              <a:ext uri="{FF2B5EF4-FFF2-40B4-BE49-F238E27FC236}">
                <a16:creationId xmlns:a16="http://schemas.microsoft.com/office/drawing/2014/main" id="{058F91F4-9C6B-016F-C409-83B47A5E7AD0}"/>
              </a:ext>
              <a:ext uri="{C183D7F6-B498-43B3-948B-1728B52AA6E4}">
                <adec:decorative xmlns:adec="http://schemas.microsoft.com/office/drawing/2017/decorative" val="1"/>
              </a:ext>
            </a:extLst>
          </p:cNvPr>
          <p:cNvSpPr/>
          <p:nvPr/>
        </p:nvSpPr>
        <p:spPr bwMode="auto">
          <a:xfrm>
            <a:off x="5715657" y="2161928"/>
            <a:ext cx="754336" cy="754336"/>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algn="ctr" defTabSz="3448206">
              <a:spcBef>
                <a:spcPts val="1206"/>
              </a:spcBef>
              <a:tabLst>
                <a:tab pos="5666852" algn="l"/>
              </a:tabLst>
            </a:pPr>
            <a:endParaRPr lang="en-US" sz="5143" b="1">
              <a:ln w="3175">
                <a:noFill/>
              </a:ln>
              <a:gradFill flip="none" rotWithShape="1">
                <a:gsLst>
                  <a:gs pos="20183">
                    <a:srgbClr val="FFFFFF"/>
                  </a:gs>
                  <a:gs pos="42000">
                    <a:srgbClr val="FFFFFF"/>
                  </a:gs>
                </a:gsLst>
                <a:lin ang="2700000" scaled="0"/>
                <a:tileRect/>
              </a:gradFill>
              <a:latin typeface="Segoe UI Semibold" panose="020B0502040204020203" pitchFamily="34" charset="0"/>
              <a:cs typeface="Segoe Sans Display Semibold" pitchFamily="2" charset="0"/>
            </a:endParaRPr>
          </a:p>
        </p:txBody>
      </p:sp>
      <p:pic>
        <p:nvPicPr>
          <p:cNvPr id="45" name="Graphic 44">
            <a:extLst>
              <a:ext uri="{FF2B5EF4-FFF2-40B4-BE49-F238E27FC236}">
                <a16:creationId xmlns:a16="http://schemas.microsoft.com/office/drawing/2014/main" id="{508C65EF-186A-45D4-F30A-F6545B7B1AA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98185" y="2344457"/>
            <a:ext cx="389280" cy="389278"/>
          </a:xfrm>
          <a:prstGeom prst="rect">
            <a:avLst/>
          </a:prstGeom>
        </p:spPr>
      </p:pic>
      <p:sp>
        <p:nvSpPr>
          <p:cNvPr id="27" name="TextBox 26">
            <a:extLst>
              <a:ext uri="{FF2B5EF4-FFF2-40B4-BE49-F238E27FC236}">
                <a16:creationId xmlns:a16="http://schemas.microsoft.com/office/drawing/2014/main" id="{A3C7F7A2-E284-B3A2-640A-7B0CC2FD0B90}"/>
              </a:ext>
            </a:extLst>
          </p:cNvPr>
          <p:cNvSpPr txBox="1"/>
          <p:nvPr/>
        </p:nvSpPr>
        <p:spPr>
          <a:xfrm>
            <a:off x="4488424" y="3149029"/>
            <a:ext cx="3208803" cy="812530"/>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Product quality complaint</a:t>
            </a:r>
          </a:p>
        </p:txBody>
      </p:sp>
      <p:sp>
        <p:nvSpPr>
          <p:cNvPr id="28" name="TextBox 27">
            <a:extLst>
              <a:ext uri="{FF2B5EF4-FFF2-40B4-BE49-F238E27FC236}">
                <a16:creationId xmlns:a16="http://schemas.microsoft.com/office/drawing/2014/main" id="{A2F21A6F-ED00-E089-B6E9-6FC75CE9252B}"/>
              </a:ext>
            </a:extLst>
          </p:cNvPr>
          <p:cNvSpPr txBox="1"/>
          <p:nvPr/>
        </p:nvSpPr>
        <p:spPr>
          <a:xfrm>
            <a:off x="4642546" y="4028780"/>
            <a:ext cx="2900558" cy="1058751"/>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A concern about packaging, integrity, contamination, or performance</a:t>
            </a:r>
          </a:p>
          <a:p>
            <a:pPr algn="ctr"/>
            <a:endPar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endParaRPr>
          </a:p>
        </p:txBody>
      </p:sp>
      <p:sp>
        <p:nvSpPr>
          <p:cNvPr id="24" name="Rounded Rectangle 23">
            <a:extLst>
              <a:ext uri="{FF2B5EF4-FFF2-40B4-BE49-F238E27FC236}">
                <a16:creationId xmlns:a16="http://schemas.microsoft.com/office/drawing/2014/main" id="{1B4DC662-D8A0-B1A1-FE62-BD307372293D}"/>
              </a:ext>
              <a:ext uri="{C183D7F6-B498-43B3-948B-1728B52AA6E4}">
                <adec:decorative xmlns:adec="http://schemas.microsoft.com/office/drawing/2017/decorative" val="1"/>
              </a:ext>
            </a:extLst>
          </p:cNvPr>
          <p:cNvSpPr/>
          <p:nvPr/>
        </p:nvSpPr>
        <p:spPr bwMode="auto">
          <a:xfrm>
            <a:off x="8043165" y="1803748"/>
            <a:ext cx="3558285" cy="3469052"/>
          </a:xfrm>
          <a:prstGeom prst="roundRect">
            <a:avLst>
              <a:gd name="adj" fmla="val 9306"/>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32" name="Oval 31">
            <a:extLst>
              <a:ext uri="{FF2B5EF4-FFF2-40B4-BE49-F238E27FC236}">
                <a16:creationId xmlns:a16="http://schemas.microsoft.com/office/drawing/2014/main" id="{33B1CBA5-DCBD-0695-44CC-F91D49B02098}"/>
              </a:ext>
              <a:ext uri="{C183D7F6-B498-43B3-948B-1728B52AA6E4}">
                <adec:decorative xmlns:adec="http://schemas.microsoft.com/office/drawing/2017/decorative" val="1"/>
              </a:ext>
            </a:extLst>
          </p:cNvPr>
          <p:cNvSpPr/>
          <p:nvPr/>
        </p:nvSpPr>
        <p:spPr bwMode="auto">
          <a:xfrm>
            <a:off x="9445139" y="2161928"/>
            <a:ext cx="754336" cy="754336"/>
          </a:xfrm>
          <a:prstGeom prst="ellipse">
            <a:avLst/>
          </a:prstGeom>
          <a:gradFill>
            <a:gsLst>
              <a:gs pos="0">
                <a:srgbClr val="7FC0E6"/>
              </a:gs>
              <a:gs pos="100000">
                <a:srgbClr val="B9DCD2"/>
              </a:gs>
              <a:gs pos="35000">
                <a:srgbClr val="8DC8E8"/>
              </a:gs>
            </a:gsLst>
            <a:lin ang="3600000" scaled="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algn="ctr" defTabSz="3448206">
              <a:spcBef>
                <a:spcPts val="1206"/>
              </a:spcBef>
              <a:tabLst>
                <a:tab pos="5666852" algn="l"/>
              </a:tabLst>
            </a:pPr>
            <a:endParaRPr lang="en-US" sz="5143" b="1">
              <a:ln w="3175">
                <a:noFill/>
              </a:ln>
              <a:gradFill flip="none" rotWithShape="1">
                <a:gsLst>
                  <a:gs pos="20183">
                    <a:srgbClr val="FFFFFF"/>
                  </a:gs>
                  <a:gs pos="42000">
                    <a:srgbClr val="FFFFFF"/>
                  </a:gs>
                </a:gsLst>
                <a:lin ang="2700000" scaled="0"/>
                <a:tileRect/>
              </a:gradFill>
              <a:latin typeface="Segoe UI Semibold" panose="020B0502040204020203" pitchFamily="34" charset="0"/>
              <a:cs typeface="Segoe Sans Display Semibold" pitchFamily="2" charset="0"/>
            </a:endParaRPr>
          </a:p>
        </p:txBody>
      </p:sp>
      <p:pic>
        <p:nvPicPr>
          <p:cNvPr id="43" name="Graphic 42">
            <a:extLst>
              <a:ext uri="{FF2B5EF4-FFF2-40B4-BE49-F238E27FC236}">
                <a16:creationId xmlns:a16="http://schemas.microsoft.com/office/drawing/2014/main" id="{452D3940-D79B-36E8-3E99-E30921ABAAF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27667" y="2332893"/>
            <a:ext cx="389280" cy="389278"/>
          </a:xfrm>
          <a:prstGeom prst="rect">
            <a:avLst/>
          </a:prstGeom>
        </p:spPr>
      </p:pic>
      <p:sp>
        <p:nvSpPr>
          <p:cNvPr id="29" name="TextBox 28">
            <a:extLst>
              <a:ext uri="{FF2B5EF4-FFF2-40B4-BE49-F238E27FC236}">
                <a16:creationId xmlns:a16="http://schemas.microsoft.com/office/drawing/2014/main" id="{A236F8BA-3D00-A240-326E-FCC4FB2FDB05}"/>
              </a:ext>
            </a:extLst>
          </p:cNvPr>
          <p:cNvSpPr txBox="1"/>
          <p:nvPr/>
        </p:nvSpPr>
        <p:spPr>
          <a:xfrm>
            <a:off x="8604529" y="3149029"/>
            <a:ext cx="2435556" cy="812530"/>
          </a:xfrm>
          <a:prstGeom prst="rect">
            <a:avLst/>
          </a:prstGeom>
          <a:noFill/>
        </p:spPr>
        <p:txBody>
          <a:bodyPr wrap="square" lIns="36576" tIns="36576" rIns="36576" bIns="36576" anchor="t">
            <a:spAutoFit/>
          </a:bodyPr>
          <a:lstStyle/>
          <a:p>
            <a:pPr algn="ctr" defTabSz="914437" fontAlgn="base">
              <a:spcBef>
                <a:spcPct val="0"/>
              </a:spcBef>
              <a:spcAft>
                <a:spcPct val="0"/>
              </a:spcAft>
              <a:tabLst>
                <a:tab pos="1487158" algn="l"/>
              </a:tabLst>
              <a:defRPr/>
            </a:pPr>
            <a:r>
              <a:rPr lang="en-CA" sz="2400" b="1" dirty="0">
                <a:ln w="3175">
                  <a:noFill/>
                </a:ln>
                <a:solidFill>
                  <a:srgbClr val="000000"/>
                </a:solidFill>
                <a:latin typeface="Segoe UI Semibold" panose="020B0502040204020203" pitchFamily="34" charset="0"/>
                <a:cs typeface="Segoe UI" pitchFamily="34" charset="0"/>
              </a:rPr>
              <a:t>Medical </a:t>
            </a:r>
            <a:br>
              <a:rPr lang="en-CA" sz="2400" b="1" dirty="0">
                <a:ln w="3175">
                  <a:noFill/>
                </a:ln>
                <a:solidFill>
                  <a:srgbClr val="000000"/>
                </a:solidFill>
                <a:latin typeface="Segoe UI Semibold" panose="020B0502040204020203" pitchFamily="34" charset="0"/>
                <a:cs typeface="Segoe UI" pitchFamily="34" charset="0"/>
              </a:rPr>
            </a:br>
            <a:r>
              <a:rPr lang="en-CA" sz="2400" b="1" dirty="0">
                <a:ln w="3175">
                  <a:noFill/>
                </a:ln>
                <a:solidFill>
                  <a:srgbClr val="000000"/>
                </a:solidFill>
                <a:latin typeface="Segoe UI Semibold" panose="020B0502040204020203" pitchFamily="34" charset="0"/>
                <a:cs typeface="Segoe UI" pitchFamily="34" charset="0"/>
              </a:rPr>
              <a:t>inquiry</a:t>
            </a:r>
          </a:p>
        </p:txBody>
      </p:sp>
      <p:sp>
        <p:nvSpPr>
          <p:cNvPr id="30" name="TextBox 29">
            <a:extLst>
              <a:ext uri="{FF2B5EF4-FFF2-40B4-BE49-F238E27FC236}">
                <a16:creationId xmlns:a16="http://schemas.microsoft.com/office/drawing/2014/main" id="{CA0058AC-ECE0-84BB-5C87-6AFA16CB6D02}"/>
              </a:ext>
            </a:extLst>
          </p:cNvPr>
          <p:cNvSpPr txBox="1"/>
          <p:nvPr/>
        </p:nvSpPr>
        <p:spPr>
          <a:xfrm>
            <a:off x="8501708" y="4028780"/>
            <a:ext cx="2641198" cy="812530"/>
          </a:xfrm>
          <a:prstGeom prst="rect">
            <a:avLst/>
          </a:prstGeom>
          <a:noFill/>
        </p:spPr>
        <p:txBody>
          <a:bodyPr wrap="square" lIns="36576" tIns="36576" rIns="36576" bIns="36576" anchor="t">
            <a:spAutoFit/>
          </a:bodyPr>
          <a:lstStyle/>
          <a:p>
            <a:pPr algn="ctr"/>
            <a:r>
              <a:rPr lang="en-CA" sz="1600" b="1" dirty="0">
                <a:gradFill>
                  <a:gsLst>
                    <a:gs pos="21101">
                      <a:srgbClr val="000000"/>
                    </a:gs>
                    <a:gs pos="31193">
                      <a:srgbClr val="000000"/>
                    </a:gs>
                  </a:gsLst>
                  <a:path path="circle">
                    <a:fillToRect l="100000" t="100000"/>
                  </a:path>
                </a:gradFill>
                <a:latin typeface="Segoe UI Semibold" panose="020B0502040204020203" pitchFamily="34" charset="0"/>
                <a:cs typeface="Segoe Sans Display Semibold" pitchFamily="2" charset="0"/>
              </a:rPr>
              <a:t>A request for diagnosis, treatment, dosage, or medical guidance</a:t>
            </a:r>
          </a:p>
        </p:txBody>
      </p:sp>
      <p:sp>
        <p:nvSpPr>
          <p:cNvPr id="22" name="TextBox 21"/>
          <p:cNvSpPr txBox="1"/>
          <p:nvPr/>
        </p:nvSpPr>
        <p:spPr>
          <a:xfrm>
            <a:off x="535745" y="5619249"/>
            <a:ext cx="11120510" cy="381643"/>
          </a:xfrm>
          <a:prstGeom prst="rect">
            <a:avLst/>
          </a:prstGeom>
          <a:noFill/>
        </p:spPr>
        <p:txBody>
          <a:bodyPr wrap="square" lIns="36576" tIns="36576" rIns="36576" bIns="36576" anchor="t">
            <a:spAutoFit/>
          </a:bodyPr>
          <a:lstStyle/>
          <a:p>
            <a:pPr algn="ctr"/>
            <a:r>
              <a:rPr sz="2000" b="1"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The application never determines causality, seriousness, diagnosis, or treatment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par>
                                <p:cTn id="17" presetID="10" presetClass="entr" presetSubtype="0" fill="hold" nodeType="withEffect">
                                  <p:stCondLst>
                                    <p:cond delay="10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1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nodeType="withEffect">
                                  <p:stCondLst>
                                    <p:cond delay="20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grpId="0" nodeType="withEffect">
                                  <p:stCondLst>
                                    <p:cond delay="20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10" presetClass="entr" presetSubtype="0" fill="hold" grpId="0" nodeType="withEffect">
                                  <p:stCondLst>
                                    <p:cond delay="20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grpId="0" nodeType="withEffect">
                                  <p:stCondLst>
                                    <p:cond delay="30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30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par>
                                <p:cTn id="47" presetID="10" presetClass="entr" presetSubtype="0" fill="hold" nodeType="withEffect">
                                  <p:stCondLst>
                                    <p:cond delay="30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grpId="0" nodeType="withEffect">
                                  <p:stCondLst>
                                    <p:cond delay="30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par>
                                <p:cTn id="56" presetID="10" presetClass="entr" presetSubtype="0" fill="hold" grpId="0" nodeType="withEffect">
                                  <p:stCondLst>
                                    <p:cond delay="6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animBg="1"/>
      <p:bldP spid="38" grpId="0" animBg="1"/>
      <p:bldP spid="25" grpId="0"/>
      <p:bldP spid="26" grpId="0"/>
      <p:bldP spid="23" grpId="0" animBg="1"/>
      <p:bldP spid="35" grpId="0" animBg="1"/>
      <p:bldP spid="27" grpId="0"/>
      <p:bldP spid="28" grpId="0"/>
      <p:bldP spid="24" grpId="0" animBg="1"/>
      <p:bldP spid="32" grpId="0" animBg="1"/>
      <p:bldP spid="29" grpId="0"/>
      <p:bldP spid="30"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077C9-ECB1-28A2-1418-955BC0E64B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E0D6F5-26B9-84F6-7E16-446C18B2EAB6}"/>
              </a:ext>
            </a:extLst>
          </p:cNvPr>
          <p:cNvSpPr>
            <a:spLocks noGrp="1"/>
          </p:cNvSpPr>
          <p:nvPr>
            <p:ph type="title"/>
          </p:nvPr>
        </p:nvSpPr>
        <p:spPr>
          <a:xfrm>
            <a:off x="588963" y="2592630"/>
            <a:ext cx="4127500" cy="677108"/>
          </a:xfrm>
        </p:spPr>
        <p:txBody>
          <a:bodyPr vert="horz" wrap="square" lIns="0" tIns="0" rIns="0" bIns="0" rtlCol="0" anchor="b">
            <a:spAutoFit/>
          </a:bodyPr>
          <a:lstStyle/>
          <a:p>
            <a:r>
              <a:rPr lang="en-CA" sz="4400" dirty="0"/>
              <a:t>Ready to build?</a:t>
            </a:r>
            <a:endParaRPr lang="en-US" sz="4400" dirty="0"/>
          </a:p>
        </p:txBody>
      </p:sp>
      <p:sp>
        <p:nvSpPr>
          <p:cNvPr id="6" name="TextBox 5">
            <a:extLst>
              <a:ext uri="{FF2B5EF4-FFF2-40B4-BE49-F238E27FC236}">
                <a16:creationId xmlns:a16="http://schemas.microsoft.com/office/drawing/2014/main" id="{0604D0C6-56D6-3A3C-3CEF-8A4BC9F491D0}"/>
              </a:ext>
            </a:extLst>
          </p:cNvPr>
          <p:cNvSpPr txBox="1"/>
          <p:nvPr/>
        </p:nvSpPr>
        <p:spPr>
          <a:xfrm>
            <a:off x="603504" y="3558059"/>
            <a:ext cx="4343634" cy="689420"/>
          </a:xfrm>
          <a:prstGeom prst="rect">
            <a:avLst/>
          </a:prstGeom>
          <a:noFill/>
        </p:spPr>
        <p:txBody>
          <a:bodyPr wrap="square" lIns="0" tIns="36576" rIns="36576" bIns="36576" anchor="t">
            <a:spAutoFit/>
          </a:bodyPr>
          <a:lstStyle/>
          <a:p>
            <a:r>
              <a:rPr sz="2000" b="1" dirty="0">
                <a:ln w="3175">
                  <a:noFill/>
                </a:ln>
                <a:gradFill flip="none" rotWithShape="1">
                  <a:gsLst>
                    <a:gs pos="0">
                      <a:srgbClr val="175B9C"/>
                    </a:gs>
                    <a:gs pos="100000">
                      <a:srgbClr val="87ADA2"/>
                    </a:gs>
                    <a:gs pos="50000">
                      <a:srgbClr val="0078D4"/>
                    </a:gs>
                  </a:gsLst>
                  <a:path path="circle">
                    <a:fillToRect t="100000" r="100000"/>
                  </a:path>
                  <a:tileRect l="-100000" b="-100000"/>
                </a:gradFill>
                <a:latin typeface="Segoe UI Semibold" panose="020B0502040204020203" pitchFamily="34" charset="0"/>
                <a:cs typeface="Segoe UI" pitchFamily="34" charset="0"/>
              </a:rPr>
              <a:t>Open the Foundry Toolkit in VS Code and start with Lab 1.</a:t>
            </a:r>
          </a:p>
        </p:txBody>
      </p:sp>
      <p:sp>
        <p:nvSpPr>
          <p:cNvPr id="5" name="!!container">
            <a:extLst>
              <a:ext uri="{FF2B5EF4-FFF2-40B4-BE49-F238E27FC236}">
                <a16:creationId xmlns:a16="http://schemas.microsoft.com/office/drawing/2014/main" id="{FB5093F4-06C0-3C7A-8884-261D19685441}"/>
              </a:ext>
              <a:ext uri="{C183D7F6-B498-43B3-948B-1728B52AA6E4}">
                <adec:decorative xmlns:adec="http://schemas.microsoft.com/office/drawing/2017/decorative" val="1"/>
              </a:ext>
            </a:extLst>
          </p:cNvPr>
          <p:cNvSpPr>
            <a:spLocks/>
          </p:cNvSpPr>
          <p:nvPr/>
        </p:nvSpPr>
        <p:spPr bwMode="auto">
          <a:xfrm>
            <a:off x="6501118" y="961293"/>
            <a:ext cx="5108269" cy="5050852"/>
          </a:xfrm>
          <a:prstGeom prst="roundRect">
            <a:avLst>
              <a:gd name="adj" fmla="val 8043"/>
            </a:avLst>
          </a:prstGeom>
          <a:solidFill>
            <a:srgbClr val="194449">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1765" b="1">
              <a:ln w="3175">
                <a:noFill/>
              </a:ln>
              <a:gradFill>
                <a:gsLst>
                  <a:gs pos="22936">
                    <a:schemeClr val="tx1"/>
                  </a:gs>
                  <a:gs pos="38000">
                    <a:schemeClr val="tx1"/>
                  </a:gs>
                </a:gsLst>
                <a:path path="circle">
                  <a:fillToRect l="100000" t="100000"/>
                </a:path>
              </a:gradFill>
              <a:latin typeface="Segoe UI Semibold" panose="020B0502040204020203" pitchFamily="34" charset="0"/>
              <a:cs typeface="Segoe UI" pitchFamily="34" charset="0"/>
            </a:endParaRPr>
          </a:p>
        </p:txBody>
      </p:sp>
      <p:sp>
        <p:nvSpPr>
          <p:cNvPr id="13" name="Rectangle: Rounded Corners 7">
            <a:extLst>
              <a:ext uri="{FF2B5EF4-FFF2-40B4-BE49-F238E27FC236}">
                <a16:creationId xmlns:a16="http://schemas.microsoft.com/office/drawing/2014/main" id="{EA32C4E1-F16A-19AC-1F03-187AE7E26B6B}"/>
              </a:ext>
              <a:ext uri="{C183D7F6-B498-43B3-948B-1728B52AA6E4}">
                <adec:decorative xmlns:adec="http://schemas.microsoft.com/office/drawing/2017/decorative" val="0"/>
              </a:ext>
            </a:extLst>
          </p:cNvPr>
          <p:cNvSpPr/>
          <p:nvPr/>
        </p:nvSpPr>
        <p:spPr bwMode="auto">
          <a:xfrm>
            <a:off x="6940375" y="1718048"/>
            <a:ext cx="2209941" cy="481298"/>
          </a:xfrm>
          <a:prstGeom prst="roundRect">
            <a:avLst>
              <a:gd name="adj" fmla="val 36134"/>
            </a:avLst>
          </a:prstGeom>
          <a:gradFill>
            <a:gsLst>
              <a:gs pos="0">
                <a:srgbClr val="7FC0E6"/>
              </a:gs>
              <a:gs pos="100000">
                <a:srgbClr val="B9DCD2"/>
              </a:gs>
              <a:gs pos="35000">
                <a:srgbClr val="8DC8E8"/>
              </a:gs>
            </a:gsLst>
            <a:path path="circle">
              <a:fillToRect r="100000" b="100000"/>
            </a:path>
          </a:gradFill>
        </p:spPr>
        <p:txBody>
          <a:bodyPr wrap="none" lIns="137160" tIns="18288" rIns="137160" bIns="54864" rtlCol="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algn="ctr" defTabSz="914437" fontAlgn="base">
              <a:spcBef>
                <a:spcPct val="0"/>
              </a:spcBef>
              <a:spcAft>
                <a:spcPct val="0"/>
              </a:spcAft>
              <a:tabLst>
                <a:tab pos="1487158" algn="l"/>
              </a:tabLst>
            </a:pPr>
            <a:r>
              <a:rPr lang="en-US" sz="2000" b="1" dirty="0">
                <a:ln w="3175">
                  <a:noFill/>
                </a:ln>
                <a:latin typeface="Segoe UI Semibold" panose="020B0502040204020203" pitchFamily="34" charset="0"/>
                <a:cs typeface="Segoe UI" pitchFamily="34" charset="0"/>
              </a:rPr>
              <a:t>Resource center</a:t>
            </a:r>
          </a:p>
        </p:txBody>
      </p:sp>
      <p:sp>
        <p:nvSpPr>
          <p:cNvPr id="10" name="TextBox 9">
            <a:extLst>
              <a:ext uri="{FF2B5EF4-FFF2-40B4-BE49-F238E27FC236}">
                <a16:creationId xmlns:a16="http://schemas.microsoft.com/office/drawing/2014/main" id="{F9EAAAFB-301E-EC52-12DA-C867E5028DB3}"/>
              </a:ext>
            </a:extLst>
          </p:cNvPr>
          <p:cNvSpPr txBox="1"/>
          <p:nvPr/>
        </p:nvSpPr>
        <p:spPr>
          <a:xfrm>
            <a:off x="6977794" y="2379097"/>
            <a:ext cx="4262387" cy="350865"/>
          </a:xfrm>
          <a:prstGeom prst="rect">
            <a:avLst/>
          </a:prstGeom>
          <a:noFill/>
        </p:spPr>
        <p:txBody>
          <a:bodyPr wrap="square" lIns="36576" tIns="36576" rIns="36576" bIns="36576" anchor="t">
            <a:spAutoFit/>
          </a:bodyPr>
          <a:lstStyle/>
          <a:p>
            <a:pPr>
              <a:spcBef>
                <a:spcPts val="1000"/>
              </a:spcBef>
            </a:pPr>
            <a:r>
              <a:rPr dirty="0">
                <a:gradFill>
                  <a:gsLst>
                    <a:gs pos="21101">
                      <a:srgbClr val="000000"/>
                    </a:gs>
                    <a:gs pos="31193">
                      <a:srgbClr val="000000"/>
                    </a:gs>
                  </a:gsLst>
                  <a:path path="circle">
                    <a:fillToRect l="100000" t="100000"/>
                  </a:path>
                </a:gradFill>
                <a:latin typeface="+mj-lt"/>
                <a:cs typeface="Segoe Sans Display Semibold" pitchFamily="2" charset="0"/>
                <a:hlinkClick r:id="rId3">
                  <a:extLst>
                    <a:ext uri="{A12FA001-AC4F-418D-AE19-62706E023703}">
                      <ahyp:hlinkClr xmlns:ahyp="http://schemas.microsoft.com/office/drawing/2018/hyperlinkcolor" val="tx"/>
                    </a:ext>
                  </a:extLst>
                </a:hlinkClick>
              </a:rPr>
              <a:t>aka.ms/aitour27-resource-center</a:t>
            </a:r>
            <a:endParaRPr dirty="0">
              <a:gradFill>
                <a:gsLst>
                  <a:gs pos="21101">
                    <a:srgbClr val="000000"/>
                  </a:gs>
                  <a:gs pos="31193">
                    <a:srgbClr val="000000"/>
                  </a:gs>
                </a:gsLst>
                <a:path path="circle">
                  <a:fillToRect l="100000" t="100000"/>
                </a:path>
              </a:gradFill>
              <a:latin typeface="+mj-lt"/>
              <a:cs typeface="Segoe Sans Display Semibold" pitchFamily="2" charset="0"/>
            </a:endParaRPr>
          </a:p>
        </p:txBody>
      </p:sp>
      <p:cxnSp>
        <p:nvCxnSpPr>
          <p:cNvPr id="7" name="Straight Connector 6">
            <a:extLst>
              <a:ext uri="{FF2B5EF4-FFF2-40B4-BE49-F238E27FC236}">
                <a16:creationId xmlns:a16="http://schemas.microsoft.com/office/drawing/2014/main" id="{EC4FDEE4-3C5A-E9DA-3A00-62D79BF7B8C7}"/>
              </a:ext>
              <a:ext uri="{C183D7F6-B498-43B3-948B-1728B52AA6E4}">
                <adec:decorative xmlns:adec="http://schemas.microsoft.com/office/drawing/2017/decorative" val="1"/>
              </a:ext>
            </a:extLst>
          </p:cNvPr>
          <p:cNvCxnSpPr>
            <a:cxnSpLocks/>
          </p:cNvCxnSpPr>
          <p:nvPr/>
        </p:nvCxnSpPr>
        <p:spPr>
          <a:xfrm>
            <a:off x="7004852" y="3486719"/>
            <a:ext cx="4208271" cy="0"/>
          </a:xfrm>
          <a:prstGeom prst="line">
            <a:avLst/>
          </a:pr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4" name="Rectangle: Rounded Corners 7">
            <a:extLst>
              <a:ext uri="{FF2B5EF4-FFF2-40B4-BE49-F238E27FC236}">
                <a16:creationId xmlns:a16="http://schemas.microsoft.com/office/drawing/2014/main" id="{CD375C19-3AB3-F1A7-B464-7210C4C3C84D}"/>
              </a:ext>
              <a:ext uri="{C183D7F6-B498-43B3-948B-1728B52AA6E4}">
                <adec:decorative xmlns:adec="http://schemas.microsoft.com/office/drawing/2017/decorative" val="0"/>
              </a:ext>
            </a:extLst>
          </p:cNvPr>
          <p:cNvSpPr/>
          <p:nvPr/>
        </p:nvSpPr>
        <p:spPr bwMode="auto">
          <a:xfrm>
            <a:off x="6940375" y="4117591"/>
            <a:ext cx="1727906" cy="481298"/>
          </a:xfrm>
          <a:prstGeom prst="roundRect">
            <a:avLst>
              <a:gd name="adj" fmla="val 36134"/>
            </a:avLst>
          </a:prstGeom>
          <a:gradFill>
            <a:gsLst>
              <a:gs pos="0">
                <a:srgbClr val="7FC0E6"/>
              </a:gs>
              <a:gs pos="100000">
                <a:srgbClr val="B9DCD2"/>
              </a:gs>
              <a:gs pos="35000">
                <a:srgbClr val="8DC8E8"/>
              </a:gs>
            </a:gsLst>
            <a:path path="circle">
              <a:fillToRect r="100000" b="100000"/>
            </a:path>
          </a:gradFill>
        </p:spPr>
        <p:txBody>
          <a:bodyPr wrap="none" lIns="137160" tIns="18288" rIns="137160" bIns="54864" rtlCol="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algn="ctr" defTabSz="914437" fontAlgn="base">
              <a:spcBef>
                <a:spcPct val="0"/>
              </a:spcBef>
              <a:spcAft>
                <a:spcPct val="0"/>
              </a:spcAft>
              <a:tabLst>
                <a:tab pos="1487158" algn="l"/>
              </a:tabLst>
            </a:pPr>
            <a:r>
              <a:rPr lang="en-US" sz="2000" b="1" dirty="0">
                <a:ln w="3175">
                  <a:noFill/>
                </a:ln>
                <a:latin typeface="Segoe UI Semibold" panose="020B0502040204020203" pitchFamily="34" charset="0"/>
                <a:cs typeface="Segoe UI" pitchFamily="34" charset="0"/>
              </a:rPr>
              <a:t>Community</a:t>
            </a:r>
          </a:p>
        </p:txBody>
      </p:sp>
      <p:sp>
        <p:nvSpPr>
          <p:cNvPr id="12" name="TextBox 11">
            <a:extLst>
              <a:ext uri="{FF2B5EF4-FFF2-40B4-BE49-F238E27FC236}">
                <a16:creationId xmlns:a16="http://schemas.microsoft.com/office/drawing/2014/main" id="{57922ABD-5B33-FDA3-654C-668E1DCFB94E}"/>
              </a:ext>
            </a:extLst>
          </p:cNvPr>
          <p:cNvSpPr txBox="1"/>
          <p:nvPr/>
        </p:nvSpPr>
        <p:spPr>
          <a:xfrm>
            <a:off x="6914740" y="4753408"/>
            <a:ext cx="3659475" cy="627864"/>
          </a:xfrm>
          <a:prstGeom prst="rect">
            <a:avLst/>
          </a:prstGeom>
          <a:noFill/>
        </p:spPr>
        <p:txBody>
          <a:bodyPr wrap="square" lIns="36576" tIns="36576" rIns="36576" bIns="36576" anchor="t">
            <a:spAutoFit/>
          </a:bodyPr>
          <a:lstStyle/>
          <a:p>
            <a:pPr>
              <a:spcBef>
                <a:spcPts val="1000"/>
              </a:spcBef>
            </a:pPr>
            <a:r>
              <a:rPr dirty="0">
                <a:gradFill>
                  <a:gsLst>
                    <a:gs pos="21101">
                      <a:srgbClr val="000000"/>
                    </a:gs>
                    <a:gs pos="31193">
                      <a:srgbClr val="000000"/>
                    </a:gs>
                  </a:gsLst>
                  <a:path path="circle">
                    <a:fillToRect l="100000" t="100000"/>
                  </a:path>
                </a:gradFill>
                <a:latin typeface="+mj-lt"/>
                <a:cs typeface="Segoe Sans Display Semibold" pitchFamily="2" charset="0"/>
                <a:hlinkClick r:id="rId4">
                  <a:extLst>
                    <a:ext uri="{A12FA001-AC4F-418D-AE19-62706E023703}">
                      <ahyp:hlinkClr xmlns:ahyp="http://schemas.microsoft.com/office/drawing/2018/hyperlinkcolor" val="tx"/>
                    </a:ext>
                  </a:extLst>
                </a:hlinkClick>
              </a:rPr>
              <a:t>aka.ms/MicrosoftFoundryDiscord-AITour27</a:t>
            </a:r>
            <a:endParaRPr dirty="0">
              <a:gradFill>
                <a:gsLst>
                  <a:gs pos="21101">
                    <a:srgbClr val="000000"/>
                  </a:gs>
                  <a:gs pos="31193">
                    <a:srgbClr val="000000"/>
                  </a:gs>
                </a:gsLst>
                <a:path path="circle">
                  <a:fillToRect l="100000" t="100000"/>
                </a:path>
              </a:gradFill>
              <a:latin typeface="+mj-lt"/>
              <a:cs typeface="Segoe Sans Display Semibold" pitchFamily="2" charset="0"/>
            </a:endParaRPr>
          </a:p>
        </p:txBody>
      </p:sp>
    </p:spTree>
    <p:extLst>
      <p:ext uri="{BB962C8B-B14F-4D97-AF65-F5344CB8AC3E}">
        <p14:creationId xmlns:p14="http://schemas.microsoft.com/office/powerpoint/2010/main" val="3625117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0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5" grpId="0" animBg="1"/>
      <p:bldP spid="13" grpId="0" animBg="1"/>
      <p:bldP spid="10" grpId="0"/>
      <p:bldP spid="14" grpId="0" animBg="1"/>
      <p:bldP spid="12" grpId="0"/>
    </p:bldLst>
  </p:timing>
</p:sld>
</file>

<file path=ppt/theme/theme1.xml><?xml version="1.0" encoding="utf-8"?>
<a:theme xmlns:a="http://schemas.openxmlformats.org/drawingml/2006/main" name="Microsoft AI Tour FY27 Light">
  <a:themeElements>
    <a:clrScheme name="Custom 103">
      <a:dk1>
        <a:srgbClr val="000000"/>
      </a:dk1>
      <a:lt1>
        <a:srgbClr val="FFFFFF"/>
      </a:lt1>
      <a:dk2>
        <a:srgbClr val="2A446F"/>
      </a:dk2>
      <a:lt2>
        <a:srgbClr val="E8E6DF"/>
      </a:lt2>
      <a:accent1>
        <a:srgbClr val="0078D4"/>
      </a:accent1>
      <a:accent2>
        <a:srgbClr val="8661C5"/>
      </a:accent2>
      <a:accent3>
        <a:srgbClr val="2A446F"/>
      </a:accent3>
      <a:accent4>
        <a:srgbClr val="8C8279"/>
      </a:accent4>
      <a:accent5>
        <a:srgbClr val="49C5B1"/>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C91710D9-4C3C-6F4D-AE7D-F92D4F5A1357}" vid="{CB7D5E62-CB40-8C4D-9EC1-918F07C6C6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E71A6B924FC94981CCAD1A585590D8" ma:contentTypeVersion="27" ma:contentTypeDescription="Create a new document." ma:contentTypeScope="" ma:versionID="566528f2922ad54e26a908d2133454c1">
  <xsd:schema xmlns:xsd="http://www.w3.org/2001/XMLSchema" xmlns:xs="http://www.w3.org/2001/XMLSchema" xmlns:p="http://schemas.microsoft.com/office/2006/metadata/properties" xmlns:ns1="http://schemas.microsoft.com/sharepoint/v3" xmlns:ns2="804751ba-60e0-4191-9865-d7e5284c1d69" xmlns:ns3="913b567d-4c83-4181-a45c-f04ce7e1b72e" xmlns:ns4="230e9df3-be65-4c73-a93b-d1236ebd677e" targetNamespace="http://schemas.microsoft.com/office/2006/metadata/properties" ma:root="true" ma:fieldsID="6c91453d1ce2972ce38a1123b4b20cb5" ns1:_="" ns2:_="" ns3:_="" ns4:_="">
    <xsd:import namespace="http://schemas.microsoft.com/sharepoint/v3"/>
    <xsd:import namespace="804751ba-60e0-4191-9865-d7e5284c1d69"/>
    <xsd:import namespace="913b567d-4c83-4181-a45c-f04ce7e1b72e"/>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Location" minOccurs="0"/>
                <xsd:element ref="ns1:_ip_UnifiedCompliancePolicyProperties" minOccurs="0"/>
                <xsd:element ref="ns1:_ip_UnifiedCompliancePolicyUIAction" minOccurs="0"/>
                <xsd:element ref="ns2:Number" minOccurs="0"/>
                <xsd:element ref="ns2:MediaLengthInSeconds" minOccurs="0"/>
                <xsd:element ref="ns2:lcf76f155ced4ddcb4097134ff3c332f" minOccurs="0"/>
                <xsd:element ref="ns4:TaxCatchAll" minOccurs="0"/>
                <xsd:element ref="ns2:Time" minOccurs="0"/>
                <xsd:element ref="ns2:MediaServiceSearchProperties" minOccurs="0"/>
                <xsd:element ref="ns2:MediaServiceObjectDetectorVersions" minOccurs="0"/>
                <xsd:element ref="ns2:TranslatedLang" minOccurs="0"/>
                <xsd:element ref="ns2:content" minOccurs="0"/>
                <xsd:element ref="ns2:MediaServiceDoc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ma:readOnly="false">
      <xsd:simpleType>
        <xsd:restriction base="dms:Note"/>
      </xsd:simpleType>
    </xsd:element>
    <xsd:element name="_ip_UnifiedCompliancePolicyUIAction" ma:index="20"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4751ba-60e0-4191-9865-d7e5284c1d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OCR" ma:index="17" nillable="true" ma:displayName="Extracted Text" ma:hidden="true" ma:internalName="MediaServiceOCR" ma:readOnly="true">
      <xsd:simpleType>
        <xsd:restriction base="dms:Note"/>
      </xsd:simpleType>
    </xsd:element>
    <xsd:element name="MediaServiceLocation" ma:index="18" nillable="true" ma:displayName="Location" ma:hidden="true" ma:internalName="MediaServiceLocation" ma:readOnly="true">
      <xsd:simpleType>
        <xsd:restriction base="dms:Text"/>
      </xsd:simpleType>
    </xsd:element>
    <xsd:element name="Number" ma:index="21" nillable="true" ma:displayName="Number" ma:format="Dropdown" ma:internalName="Number" ma:percentage="FALSE">
      <xsd:simpleType>
        <xsd:restriction base="dms:Number"/>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Time" ma:index="26" nillable="true" ma:displayName="Time" ma:format="DateTime" ma:internalName="Time">
      <xsd:simpleType>
        <xsd:restriction base="dms:DateTim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TranslatedLang" ma:index="29" nillable="true" ma:displayName="Translated Language" ma:hidden="true" ma:internalName="TranslatedLang" ma:readOnly="true">
      <xsd:simpleType>
        <xsd:restriction base="dms:Text"/>
      </xsd:simpleType>
    </xsd:element>
    <xsd:element name="content" ma:index="30" nillable="true" ma:displayName="content" ma:format="Dropdown" ma:internalName="content">
      <xsd:simpleType>
        <xsd:restriction base="dms:Choice">
          <xsd:enumeration value="Visual Studio"/>
          <xsd:enumeration value="VS Code"/>
          <xsd:enumeration value="GitHub Copilot"/>
          <xsd:enumeration value="Dev Box"/>
          <xsd:enumeration value="Choice 5"/>
        </xsd:restriction>
      </xsd:simpleType>
    </xsd:element>
    <xsd:element name="MediaServiceDocTags" ma:index="31" nillable="true" ma:displayName="MediaServiceDocTags" ma:hidden="true" ma:internalName="MediaServiceDocTags" ma:readOnly="true">
      <xsd:simpleType>
        <xsd:restriction base="dms:Note"/>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3b567d-4c83-4181-a45c-f04ce7e1b72e"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ae7d3c4e-66c4-4603-a26b-8d6b1e039262}" ma:internalName="TaxCatchAll" ma:showField="CatchAllData" ma:web="913b567d-4c83-4181-a45c-f04ce7e1b7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804751ba-60e0-4191-9865-d7e5284c1d69">
      <Terms xmlns="http://schemas.microsoft.com/office/infopath/2007/PartnerControls"/>
    </lcf76f155ced4ddcb4097134ff3c332f>
    <Number xmlns="804751ba-60e0-4191-9865-d7e5284c1d69" xsi:nil="true"/>
    <TaxCatchAll xmlns="230e9df3-be65-4c73-a93b-d1236ebd677e" xsi:nil="true"/>
    <Time xmlns="804751ba-60e0-4191-9865-d7e5284c1d69" xsi:nil="true"/>
    <content xmlns="804751ba-60e0-4191-9865-d7e5284c1d69" xsi:nil="true"/>
  </documentManagement>
</p:properties>
</file>

<file path=customXml/itemProps1.xml><?xml version="1.0" encoding="utf-8"?>
<ds:datastoreItem xmlns:ds="http://schemas.openxmlformats.org/officeDocument/2006/customXml" ds:itemID="{CBAB5C69-0FF7-452F-B9FB-A7F940C3BA46}">
  <ds:schemaRefs>
    <ds:schemaRef ds:uri="230e9df3-be65-4c73-a93b-d1236ebd677e"/>
    <ds:schemaRef ds:uri="804751ba-60e0-4191-9865-d7e5284c1d69"/>
    <ds:schemaRef ds:uri="913b567d-4c83-4181-a45c-f04ce7e1b7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1D3613-E70D-41EC-A205-2FA057EAAF25}">
  <ds:schemaRefs>
    <ds:schemaRef ds:uri="http://schemas.microsoft.com/sharepoint/v3/contenttype/forms"/>
  </ds:schemaRefs>
</ds:datastoreItem>
</file>

<file path=customXml/itemProps3.xml><?xml version="1.0" encoding="utf-8"?>
<ds:datastoreItem xmlns:ds="http://schemas.openxmlformats.org/officeDocument/2006/customXml" ds:itemID="{21BBFC1A-40E2-4190-9ED0-DD22B043F5E9}">
  <ds:schemaRefs>
    <ds:schemaRef ds:uri="http://purl.org/dc/elements/1.1/"/>
    <ds:schemaRef ds:uri="http://schemas.microsoft.com/office/2006/documentManagement/types"/>
    <ds:schemaRef ds:uri="http://schemas.microsoft.com/sharepoint/v3"/>
    <ds:schemaRef ds:uri="http://www.w3.org/XML/1998/namespace"/>
    <ds:schemaRef ds:uri="230e9df3-be65-4c73-a93b-d1236ebd677e"/>
    <ds:schemaRef ds:uri="913b567d-4c83-4181-a45c-f04ce7e1b72e"/>
    <ds:schemaRef ds:uri="http://purl.org/dc/dcmitype/"/>
    <ds:schemaRef ds:uri="http://schemas.microsoft.com/office/infopath/2007/PartnerControls"/>
    <ds:schemaRef ds:uri="http://schemas.openxmlformats.org/package/2006/metadata/core-properties"/>
    <ds:schemaRef ds:uri="804751ba-60e0-4191-9865-d7e5284c1d69"/>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97</TotalTime>
  <Words>1789</Words>
  <Application>Microsoft Office PowerPoint</Application>
  <PresentationFormat>Widescreen</PresentationFormat>
  <Paragraphs>175</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Consolas</vt:lpstr>
      <vt:lpstr>Segoe Sans Display Semibold</vt:lpstr>
      <vt:lpstr>Segoe UI</vt:lpstr>
      <vt:lpstr>Segoe UI Semibold</vt:lpstr>
      <vt:lpstr>Wingdings</vt:lpstr>
      <vt:lpstr>Microsoft AI Tour FY27 Light</vt:lpstr>
      <vt:lpstr>Microsoft AI Tour</vt:lpstr>
      <vt:lpstr>Building &amp; Deploying AI Agents with Microsoft Foundry</vt:lpstr>
      <vt:lpstr>Meet Caldova: your lab scenario</vt:lpstr>
      <vt:lpstr>What is Microsoft Foundry?</vt:lpstr>
      <vt:lpstr>Three concepts to know</vt:lpstr>
      <vt:lpstr>Your lab journey</vt:lpstr>
      <vt:lpstr>Your skillable environment</vt:lpstr>
      <vt:lpstr>What you will build</vt:lpstr>
      <vt:lpstr>How the live session works</vt:lpstr>
      <vt:lpstr>Responsible routing by design</vt:lpstr>
      <vt:lpstr>Ready to build?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Building &amp; Deploying AI Agents with Microsoft Foundry</dc:subject>
  <dc:creator>Microsoft AI Tour ILL335</dc:creator>
  <cp:keywords>Microsoft AI Tour FY27, ILL335, Microsoft Foundry</cp:keywords>
  <dc:description>generated using python-pptx</dc:description>
  <cp:lastModifiedBy>Lee Stott</cp:lastModifiedBy>
  <cp:revision>1</cp:revision>
  <dcterms:created xsi:type="dcterms:W3CDTF">2013-01-27T09:14:16Z</dcterms:created>
  <dcterms:modified xsi:type="dcterms:W3CDTF">2026-09-10T15:22:07Z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0x0101002FE71A6B924FC94981CCAD1A585590D8</vt:lpwstr>
  </property>
  <property fmtid="{D5CDD505-2E9C-101B-9397-08002B2CF9AE}" pid="3" name="MediaServiceImageTags">
    <vt:lpwstr/>
  </property>
</Properties>
</file>