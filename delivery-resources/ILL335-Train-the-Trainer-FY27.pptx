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147479540" r:id="rId5"/>
    <p:sldId id="214747955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99" y="2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52F22-1BD7-4384-B32C-7D8B67EF358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CB1A9-1BC1-4440-98A0-B2D1F6D19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/ HOLDING SLIDE (leave up as the room fills, ~1 min)</a:t>
            </a:r>
          </a:p>
          <a:p>
            <a:r>
              <a:rPr lang="en-US"/>
              <a:t>Say: "Welcome to Microsoft AI Tour. We're in ILL335 - Building and Deploying AI Agents with Microsoft Foundry."</a:t>
            </a:r>
          </a:p>
          <a:p>
            <a:r>
              <a:rPr lang="en-US"/>
              <a:t>Housekeeping while people settle: confirm everyone can see the screen, point out where the Skillable lab panel lives, and ask them not to start clicking ahead.</a:t>
            </a:r>
          </a:p>
          <a:p>
            <a:r>
              <a:rPr lang="en-US"/>
              <a:t>Check before you begin: projector readable at the back, browser clean (no personal tabs, no bookmarks bar with internal links), notifications silenced, and your .env file closed.</a:t>
            </a:r>
          </a:p>
          <a:p>
            <a:r>
              <a:rPr lang="en-US"/>
              <a:t>Transition: "Let's talk about what you'll be able to do by the end of this session."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7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- PRESENTER READINESS / TRAIN THE TRAINER (~1 min)</a:t>
            </a:r>
          </a:p>
          <a:p>
            <a:r>
              <a:rPr lang="en-US"/>
              <a:t>Say: "This is the trainer enablement pass for ILL335. By the end you should be able to deliver this workshop end to end, recover from the common failures, and keep a room of 60 people moving."</a:t>
            </a:r>
          </a:p>
          <a:p>
            <a:r>
              <a:rPr lang="en-US"/>
              <a:t>Frame the audience: these are presenters and proctors, not first-time attendees. The goal is delivery confidence, not new product content.</a:t>
            </a:r>
          </a:p>
          <a:p>
            <a:r>
              <a:rPr lang="en-US"/>
              <a:t>Set expectations: 75 minutes of lab time, six labs, a pre-provisioned Skillable environment, and a strict rule about never exposing secrets on screen.</a:t>
            </a:r>
          </a:p>
          <a:p>
            <a:r>
              <a:rPr lang="en-US"/>
              <a:t>Transition: "Start with the promise we're making to every attendee."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6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WORKSHOP PROMISE (~3 min)</a:t>
            </a:r>
          </a:p>
          <a:p>
            <a:r>
              <a:rPr lang="en-US"/>
              <a:t>Purpose: give presenters the one-sentence outcome for each third of the workshop, so they can re-anchor the room at any point.</a:t>
            </a:r>
          </a:p>
          <a:p>
            <a:r>
              <a:rPr lang="en-US"/>
              <a:t>Walk the three outcomes:</a:t>
            </a:r>
          </a:p>
          <a:p>
            <a:r>
              <a:rPr lang="en-US"/>
              <a:t>1. Discover + connect - the attendee finds a suitable hosted model in the Foundry Toolkit catalog, verifies their project, and makes a first Responses API call.</a:t>
            </a:r>
          </a:p>
          <a:p>
            <a:r>
              <a:rPr lang="en-US"/>
              <a:t>2. Analyze + govern - they return structured sentiment JSON and route regulated signals independently for human review.</a:t>
            </a:r>
          </a:p>
          <a:p>
            <a:r>
              <a:rPr lang="en-US"/>
              <a:t>3. Test + deploy - they test locally in Agent Inspector and publish Python source as a managed hosted agent with azd.</a:t>
            </a:r>
          </a:p>
          <a:p>
            <a:r>
              <a:rPr lang="en-US"/>
              <a:t>Emphasize the foundation message: "The model supplies signals. Deterministic code owns the routing decision." Repeat this line at least three times during the session - it is the concept attendees should leave with even if a lab fails.</a:t>
            </a:r>
          </a:p>
          <a:p>
            <a:r>
              <a:rPr lang="en-US"/>
              <a:t>Transition: "Here's how those outcomes map to 75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65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OF SHOW - 75 MINUTES (~3 min)</a:t>
            </a:r>
          </a:p>
          <a:p>
            <a:r>
              <a:rPr lang="en-US"/>
              <a:t>Purpose: give presenters the timing spine and the discipline to hold it.</a:t>
            </a:r>
          </a:p>
          <a:p>
            <a:r>
              <a:rPr lang="en-US"/>
              <a:t>Walk the blocks: Open 3, Lab 1 (10), Lab 2 (5), Lab 3 (12), Lab 4 (20), Lab 6 (20), Close 5.</a:t>
            </a:r>
          </a:p>
          <a:p>
            <a:r>
              <a:rPr lang="en-US"/>
              <a:t>Coach the timing: Labs 4 and 6 are where the learning lands, so protect them. If you are behind, compress Lab 1 - skip the Model Playground and just show the catalog comparison.</a:t>
            </a:r>
          </a:p>
          <a:p>
            <a:r>
              <a:rPr lang="en-US"/>
              <a:t>Note for trainers: Lab 5 (model comparison) and the optional evaluations are self-paced extensions, not part of the live run. Mention them at the close, don't teach them live.</a:t>
            </a:r>
          </a:p>
          <a:p>
            <a:r>
              <a:rPr lang="en-US"/>
              <a:t>Call out checkpoints: announce the remaining time at the end of each lab so attendees self-pace.</a:t>
            </a:r>
          </a:p>
          <a:p>
            <a:r>
              <a:rPr lang="en-US"/>
              <a:t>Transition: "Timing only works if the environment behaves - so know which environment you're 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44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KNOW THE DELIVERY ENVIRONMENT (~4 min)</a:t>
            </a:r>
          </a:p>
          <a:p>
            <a:r>
              <a:rPr lang="en-US"/>
              <a:t>Purpose: prevent the single most common delivery failure - a presenter following the self-paced setup instructions inside a pre-provisioned Skillable seat.</a:t>
            </a:r>
          </a:p>
          <a:p>
            <a:r>
              <a:rPr lang="en-US"/>
              <a:t>In the live Skillable lab everything is done for the attendee: repo cloned, Foundry project provisioned, gpt-5.4-mini deployed, .env configured, Foundry Toolkit installed, and credentials shown in the lab panel. Attendees should not provision anything.</a:t>
            </a:r>
          </a:p>
          <a:p>
            <a:r>
              <a:rPr lang="en-US"/>
              <a:t>For trainer rehearsal or self-study, the path is different: follow setup/SETUP.md, align the Azure CLI and azd tenant plus subscription, install the microsoft.foundry extension bundle, confirm model quota before provisioning, run the offline validator, and expect billable resources from azd up.</a:t>
            </a:r>
          </a:p>
          <a:p>
            <a:r>
              <a:rPr lang="en-US"/>
              <a:t>Say plainly: "If an attendee is trying to run setup steps, they are on the wrong path - send them back to the lab panel."</a:t>
            </a:r>
          </a:p>
          <a:p>
            <a:r>
              <a:rPr lang="en-US"/>
              <a:t>Hard rule to state out loud: never show .env values, access tokens, passwords, or connection strings on screen. Verify by printing variable names only, never values.</a:t>
            </a:r>
          </a:p>
          <a:p>
            <a:r>
              <a:rPr lang="en-US"/>
              <a:t>Transition: "Here's what you do before you ever walk into the room."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19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READINESS CHECKLIST (~4 min)</a:t>
            </a:r>
          </a:p>
          <a:p>
            <a:r>
              <a:rPr lang="en-US"/>
              <a:t>Purpose: this is the pre-delivery contract. Complete it 24-48 hours before delivery, not the morning of.</a:t>
            </a:r>
          </a:p>
          <a:p>
            <a:r>
              <a:rPr lang="en-US"/>
              <a:t>Walk the six items:</a:t>
            </a:r>
          </a:p>
          <a:p>
            <a:r>
              <a:rPr lang="en-US"/>
              <a:t>01 Run every core lab on the exact delivery tenant and machine - a different tenant is a different result.</a:t>
            </a:r>
          </a:p>
          <a:p>
            <a:r>
              <a:rPr lang="en-US"/>
              <a:t>02 Validate the seat - the validator must end with zero failures and PASS.</a:t>
            </a:r>
          </a:p>
          <a:p>
            <a:r>
              <a:rPr lang="en-US"/>
              <a:t>03 Test both paths - first inference and local Agent Inspector, so you know what healthy output looks like.</a:t>
            </a:r>
          </a:p>
          <a:p>
            <a:r>
              <a:rPr lang="en-US"/>
              <a:t>04 Preflight cloud - azd 1.27.1 or later, the extension installed, auth aligned across CLI and azd.</a:t>
            </a:r>
          </a:p>
          <a:p>
            <a:r>
              <a:rPr lang="en-US"/>
              <a:t>05 Stage fallbacks - screenshots, known-good output, and a pre-deployed agent you can invoke if a live deploy stalls.</a:t>
            </a:r>
          </a:p>
          <a:p>
            <a:r>
              <a:rPr lang="en-US"/>
              <a:t>06 Protect the room - readable fonts, clean browser, no secrets visible anywhere.</a:t>
            </a:r>
          </a:p>
          <a:p>
            <a:r>
              <a:rPr lang="en-US"/>
              <a:t>Coaching point: item 05 is what separates a smooth session from a stalled one. Have the fallback assets open in a background tab before you start.</a:t>
            </a:r>
          </a:p>
          <a:p>
            <a:r>
              <a:rPr lang="en-US"/>
              <a:t>Transition: "Now the story you open with."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56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A CLEAR STORY (~3 min, mirrors the 3-minute Open block)</a:t>
            </a:r>
          </a:p>
          <a:p>
            <a:r>
              <a:rPr lang="en-US"/>
              <a:t>Purpose: model the opening narrative for presenters. Deliver it as you would in the room, then step out and explain why it works.</a:t>
            </a:r>
          </a:p>
          <a:p>
            <a:r>
              <a:rPr lang="en-US"/>
              <a:t>Set the role: "You are an AI developer on Caldova's commercial digital and customer engagement team."</a:t>
            </a:r>
          </a:p>
          <a:p>
            <a:r>
              <a:rPr lang="en-US"/>
              <a:t>Four beats:</a:t>
            </a:r>
          </a:p>
          <a:p>
            <a:r>
              <a:rPr lang="en-US"/>
              <a:t>- The signal: consumer feedback arrives at scale across B2C channels.</a:t>
            </a:r>
          </a:p>
          <a:p>
            <a:r>
              <a:rPr lang="en-US"/>
              <a:t>- The task: classify sentiment and summarize topics consistently.</a:t>
            </a:r>
          </a:p>
          <a:p>
            <a:r>
              <a:rPr lang="en-US"/>
              <a:t>- The guardrail: route regulated signals to people, independently from sentiment.</a:t>
            </a:r>
          </a:p>
          <a:p>
            <a:r>
              <a:rPr lang="en-US"/>
              <a:t>- The finish: deploy the workflow as a callable hosted agent.</a:t>
            </a:r>
          </a:p>
          <a:p>
            <a:r>
              <a:rPr lang="en-US"/>
              <a:t>Why it works: it gives every lab a business reason, and it plants the governance idea before any code appears - so Lab 4 lands as an obvious requirement rather than an extra step.</a:t>
            </a:r>
          </a:p>
          <a:p>
            <a:r>
              <a:rPr lang="en-US"/>
              <a:t>Keep it under three minutes. Resist adding product history.</a:t>
            </a:r>
          </a:p>
          <a:p>
            <a:r>
              <a:rPr lang="en-US"/>
              <a:t>Transition: "Labs 1 and 2 get everyone oriented and verified."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18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LABS 1-2: ORIENT, THEN VERIFY (~15 min live: 10 + 5)</a:t>
            </a:r>
          </a:p>
          <a:p>
            <a:r>
              <a:rPr lang="en-US"/>
              <a:t>Lab 1 - Foundry Toolkit. Show the Model Catalog under Developer Tools. Compare gpt-5.4-mini, gpt-5.4, and Phi-4 across capability, quality, latency, and cost. The teaching point is model selection as an engineering trade-off, not a leaderboard. Use the Model Playground only if you are on time.</a:t>
            </a:r>
          </a:p>
          <a:p>
            <a:r>
              <a:rPr lang="en-US"/>
              <a:t>Lab 2 - Validation. Confirm PROJECT_ENDPOINT and MODEL_DEPLOYMENT_NAME exist without revealing their values. Run: python -X utf8 src/tests/validate_lab.py</a:t>
            </a:r>
          </a:p>
          <a:p>
            <a:r>
              <a:rPr lang="en-US"/>
              <a:t>Gate the room here: proceed only when the result is PASS with zero failed checks. It is far cheaper to fix a seat now than during Lab 4.</a:t>
            </a:r>
          </a:p>
          <a:p>
            <a:r>
              <a:rPr lang="en-US"/>
              <a:t>Critical rule: do not reprovision Skillable seats. If a seat is broken, escalate it to a proctor and keep the room moving.</a:t>
            </a:r>
          </a:p>
          <a:p>
            <a:r>
              <a:rPr lang="en-US"/>
              <a:t>Watch for: attendees editing .env by hand, and anyone screen-sharing values during the check.</a:t>
            </a:r>
          </a:p>
          <a:p>
            <a:r>
              <a:rPr lang="en-US"/>
              <a:t>Transition: "With everyone verified, we move from a raw response to a governed application."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26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LABS 3-4: FROM RESPONSE TO GOVERNED APP (~32 min live: 12 + 20)</a:t>
            </a:r>
          </a:p>
          <a:p>
            <a:r>
              <a:rPr lang="en-US"/>
              <a:t>Use the five-stage spine on screen - Discover, Verify, Connect, Govern, Deploy - to show attendees where they are. Right now they're at Connect and Govern.</a:t>
            </a:r>
          </a:p>
          <a:p>
            <a:r>
              <a:rPr lang="en-US"/>
              <a:t>Lab 3 (12 min): AIProjectClient -&gt; get_openai_client() -&gt; responses.create() -&gt; output_text plus usage. Narrate each hop: the project client is the entry point, the OpenAI-shaped client is the familiar surface, and usage is how they'll reason about cost later.</a:t>
            </a:r>
          </a:p>
          <a:p>
            <a:r>
              <a:rPr lang="en-US"/>
              <a:t>Lab 4 (20 min): structured JSON output, conservative parsing, an independent review_category, and a deterministic route. This is the heart of the workshop - protect the full 20 minutes.</a:t>
            </a:r>
          </a:p>
          <a:p>
            <a:r>
              <a:rPr lang="en-US"/>
              <a:t>Narrate the boundary explicitly: the model produces probabilistic signals; your code makes the decision. Conservative parsing means a malformed response falls back safely rather than guessing.</a:t>
            </a:r>
          </a:p>
          <a:p>
            <a:r>
              <a:rPr lang="en-US"/>
              <a:t>Common stumbles: schema drift in the model output, and attendees inferring review_category from sentiment. Correct that immediately - see the next slide.</a:t>
            </a:r>
          </a:p>
          <a:p>
            <a:r>
              <a:rPr lang="en-US"/>
              <a:t>Transition: "This next point is the one thing you cannot skip."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44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SAFETY POINT YOU MUST NOT SKIP (~3 min - deliver this even if you are behind)</a:t>
            </a:r>
          </a:p>
          <a:p>
            <a:r>
              <a:rPr lang="en-US"/>
              <a:t>Core statement: sentiment and regulated review are independent signals. A glowing positive comment can still require human review; an angry comment may not.</a:t>
            </a:r>
          </a:p>
          <a:p>
            <a:r>
              <a:rPr lang="en-US"/>
              <a:t>What the model supplies: sentiment, confidence, topics, review_category, summary.</a:t>
            </a:r>
          </a:p>
          <a:p>
            <a:r>
              <a:rPr lang="en-US"/>
              <a:t>What the code decides: whether it goes to human review, to a dashboard, to a second look, or to the fallback path when JSON is malformed.</a:t>
            </a:r>
          </a:p>
          <a:p>
            <a:r>
              <a:rPr lang="en-US"/>
              <a:t>What we never claim: causality, seriousness, diagnosis, or treatment advice. The system surfaces signals for people - it does not make regulated determinations.</a:t>
            </a:r>
          </a:p>
          <a:p>
            <a:r>
              <a:rPr lang="en-US"/>
              <a:t>Delivery tip: pause here. Ask the room, "If sentiment is positive and review_category is set, what happens?" The answer is human review - the two are independent.</a:t>
            </a:r>
          </a:p>
          <a:p>
            <a:r>
              <a:rPr lang="en-US"/>
              <a:t>If you are out of time everywhere else, deliver this slide anyway. It is the responsible-AI spine of the session.</a:t>
            </a:r>
          </a:p>
          <a:p>
            <a:r>
              <a:rPr lang="en-US"/>
              <a:t>Transition: "Now we prove it locally, then ship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92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LAB 6: LOCAL PROOF, THEN CLOUD (~20 min)</a:t>
            </a:r>
          </a:p>
          <a:p>
            <a:r>
              <a:rPr lang="en-US"/>
              <a:t>Frame it as direct-code deployment through the unified root azure.yaml - the same Python source runs locally and hosted.</a:t>
            </a:r>
          </a:p>
          <a:p>
            <a:r>
              <a:rPr lang="en-US"/>
              <a:t>Five steps:</a:t>
            </a:r>
          </a:p>
          <a:p>
            <a:r>
              <a:rPr lang="en-US"/>
              <a:t>1. Inspect - FoundryChatClient and ResponsesHostServer; show where the agent surface is defined.</a:t>
            </a:r>
          </a:p>
          <a:p>
            <a:r>
              <a:rPr lang="en-US"/>
              <a:t>2. Test locally - F5 into Agent Inspector and confirm a valid JSON response before touching the cloud.</a:t>
            </a:r>
          </a:p>
          <a:p>
            <a:r>
              <a:rPr lang="en-US"/>
              <a:t>3. Deploy - azd up, first environment.</a:t>
            </a:r>
          </a:p>
          <a:p>
            <a:r>
              <a:rPr lang="en-US"/>
              <a:t>4. Verify - azd ai agent show, expect status: active.</a:t>
            </a:r>
          </a:p>
          <a:p>
            <a:r>
              <a:rPr lang="en-US"/>
              <a:t>5. Invoke - azd ai agent invoke as a remote smoke test.</a:t>
            </a:r>
          </a:p>
          <a:p>
            <a:r>
              <a:rPr lang="en-US"/>
              <a:t>Teaching point: local proof first. If it doesn't work in Agent Inspector, deploying will not fix it.</a:t>
            </a:r>
          </a:p>
          <a:p>
            <a:r>
              <a:rPr lang="en-US"/>
              <a:t>Say clearly: use azd deploy only for later code-only updates, and remind the room that cloud commands can create charges.</a:t>
            </a:r>
          </a:p>
          <a:p>
            <a:r>
              <a:rPr lang="en-US"/>
              <a:t>Timing warning: the first azd up includes a remote build and can run several minutes. Keep narrating what's happening - build, managed runtime, identity, versioning - or cut to the pre-deployed agent.</a:t>
            </a:r>
          </a:p>
          <a:p>
            <a:r>
              <a:rPr lang="en-US"/>
              <a:t>Transition: "When something breaks, work the layers."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2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TROUBLESHOOTING TRIAGE (~4 min)</a:t>
            </a:r>
          </a:p>
          <a:p>
            <a:r>
              <a:rPr lang="en-US"/>
              <a:t>Method first: read the exact error, then fix the smallest failing layer. Don't restart the lab because of a one-line failure.</a:t>
            </a:r>
          </a:p>
          <a:p>
            <a:r>
              <a:rPr lang="en-US"/>
              <a:t>Walk the table:</a:t>
            </a:r>
          </a:p>
          <a:p>
            <a:r>
              <a:rPr lang="en-US"/>
              <a:t>- Validator fails -&gt; missing dependency or a wrong .env name. Follow the validator's guidance; never expose values while debugging.</a:t>
            </a:r>
          </a:p>
          <a:p>
            <a:r>
              <a:rPr lang="en-US"/>
              <a:t>- 401 / 403 -&gt; wrong auth context or RBAC still propagating. Align tenant and subscription, wait briefly, then retry.</a:t>
            </a:r>
          </a:p>
          <a:p>
            <a:r>
              <a:rPr lang="en-US"/>
              <a:t>- Model deployment error -&gt; quota or region availability. Use the assigned Skillable project; escalate the seat rather than provisioning a new one.</a:t>
            </a:r>
          </a:p>
          <a:p>
            <a:r>
              <a:rPr lang="en-US"/>
              <a:t>- Agent startup error -&gt; agent requirements not installed: pip install -r src/agent/requirements.txt</a:t>
            </a:r>
          </a:p>
          <a:p>
            <a:r>
              <a:rPr lang="en-US"/>
              <a:t>- azd deployment stalls -&gt; the first remote build is still running. Keep narrating; use staged output if needed.</a:t>
            </a:r>
          </a:p>
          <a:p>
            <a:r>
              <a:rPr lang="en-US"/>
              <a:t>Coaching point: say the symptom out loud as you triage. Attendees learn the debugging method as much as the fix.</a:t>
            </a:r>
          </a:p>
          <a:p>
            <a:r>
              <a:rPr lang="en-US"/>
              <a:t>Transition: "And when a fix isn't fast, protect the learning instead of the demo."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33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PROTECT THE LEARNING FLOW (~3 min)</a:t>
            </a:r>
          </a:p>
          <a:p>
            <a:r>
              <a:rPr lang="en-US"/>
              <a:t>Principle: recovery options should preserve the concept, not just the demo. Attendees can still learn the idea from known-good output.</a:t>
            </a:r>
          </a:p>
          <a:p>
            <a:r>
              <a:rPr lang="en-US"/>
              <a:t>Three scenarios:</a:t>
            </a:r>
          </a:p>
          <a:p>
            <a:r>
              <a:rPr lang="en-US"/>
              <a:t>1. If inference fails - show known-good output, explain output_text, status, and usage, then let proctors repair affected seats while the room continues.</a:t>
            </a:r>
          </a:p>
          <a:p>
            <a:r>
              <a:rPr lang="en-US"/>
              <a:t>2. If deployment is slow - narrate remote build, managed runtime, identity, and versioning, then switch to a pre-deployed agent for the smoke test.</a:t>
            </a:r>
          </a:p>
          <a:p>
            <a:r>
              <a:rPr lang="en-US"/>
              <a:t>3. If a seat is blocked - pair the attendee with a working neighbour or move them to observation mode, and log the seat issue for venue support.</a:t>
            </a:r>
          </a:p>
          <a:p>
            <a:r>
              <a:rPr lang="en-US"/>
              <a:t>Hard rule: do not spend more than five minutes on one seat while the full room waits. Hand it to a proctor and keep going.</a:t>
            </a:r>
          </a:p>
          <a:p>
            <a:r>
              <a:rPr lang="en-US"/>
              <a:t>Delivery tip: announce the fallback rather than hiding it - "I'm going to use a pre-deployed agent so we stay on time" keeps credibility intact.</a:t>
            </a:r>
          </a:p>
          <a:p>
            <a:r>
              <a:rPr lang="en-US"/>
              <a:t>Transition: "Close by putting the whole journey back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00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ON THE COMPLETE JOURNEY (~5 min)</a:t>
            </a:r>
          </a:p>
          <a:p>
            <a:r>
              <a:rPr lang="en-US"/>
              <a:t>Return to the five-stage spine and let attendees narrate it back: catalog -&gt; project + .env -&gt; Responses API -&gt; JSON and routing -&gt; hosted agent. Discover, Verify, Connect, Govern, Deploy.</a:t>
            </a:r>
          </a:p>
          <a:p>
            <a:r>
              <a:rPr lang="en-US"/>
              <a:t>Restate the foundation message one final time: the model supplies signals; deterministic code owns the routing decision.</a:t>
            </a:r>
          </a:p>
          <a:p>
            <a:r>
              <a:rPr lang="en-US"/>
              <a:t>Point to the self-paced extensions: Lab 5 compares gpt-5.4-mini and gpt-5.4, and the optional evaluations compare generated coverage with curated golden cases. Encourage attendees to run these after the event on their own subscription.</a:t>
            </a:r>
          </a:p>
          <a:p>
            <a:r>
              <a:rPr lang="en-US"/>
              <a:t>Share the links on screen: resource center at aka.ms/aitour27-resource-center and the community at aka.ms/MicrosoftFoundryDiscord-AITour27.</a:t>
            </a:r>
          </a:p>
          <a:p>
            <a:r>
              <a:rPr lang="en-US"/>
              <a:t>Close with a clear call to action: pick one workflow in your own organisation where a model supplies signals and your code makes the decision, and prototype it this month.</a:t>
            </a:r>
          </a:p>
          <a:p>
            <a:r>
              <a:rPr lang="en-US"/>
              <a:t>Leave time for two or three questions, then thank the room and stay available for individual seat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CB1A9-1BC1-4440-98A0-B2D1F6D193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4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6F5673-27D5-8494-291A-0C7F83EDF46D}"/>
              </a:ext>
            </a:extLst>
          </p:cNvPr>
          <p:cNvSpPr/>
          <p:nvPr userDrawn="1"/>
        </p:nvSpPr>
        <p:spPr>
          <a:xfrm>
            <a:off x="536575" y="2458622"/>
            <a:ext cx="3865501" cy="1703804"/>
          </a:xfrm>
          <a:custGeom>
            <a:avLst/>
            <a:gdLst>
              <a:gd name="csX0" fmla="*/ 542449 w 3308032"/>
              <a:gd name="csY0" fmla="*/ 193548 h 1458087"/>
              <a:gd name="csX1" fmla="*/ 543401 w 3308032"/>
              <a:gd name="csY1" fmla="*/ 149066 h 1458087"/>
              <a:gd name="csX2" fmla="*/ 541211 w 3308032"/>
              <a:gd name="csY2" fmla="*/ 149066 h 1458087"/>
              <a:gd name="csX3" fmla="*/ 534924 w 3308032"/>
              <a:gd name="csY3" fmla="*/ 168593 h 1458087"/>
              <a:gd name="csX4" fmla="*/ 528257 w 3308032"/>
              <a:gd name="csY4" fmla="*/ 186309 h 1458087"/>
              <a:gd name="csX5" fmla="*/ 374618 w 3308032"/>
              <a:gd name="csY5" fmla="*/ 572929 h 1458087"/>
              <a:gd name="csX6" fmla="*/ 310229 w 3308032"/>
              <a:gd name="csY6" fmla="*/ 572929 h 1458087"/>
              <a:gd name="csX7" fmla="*/ 155448 w 3308032"/>
              <a:gd name="csY7" fmla="*/ 189738 h 1458087"/>
              <a:gd name="csX8" fmla="*/ 149352 w 3308032"/>
              <a:gd name="csY8" fmla="*/ 172402 h 1458087"/>
              <a:gd name="csX9" fmla="*/ 141351 w 3308032"/>
              <a:gd name="csY9" fmla="*/ 149162 h 1458087"/>
              <a:gd name="csX10" fmla="*/ 139160 w 3308032"/>
              <a:gd name="csY10" fmla="*/ 149162 h 1458087"/>
              <a:gd name="csX11" fmla="*/ 140303 w 3308032"/>
              <a:gd name="csY11" fmla="*/ 195834 h 1458087"/>
              <a:gd name="csX12" fmla="*/ 140684 w 3308032"/>
              <a:gd name="csY12" fmla="*/ 246602 h 1458087"/>
              <a:gd name="csX13" fmla="*/ 140684 w 3308032"/>
              <a:gd name="csY13" fmla="*/ 572929 h 1458087"/>
              <a:gd name="csX14" fmla="*/ 55817 w 3308032"/>
              <a:gd name="csY14" fmla="*/ 572929 h 1458087"/>
              <a:gd name="csX15" fmla="*/ 55817 w 3308032"/>
              <a:gd name="csY15" fmla="*/ 39338 h 1458087"/>
              <a:gd name="csX16" fmla="*/ 185642 w 3308032"/>
              <a:gd name="csY16" fmla="*/ 39338 h 1458087"/>
              <a:gd name="csX17" fmla="*/ 322231 w 3308032"/>
              <a:gd name="csY17" fmla="*/ 383477 h 1458087"/>
              <a:gd name="csX18" fmla="*/ 334709 w 3308032"/>
              <a:gd name="csY18" fmla="*/ 415671 h 1458087"/>
              <a:gd name="csX19" fmla="*/ 343853 w 3308032"/>
              <a:gd name="csY19" fmla="*/ 444913 h 1458087"/>
              <a:gd name="csX20" fmla="*/ 346043 w 3308032"/>
              <a:gd name="csY20" fmla="*/ 444913 h 1458087"/>
              <a:gd name="csX21" fmla="*/ 358140 w 3308032"/>
              <a:gd name="csY21" fmla="*/ 412528 h 1458087"/>
              <a:gd name="csX22" fmla="*/ 369475 w 3308032"/>
              <a:gd name="csY22" fmla="*/ 382429 h 1458087"/>
              <a:gd name="csX23" fmla="*/ 507873 w 3308032"/>
              <a:gd name="csY23" fmla="*/ 39338 h 1458087"/>
              <a:gd name="csX24" fmla="*/ 632555 w 3308032"/>
              <a:gd name="csY24" fmla="*/ 39338 h 1458087"/>
              <a:gd name="csX25" fmla="*/ 632555 w 3308032"/>
              <a:gd name="csY25" fmla="*/ 572929 h 1458087"/>
              <a:gd name="csX26" fmla="*/ 542163 w 3308032"/>
              <a:gd name="csY26" fmla="*/ 572929 h 1458087"/>
              <a:gd name="csX27" fmla="*/ 542163 w 3308032"/>
              <a:gd name="csY27" fmla="*/ 234315 h 1458087"/>
              <a:gd name="csX28" fmla="*/ 542735 w 3308032"/>
              <a:gd name="csY28" fmla="*/ 193548 h 1458087"/>
              <a:gd name="csX29" fmla="*/ 768001 w 3308032"/>
              <a:gd name="csY29" fmla="*/ 14383 h 1458087"/>
              <a:gd name="csX30" fmla="*/ 728567 w 3308032"/>
              <a:gd name="csY30" fmla="*/ 29623 h 1458087"/>
              <a:gd name="csX31" fmla="*/ 713327 w 3308032"/>
              <a:gd name="csY31" fmla="*/ 67247 h 1458087"/>
              <a:gd name="csX32" fmla="*/ 728567 w 3308032"/>
              <a:gd name="csY32" fmla="*/ 104966 h 1458087"/>
              <a:gd name="csX33" fmla="*/ 768001 w 3308032"/>
              <a:gd name="csY33" fmla="*/ 120777 h 1458087"/>
              <a:gd name="csX34" fmla="*/ 808196 w 3308032"/>
              <a:gd name="csY34" fmla="*/ 105537 h 1458087"/>
              <a:gd name="csX35" fmla="*/ 823436 w 3308032"/>
              <a:gd name="csY35" fmla="*/ 67627 h 1458087"/>
              <a:gd name="csX36" fmla="*/ 808196 w 3308032"/>
              <a:gd name="csY36" fmla="*/ 29718 h 1458087"/>
              <a:gd name="csX37" fmla="*/ 768001 w 3308032"/>
              <a:gd name="csY37" fmla="*/ 14478 h 1458087"/>
              <a:gd name="csX38" fmla="*/ 723329 w 3308032"/>
              <a:gd name="csY38" fmla="*/ 572834 h 1458087"/>
              <a:gd name="csX39" fmla="*/ 812292 w 3308032"/>
              <a:gd name="csY39" fmla="*/ 572834 h 1458087"/>
              <a:gd name="csX40" fmla="*/ 812292 w 3308032"/>
              <a:gd name="csY40" fmla="*/ 191834 h 1458087"/>
              <a:gd name="csX41" fmla="*/ 723329 w 3308032"/>
              <a:gd name="csY41" fmla="*/ 191834 h 1458087"/>
              <a:gd name="csX42" fmla="*/ 723329 w 3308032"/>
              <a:gd name="csY42" fmla="*/ 572834 h 1458087"/>
              <a:gd name="csX43" fmla="*/ 1079278 w 3308032"/>
              <a:gd name="csY43" fmla="*/ 581787 h 1458087"/>
              <a:gd name="csX44" fmla="*/ 1169099 w 3308032"/>
              <a:gd name="csY44" fmla="*/ 561689 h 1458087"/>
              <a:gd name="csX45" fmla="*/ 1234726 w 3308032"/>
              <a:gd name="csY45" fmla="*/ 500253 h 1458087"/>
              <a:gd name="csX46" fmla="*/ 1165860 w 3308032"/>
              <a:gd name="csY46" fmla="*/ 461582 h 1458087"/>
              <a:gd name="csX47" fmla="*/ 1127951 w 3308032"/>
              <a:gd name="csY47" fmla="*/ 497110 h 1458087"/>
              <a:gd name="csX48" fmla="*/ 1081469 w 3308032"/>
              <a:gd name="csY48" fmla="*/ 507683 h 1458087"/>
              <a:gd name="csX49" fmla="*/ 1004126 w 3308032"/>
              <a:gd name="csY49" fmla="*/ 475298 h 1458087"/>
              <a:gd name="csX50" fmla="*/ 975074 w 3308032"/>
              <a:gd name="csY50" fmla="*/ 383000 h 1458087"/>
              <a:gd name="csX51" fmla="*/ 1004506 w 3308032"/>
              <a:gd name="csY51" fmla="*/ 288512 h 1458087"/>
              <a:gd name="csX52" fmla="*/ 1079278 w 3308032"/>
              <a:gd name="csY52" fmla="*/ 254699 h 1458087"/>
              <a:gd name="csX53" fmla="*/ 1125379 w 3308032"/>
              <a:gd name="csY53" fmla="*/ 265462 h 1458087"/>
              <a:gd name="csX54" fmla="*/ 1162622 w 3308032"/>
              <a:gd name="csY54" fmla="*/ 301943 h 1458087"/>
              <a:gd name="csX55" fmla="*/ 1232535 w 3308032"/>
              <a:gd name="csY55" fmla="*/ 267367 h 1458087"/>
              <a:gd name="csX56" fmla="*/ 1172432 w 3308032"/>
              <a:gd name="csY56" fmla="*/ 204311 h 1458087"/>
              <a:gd name="csX57" fmla="*/ 1082231 w 3308032"/>
              <a:gd name="csY57" fmla="*/ 182880 h 1458087"/>
              <a:gd name="csX58" fmla="*/ 939356 w 3308032"/>
              <a:gd name="csY58" fmla="*/ 238125 h 1458087"/>
              <a:gd name="csX59" fmla="*/ 884301 w 3308032"/>
              <a:gd name="csY59" fmla="*/ 389001 h 1458087"/>
              <a:gd name="csX60" fmla="*/ 936022 w 3308032"/>
              <a:gd name="csY60" fmla="*/ 528923 h 1458087"/>
              <a:gd name="csX61" fmla="*/ 1079278 w 3308032"/>
              <a:gd name="csY61" fmla="*/ 581787 h 1458087"/>
              <a:gd name="csX62" fmla="*/ 1393031 w 3308032"/>
              <a:gd name="csY62" fmla="*/ 384524 h 1458087"/>
              <a:gd name="csX63" fmla="*/ 1416653 w 3308032"/>
              <a:gd name="csY63" fmla="*/ 296323 h 1458087"/>
              <a:gd name="csX64" fmla="*/ 1478566 w 3308032"/>
              <a:gd name="csY64" fmla="*/ 262795 h 1458087"/>
              <a:gd name="csX65" fmla="*/ 1501807 w 3308032"/>
              <a:gd name="csY65" fmla="*/ 265176 h 1458087"/>
              <a:gd name="csX66" fmla="*/ 1523619 w 3308032"/>
              <a:gd name="csY66" fmla="*/ 271653 h 1458087"/>
              <a:gd name="csX67" fmla="*/ 1547432 w 3308032"/>
              <a:gd name="csY67" fmla="*/ 195739 h 1458087"/>
              <a:gd name="csX68" fmla="*/ 1521047 w 3308032"/>
              <a:gd name="csY68" fmla="*/ 187166 h 1458087"/>
              <a:gd name="csX69" fmla="*/ 1494282 w 3308032"/>
              <a:gd name="csY69" fmla="*/ 184975 h 1458087"/>
              <a:gd name="csX70" fmla="*/ 1433989 w 3308032"/>
              <a:gd name="csY70" fmla="*/ 204502 h 1458087"/>
              <a:gd name="csX71" fmla="*/ 1394555 w 3308032"/>
              <a:gd name="csY71" fmla="*/ 260509 h 1458087"/>
              <a:gd name="csX72" fmla="*/ 1393031 w 3308032"/>
              <a:gd name="csY72" fmla="*/ 260509 h 1458087"/>
              <a:gd name="csX73" fmla="*/ 1393031 w 3308032"/>
              <a:gd name="csY73" fmla="*/ 191643 h 1458087"/>
              <a:gd name="csX74" fmla="*/ 1304068 w 3308032"/>
              <a:gd name="csY74" fmla="*/ 191643 h 1458087"/>
              <a:gd name="csX75" fmla="*/ 1304068 w 3308032"/>
              <a:gd name="csY75" fmla="*/ 572643 h 1458087"/>
              <a:gd name="csX76" fmla="*/ 1393031 w 3308032"/>
              <a:gd name="csY76" fmla="*/ 572643 h 1458087"/>
              <a:gd name="csX77" fmla="*/ 1393031 w 3308032"/>
              <a:gd name="csY77" fmla="*/ 384334 h 1458087"/>
              <a:gd name="csX78" fmla="*/ 1621917 w 3308032"/>
              <a:gd name="csY78" fmla="*/ 528542 h 1458087"/>
              <a:gd name="csX79" fmla="*/ 1568482 w 3308032"/>
              <a:gd name="csY79" fmla="*/ 385286 h 1458087"/>
              <a:gd name="csX80" fmla="*/ 1625060 w 3308032"/>
              <a:gd name="csY80" fmla="*/ 238506 h 1458087"/>
              <a:gd name="csX81" fmla="*/ 1771269 w 3308032"/>
              <a:gd name="csY81" fmla="*/ 182880 h 1458087"/>
              <a:gd name="csX82" fmla="*/ 1914335 w 3308032"/>
              <a:gd name="csY82" fmla="*/ 237554 h 1458087"/>
              <a:gd name="csX83" fmla="*/ 1966627 w 3308032"/>
              <a:gd name="csY83" fmla="*/ 378905 h 1458087"/>
              <a:gd name="csX84" fmla="*/ 1911572 w 3308032"/>
              <a:gd name="csY84" fmla="*/ 524542 h 1458087"/>
              <a:gd name="csX85" fmla="*/ 1766126 w 3308032"/>
              <a:gd name="csY85" fmla="*/ 581692 h 1458087"/>
              <a:gd name="csX86" fmla="*/ 1621917 w 3308032"/>
              <a:gd name="csY86" fmla="*/ 528447 h 1458087"/>
              <a:gd name="csX87" fmla="*/ 1659350 w 3308032"/>
              <a:gd name="csY87" fmla="*/ 383477 h 1458087"/>
              <a:gd name="csX88" fmla="*/ 1688973 w 3308032"/>
              <a:gd name="csY88" fmla="*/ 476155 h 1458087"/>
              <a:gd name="csX89" fmla="*/ 1769555 w 3308032"/>
              <a:gd name="csY89" fmla="*/ 509969 h 1458087"/>
              <a:gd name="csX90" fmla="*/ 1847850 w 3308032"/>
              <a:gd name="csY90" fmla="*/ 475012 h 1458087"/>
              <a:gd name="csX91" fmla="*/ 1875568 w 3308032"/>
              <a:gd name="csY91" fmla="*/ 381286 h 1458087"/>
              <a:gd name="csX92" fmla="*/ 1847660 w 3308032"/>
              <a:gd name="csY92" fmla="*/ 289750 h 1458087"/>
              <a:gd name="csX93" fmla="*/ 1769174 w 3308032"/>
              <a:gd name="csY93" fmla="*/ 255175 h 1458087"/>
              <a:gd name="csX94" fmla="*/ 1689354 w 3308032"/>
              <a:gd name="csY94" fmla="*/ 290894 h 1458087"/>
              <a:gd name="csX95" fmla="*/ 1659446 w 3308032"/>
              <a:gd name="csY95" fmla="*/ 383572 h 1458087"/>
              <a:gd name="csX96" fmla="*/ 2267426 w 3308032"/>
              <a:gd name="csY96" fmla="*/ 547878 h 1458087"/>
              <a:gd name="csX97" fmla="*/ 2308003 w 3308032"/>
              <a:gd name="csY97" fmla="*/ 458915 h 1458087"/>
              <a:gd name="csX98" fmla="*/ 2276761 w 3308032"/>
              <a:gd name="csY98" fmla="*/ 380048 h 1458087"/>
              <a:gd name="csX99" fmla="*/ 2182273 w 3308032"/>
              <a:gd name="csY99" fmla="*/ 339471 h 1458087"/>
              <a:gd name="csX100" fmla="*/ 2127028 w 3308032"/>
              <a:gd name="csY100" fmla="*/ 321278 h 1458087"/>
              <a:gd name="csX101" fmla="*/ 2112359 w 3308032"/>
              <a:gd name="csY101" fmla="*/ 292227 h 1458087"/>
              <a:gd name="csX102" fmla="*/ 2126456 w 3308032"/>
              <a:gd name="csY102" fmla="*/ 261366 h 1458087"/>
              <a:gd name="csX103" fmla="*/ 2167795 w 3308032"/>
              <a:gd name="csY103" fmla="*/ 249460 h 1458087"/>
              <a:gd name="csX104" fmla="*/ 2211515 w 3308032"/>
              <a:gd name="csY104" fmla="*/ 258413 h 1458087"/>
              <a:gd name="csX105" fmla="*/ 2247043 w 3308032"/>
              <a:gd name="csY105" fmla="*/ 285179 h 1458087"/>
              <a:gd name="csX106" fmla="*/ 2298764 w 3308032"/>
              <a:gd name="csY106" fmla="*/ 238316 h 1458087"/>
              <a:gd name="csX107" fmla="*/ 2243328 w 3308032"/>
              <a:gd name="csY107" fmla="*/ 196596 h 1458087"/>
              <a:gd name="csX108" fmla="*/ 2170367 w 3308032"/>
              <a:gd name="csY108" fmla="*/ 182785 h 1458087"/>
              <a:gd name="csX109" fmla="*/ 2069211 w 3308032"/>
              <a:gd name="csY109" fmla="*/ 214598 h 1458087"/>
              <a:gd name="csX110" fmla="*/ 2029015 w 3308032"/>
              <a:gd name="csY110" fmla="*/ 302228 h 1458087"/>
              <a:gd name="csX111" fmla="*/ 2058638 w 3308032"/>
              <a:gd name="csY111" fmla="*/ 375380 h 1458087"/>
              <a:gd name="csX112" fmla="*/ 2163032 w 3308032"/>
              <a:gd name="csY112" fmla="*/ 417957 h 1458087"/>
              <a:gd name="csX113" fmla="*/ 2208943 w 3308032"/>
              <a:gd name="csY113" fmla="*/ 435959 h 1458087"/>
              <a:gd name="csX114" fmla="*/ 2224373 w 3308032"/>
              <a:gd name="csY114" fmla="*/ 467011 h 1458087"/>
              <a:gd name="csX115" fmla="*/ 2207990 w 3308032"/>
              <a:gd name="csY115" fmla="*/ 502158 h 1458087"/>
              <a:gd name="csX116" fmla="*/ 2162271 w 3308032"/>
              <a:gd name="csY116" fmla="*/ 514636 h 1458087"/>
              <a:gd name="csX117" fmla="*/ 2112645 w 3308032"/>
              <a:gd name="csY117" fmla="*/ 502920 h 1458087"/>
              <a:gd name="csX118" fmla="*/ 2068163 w 3308032"/>
              <a:gd name="csY118" fmla="*/ 463677 h 1458087"/>
              <a:gd name="csX119" fmla="*/ 2014633 w 3308032"/>
              <a:gd name="csY119" fmla="*/ 511683 h 1458087"/>
              <a:gd name="csX120" fmla="*/ 2074926 w 3308032"/>
              <a:gd name="csY120" fmla="*/ 563785 h 1458087"/>
              <a:gd name="csX121" fmla="*/ 2161604 w 3308032"/>
              <a:gd name="csY121" fmla="*/ 581692 h 1458087"/>
              <a:gd name="csX122" fmla="*/ 2267617 w 3308032"/>
              <a:gd name="csY122" fmla="*/ 547878 h 1458087"/>
              <a:gd name="csX123" fmla="*/ 2717292 w 3308032"/>
              <a:gd name="csY123" fmla="*/ 237554 h 1458087"/>
              <a:gd name="csX124" fmla="*/ 2769584 w 3308032"/>
              <a:gd name="csY124" fmla="*/ 378905 h 1458087"/>
              <a:gd name="csX125" fmla="*/ 2714530 w 3308032"/>
              <a:gd name="csY125" fmla="*/ 524542 h 1458087"/>
              <a:gd name="csX126" fmla="*/ 2569083 w 3308032"/>
              <a:gd name="csY126" fmla="*/ 581692 h 1458087"/>
              <a:gd name="csX127" fmla="*/ 2424875 w 3308032"/>
              <a:gd name="csY127" fmla="*/ 528447 h 1458087"/>
              <a:gd name="csX128" fmla="*/ 2371439 w 3308032"/>
              <a:gd name="csY128" fmla="*/ 385191 h 1458087"/>
              <a:gd name="csX129" fmla="*/ 2428018 w 3308032"/>
              <a:gd name="csY129" fmla="*/ 238411 h 1458087"/>
              <a:gd name="csX130" fmla="*/ 2574227 w 3308032"/>
              <a:gd name="csY130" fmla="*/ 182785 h 1458087"/>
              <a:gd name="csX131" fmla="*/ 2717292 w 3308032"/>
              <a:gd name="csY131" fmla="*/ 237458 h 1458087"/>
              <a:gd name="csX132" fmla="*/ 2678430 w 3308032"/>
              <a:gd name="csY132" fmla="*/ 381191 h 1458087"/>
              <a:gd name="csX133" fmla="*/ 2650522 w 3308032"/>
              <a:gd name="csY133" fmla="*/ 289655 h 1458087"/>
              <a:gd name="csX134" fmla="*/ 2572036 w 3308032"/>
              <a:gd name="csY134" fmla="*/ 255079 h 1458087"/>
              <a:gd name="csX135" fmla="*/ 2492216 w 3308032"/>
              <a:gd name="csY135" fmla="*/ 290798 h 1458087"/>
              <a:gd name="csX136" fmla="*/ 2462308 w 3308032"/>
              <a:gd name="csY136" fmla="*/ 383477 h 1458087"/>
              <a:gd name="csX137" fmla="*/ 2491931 w 3308032"/>
              <a:gd name="csY137" fmla="*/ 476155 h 1458087"/>
              <a:gd name="csX138" fmla="*/ 2572512 w 3308032"/>
              <a:gd name="csY138" fmla="*/ 509969 h 1458087"/>
              <a:gd name="csX139" fmla="*/ 2650808 w 3308032"/>
              <a:gd name="csY139" fmla="*/ 475012 h 1458087"/>
              <a:gd name="csX140" fmla="*/ 2678525 w 3308032"/>
              <a:gd name="csY140" fmla="*/ 381286 h 1458087"/>
              <a:gd name="csX141" fmla="*/ 3280410 w 3308032"/>
              <a:gd name="csY141" fmla="*/ 494729 h 1458087"/>
              <a:gd name="csX142" fmla="*/ 3257360 w 3308032"/>
              <a:gd name="csY142" fmla="*/ 507397 h 1458087"/>
              <a:gd name="csX143" fmla="*/ 3236500 w 3308032"/>
              <a:gd name="csY143" fmla="*/ 511112 h 1458087"/>
              <a:gd name="csX144" fmla="*/ 3205258 w 3308032"/>
              <a:gd name="csY144" fmla="*/ 497872 h 1458087"/>
              <a:gd name="csX145" fmla="*/ 3194114 w 3308032"/>
              <a:gd name="csY145" fmla="*/ 456724 h 1458087"/>
              <a:gd name="csX146" fmla="*/ 3194114 w 3308032"/>
              <a:gd name="csY146" fmla="*/ 260985 h 1458087"/>
              <a:gd name="csX147" fmla="*/ 3291269 w 3308032"/>
              <a:gd name="csY147" fmla="*/ 260985 h 1458087"/>
              <a:gd name="csX148" fmla="*/ 3291269 w 3308032"/>
              <a:gd name="csY148" fmla="*/ 191738 h 1458087"/>
              <a:gd name="csX149" fmla="*/ 3194114 w 3308032"/>
              <a:gd name="csY149" fmla="*/ 191738 h 1458087"/>
              <a:gd name="csX150" fmla="*/ 3194114 w 3308032"/>
              <a:gd name="csY150" fmla="*/ 82677 h 1458087"/>
              <a:gd name="csX151" fmla="*/ 3105150 w 3308032"/>
              <a:gd name="csY151" fmla="*/ 98298 h 1458087"/>
              <a:gd name="csX152" fmla="*/ 3105150 w 3308032"/>
              <a:gd name="csY152" fmla="*/ 191643 h 1458087"/>
              <a:gd name="csX153" fmla="*/ 2957227 w 3308032"/>
              <a:gd name="csY153" fmla="*/ 191643 h 1458087"/>
              <a:gd name="csX154" fmla="*/ 2957227 w 3308032"/>
              <a:gd name="csY154" fmla="*/ 130969 h 1458087"/>
              <a:gd name="csX155" fmla="*/ 2970086 w 3308032"/>
              <a:gd name="csY155" fmla="*/ 86297 h 1458087"/>
              <a:gd name="csX156" fmla="*/ 3006757 w 3308032"/>
              <a:gd name="csY156" fmla="*/ 71438 h 1458087"/>
              <a:gd name="csX157" fmla="*/ 3029236 w 3308032"/>
              <a:gd name="csY157" fmla="*/ 74962 h 1458087"/>
              <a:gd name="csX158" fmla="*/ 3049143 w 3308032"/>
              <a:gd name="csY158" fmla="*/ 84868 h 1458087"/>
              <a:gd name="csX159" fmla="*/ 3085624 w 3308032"/>
              <a:gd name="csY159" fmla="*/ 20479 h 1458087"/>
              <a:gd name="csX160" fmla="*/ 3045429 w 3308032"/>
              <a:gd name="csY160" fmla="*/ 5048 h 1458087"/>
              <a:gd name="csX161" fmla="*/ 3003042 w 3308032"/>
              <a:gd name="csY161" fmla="*/ 0 h 1458087"/>
              <a:gd name="csX162" fmla="*/ 2903887 w 3308032"/>
              <a:gd name="csY162" fmla="*/ 34957 h 1458087"/>
              <a:gd name="csX163" fmla="*/ 2868740 w 3308032"/>
              <a:gd name="csY163" fmla="*/ 130207 h 1458087"/>
              <a:gd name="csX164" fmla="*/ 2868740 w 3308032"/>
              <a:gd name="csY164" fmla="*/ 191643 h 1458087"/>
              <a:gd name="csX165" fmla="*/ 2803970 w 3308032"/>
              <a:gd name="csY165" fmla="*/ 191643 h 1458087"/>
              <a:gd name="csX166" fmla="*/ 2803970 w 3308032"/>
              <a:gd name="csY166" fmla="*/ 260890 h 1458087"/>
              <a:gd name="csX167" fmla="*/ 2868740 w 3308032"/>
              <a:gd name="csY167" fmla="*/ 260890 h 1458087"/>
              <a:gd name="csX168" fmla="*/ 2868740 w 3308032"/>
              <a:gd name="csY168" fmla="*/ 572643 h 1458087"/>
              <a:gd name="csX169" fmla="*/ 2957322 w 3308032"/>
              <a:gd name="csY169" fmla="*/ 572643 h 1458087"/>
              <a:gd name="csX170" fmla="*/ 2957322 w 3308032"/>
              <a:gd name="csY170" fmla="*/ 260890 h 1458087"/>
              <a:gd name="csX171" fmla="*/ 3105246 w 3308032"/>
              <a:gd name="csY171" fmla="*/ 260890 h 1458087"/>
              <a:gd name="csX172" fmla="*/ 3105246 w 3308032"/>
              <a:gd name="csY172" fmla="*/ 469297 h 1458087"/>
              <a:gd name="csX173" fmla="*/ 3133535 w 3308032"/>
              <a:gd name="csY173" fmla="*/ 553022 h 1458087"/>
              <a:gd name="csX174" fmla="*/ 3218021 w 3308032"/>
              <a:gd name="csY174" fmla="*/ 581692 h 1458087"/>
              <a:gd name="csX175" fmla="*/ 3269171 w 3308032"/>
              <a:gd name="csY175" fmla="*/ 574453 h 1458087"/>
              <a:gd name="csX176" fmla="*/ 3308033 w 3308032"/>
              <a:gd name="csY176" fmla="*/ 554926 h 1458087"/>
              <a:gd name="csX177" fmla="*/ 3280505 w 3308032"/>
              <a:gd name="csY177" fmla="*/ 494633 h 1458087"/>
              <a:gd name="csX178" fmla="*/ 301181 w 3308032"/>
              <a:gd name="csY178" fmla="*/ 915543 h 1458087"/>
              <a:gd name="csX179" fmla="*/ 497300 w 3308032"/>
              <a:gd name="csY179" fmla="*/ 1449134 h 1458087"/>
              <a:gd name="csX180" fmla="*/ 399860 w 3308032"/>
              <a:gd name="csY180" fmla="*/ 1449134 h 1458087"/>
              <a:gd name="csX181" fmla="*/ 354139 w 3308032"/>
              <a:gd name="csY181" fmla="*/ 1324166 h 1458087"/>
              <a:gd name="csX182" fmla="*/ 140970 w 3308032"/>
              <a:gd name="csY182" fmla="*/ 1324166 h 1458087"/>
              <a:gd name="csX183" fmla="*/ 97441 w 3308032"/>
              <a:gd name="csY183" fmla="*/ 1449134 h 1458087"/>
              <a:gd name="csX184" fmla="*/ 0 w 3308032"/>
              <a:gd name="csY184" fmla="*/ 1449134 h 1458087"/>
              <a:gd name="csX185" fmla="*/ 197930 w 3308032"/>
              <a:gd name="csY185" fmla="*/ 915543 h 1458087"/>
              <a:gd name="csX186" fmla="*/ 301371 w 3308032"/>
              <a:gd name="csY186" fmla="*/ 915543 h 1458087"/>
              <a:gd name="csX187" fmla="*/ 329851 w 3308032"/>
              <a:gd name="csY187" fmla="*/ 1247108 h 1458087"/>
              <a:gd name="csX188" fmla="*/ 257651 w 3308032"/>
              <a:gd name="csY188" fmla="*/ 1037654 h 1458087"/>
              <a:gd name="csX189" fmla="*/ 252984 w 3308032"/>
              <a:gd name="csY189" fmla="*/ 1022795 h 1458087"/>
              <a:gd name="csX190" fmla="*/ 248317 w 3308032"/>
              <a:gd name="csY190" fmla="*/ 1006412 h 1458087"/>
              <a:gd name="csX191" fmla="*/ 246126 w 3308032"/>
              <a:gd name="csY191" fmla="*/ 1006412 h 1458087"/>
              <a:gd name="csX192" fmla="*/ 241459 w 3308032"/>
              <a:gd name="csY192" fmla="*/ 1022223 h 1458087"/>
              <a:gd name="csX193" fmla="*/ 236411 w 3308032"/>
              <a:gd name="csY193" fmla="*/ 1037654 h 1458087"/>
              <a:gd name="csX194" fmla="*/ 164973 w 3308032"/>
              <a:gd name="csY194" fmla="*/ 1247108 h 1458087"/>
              <a:gd name="csX195" fmla="*/ 329756 w 3308032"/>
              <a:gd name="csY195" fmla="*/ 1247108 h 1458087"/>
              <a:gd name="csX196" fmla="*/ 557403 w 3308032"/>
              <a:gd name="csY196" fmla="*/ 1449134 h 1458087"/>
              <a:gd name="csX197" fmla="*/ 648557 w 3308032"/>
              <a:gd name="csY197" fmla="*/ 1449134 h 1458087"/>
              <a:gd name="csX198" fmla="*/ 648557 w 3308032"/>
              <a:gd name="csY198" fmla="*/ 915543 h 1458087"/>
              <a:gd name="csX199" fmla="*/ 557403 w 3308032"/>
              <a:gd name="csY199" fmla="*/ 915543 h 1458087"/>
              <a:gd name="csX200" fmla="*/ 557403 w 3308032"/>
              <a:gd name="csY200" fmla="*/ 1449134 h 1458087"/>
              <a:gd name="csX201" fmla="*/ 1271778 w 3308032"/>
              <a:gd name="csY201" fmla="*/ 915543 h 1458087"/>
              <a:gd name="csX202" fmla="*/ 883730 w 3308032"/>
              <a:gd name="csY202" fmla="*/ 915543 h 1458087"/>
              <a:gd name="csX203" fmla="*/ 883730 w 3308032"/>
              <a:gd name="csY203" fmla="*/ 992600 h 1458087"/>
              <a:gd name="csX204" fmla="*/ 1031843 w 3308032"/>
              <a:gd name="csY204" fmla="*/ 992600 h 1458087"/>
              <a:gd name="csX205" fmla="*/ 1031843 w 3308032"/>
              <a:gd name="csY205" fmla="*/ 1449134 h 1458087"/>
              <a:gd name="csX206" fmla="*/ 1122998 w 3308032"/>
              <a:gd name="csY206" fmla="*/ 1449134 h 1458087"/>
              <a:gd name="csX207" fmla="*/ 1122998 w 3308032"/>
              <a:gd name="csY207" fmla="*/ 992600 h 1458087"/>
              <a:gd name="csX208" fmla="*/ 1271778 w 3308032"/>
              <a:gd name="csY208" fmla="*/ 992600 h 1458087"/>
              <a:gd name="csX209" fmla="*/ 1271778 w 3308032"/>
              <a:gd name="csY209" fmla="*/ 915543 h 1458087"/>
              <a:gd name="csX210" fmla="*/ 1581340 w 3308032"/>
              <a:gd name="csY210" fmla="*/ 1113854 h 1458087"/>
              <a:gd name="csX211" fmla="*/ 1633633 w 3308032"/>
              <a:gd name="csY211" fmla="*/ 1255205 h 1458087"/>
              <a:gd name="csX212" fmla="*/ 1578578 w 3308032"/>
              <a:gd name="csY212" fmla="*/ 1400842 h 1458087"/>
              <a:gd name="csX213" fmla="*/ 1433132 w 3308032"/>
              <a:gd name="csY213" fmla="*/ 1457992 h 1458087"/>
              <a:gd name="csX214" fmla="*/ 1288923 w 3308032"/>
              <a:gd name="csY214" fmla="*/ 1404747 h 1458087"/>
              <a:gd name="csX215" fmla="*/ 1235488 w 3308032"/>
              <a:gd name="csY215" fmla="*/ 1261491 h 1458087"/>
              <a:gd name="csX216" fmla="*/ 1292066 w 3308032"/>
              <a:gd name="csY216" fmla="*/ 1114711 h 1458087"/>
              <a:gd name="csX217" fmla="*/ 1438275 w 3308032"/>
              <a:gd name="csY217" fmla="*/ 1059085 h 1458087"/>
              <a:gd name="csX218" fmla="*/ 1581340 w 3308032"/>
              <a:gd name="csY218" fmla="*/ 1113758 h 1458087"/>
              <a:gd name="csX219" fmla="*/ 1542479 w 3308032"/>
              <a:gd name="csY219" fmla="*/ 1257491 h 1458087"/>
              <a:gd name="csX220" fmla="*/ 1514570 w 3308032"/>
              <a:gd name="csY220" fmla="*/ 1165955 h 1458087"/>
              <a:gd name="csX221" fmla="*/ 1436084 w 3308032"/>
              <a:gd name="csY221" fmla="*/ 1131380 h 1458087"/>
              <a:gd name="csX222" fmla="*/ 1356265 w 3308032"/>
              <a:gd name="csY222" fmla="*/ 1167098 h 1458087"/>
              <a:gd name="csX223" fmla="*/ 1326356 w 3308032"/>
              <a:gd name="csY223" fmla="*/ 1259777 h 1458087"/>
              <a:gd name="csX224" fmla="*/ 1355979 w 3308032"/>
              <a:gd name="csY224" fmla="*/ 1352455 h 1458087"/>
              <a:gd name="csX225" fmla="*/ 1436561 w 3308032"/>
              <a:gd name="csY225" fmla="*/ 1386269 h 1458087"/>
              <a:gd name="csX226" fmla="*/ 1514856 w 3308032"/>
              <a:gd name="csY226" fmla="*/ 1351312 h 1458087"/>
              <a:gd name="csX227" fmla="*/ 1542574 w 3308032"/>
              <a:gd name="csY227" fmla="*/ 1257586 h 1458087"/>
              <a:gd name="csX228" fmla="*/ 1951577 w 3308032"/>
              <a:gd name="csY228" fmla="*/ 1285399 h 1458087"/>
              <a:gd name="csX229" fmla="*/ 1926622 w 3308032"/>
              <a:gd name="csY229" fmla="*/ 1357598 h 1458087"/>
              <a:gd name="csX230" fmla="*/ 1862233 w 3308032"/>
              <a:gd name="csY230" fmla="*/ 1386269 h 1458087"/>
              <a:gd name="csX231" fmla="*/ 1805273 w 3308032"/>
              <a:gd name="csY231" fmla="*/ 1362266 h 1458087"/>
              <a:gd name="csX232" fmla="*/ 1787081 w 3308032"/>
              <a:gd name="csY232" fmla="*/ 1290638 h 1458087"/>
              <a:gd name="csX233" fmla="*/ 1787081 w 3308032"/>
              <a:gd name="csY233" fmla="*/ 1068134 h 1458087"/>
              <a:gd name="csX234" fmla="*/ 1698498 w 3308032"/>
              <a:gd name="csY234" fmla="*/ 1068134 h 1458087"/>
              <a:gd name="csX235" fmla="*/ 1698498 w 3308032"/>
              <a:gd name="csY235" fmla="*/ 1302544 h 1458087"/>
              <a:gd name="csX236" fmla="*/ 1732502 w 3308032"/>
              <a:gd name="csY236" fmla="*/ 1418463 h 1458087"/>
              <a:gd name="csX237" fmla="*/ 1833563 w 3308032"/>
              <a:gd name="csY237" fmla="*/ 1458087 h 1458087"/>
              <a:gd name="csX238" fmla="*/ 1899571 w 3308032"/>
              <a:gd name="csY238" fmla="*/ 1441514 h 1458087"/>
              <a:gd name="csX239" fmla="*/ 1949577 w 3308032"/>
              <a:gd name="csY239" fmla="*/ 1397413 h 1458087"/>
              <a:gd name="csX240" fmla="*/ 1951482 w 3308032"/>
              <a:gd name="csY240" fmla="*/ 1397413 h 1458087"/>
              <a:gd name="csX241" fmla="*/ 1951482 w 3308032"/>
              <a:gd name="csY241" fmla="*/ 1449134 h 1458087"/>
              <a:gd name="csX242" fmla="*/ 2040446 w 3308032"/>
              <a:gd name="csY242" fmla="*/ 1449134 h 1458087"/>
              <a:gd name="csX243" fmla="*/ 2040446 w 3308032"/>
              <a:gd name="csY243" fmla="*/ 1068134 h 1458087"/>
              <a:gd name="csX244" fmla="*/ 1951482 w 3308032"/>
              <a:gd name="csY244" fmla="*/ 1068134 h 1458087"/>
              <a:gd name="csX245" fmla="*/ 1951482 w 3308032"/>
              <a:gd name="csY245" fmla="*/ 1285399 h 1458087"/>
              <a:gd name="csX246" fmla="*/ 2326767 w 3308032"/>
              <a:gd name="csY246" fmla="*/ 1061466 h 1458087"/>
              <a:gd name="csX247" fmla="*/ 2266474 w 3308032"/>
              <a:gd name="csY247" fmla="*/ 1080992 h 1458087"/>
              <a:gd name="csX248" fmla="*/ 2227040 w 3308032"/>
              <a:gd name="csY248" fmla="*/ 1136999 h 1458087"/>
              <a:gd name="csX249" fmla="*/ 2225516 w 3308032"/>
              <a:gd name="csY249" fmla="*/ 1136999 h 1458087"/>
              <a:gd name="csX250" fmla="*/ 2225516 w 3308032"/>
              <a:gd name="csY250" fmla="*/ 1068134 h 1458087"/>
              <a:gd name="csX251" fmla="*/ 2136553 w 3308032"/>
              <a:gd name="csY251" fmla="*/ 1068134 h 1458087"/>
              <a:gd name="csX252" fmla="*/ 2136553 w 3308032"/>
              <a:gd name="csY252" fmla="*/ 1449134 h 1458087"/>
              <a:gd name="csX253" fmla="*/ 2225516 w 3308032"/>
              <a:gd name="csY253" fmla="*/ 1449134 h 1458087"/>
              <a:gd name="csX254" fmla="*/ 2225516 w 3308032"/>
              <a:gd name="csY254" fmla="*/ 1260824 h 1458087"/>
              <a:gd name="csX255" fmla="*/ 2249138 w 3308032"/>
              <a:gd name="csY255" fmla="*/ 1172623 h 1458087"/>
              <a:gd name="csX256" fmla="*/ 2311051 w 3308032"/>
              <a:gd name="csY256" fmla="*/ 1139095 h 1458087"/>
              <a:gd name="csX257" fmla="*/ 2334292 w 3308032"/>
              <a:gd name="csY257" fmla="*/ 1141476 h 1458087"/>
              <a:gd name="csX258" fmla="*/ 2356104 w 3308032"/>
              <a:gd name="csY258" fmla="*/ 1147953 h 1458087"/>
              <a:gd name="csX259" fmla="*/ 2379917 w 3308032"/>
              <a:gd name="csY259" fmla="*/ 1072039 h 1458087"/>
              <a:gd name="csX260" fmla="*/ 2353532 w 3308032"/>
              <a:gd name="csY260" fmla="*/ 1063466 h 1458087"/>
              <a:gd name="csX261" fmla="*/ 2326767 w 3308032"/>
              <a:gd name="csY261" fmla="*/ 1061276 h 14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3308032" h="1458087">
                <a:moveTo>
                  <a:pt x="542449" y="193548"/>
                </a:moveTo>
                <a:cubicBezTo>
                  <a:pt x="542830" y="180499"/>
                  <a:pt x="543116" y="165735"/>
                  <a:pt x="543401" y="149066"/>
                </a:cubicBezTo>
                <a:lnTo>
                  <a:pt x="541211" y="149066"/>
                </a:lnTo>
                <a:cubicBezTo>
                  <a:pt x="539020" y="156496"/>
                  <a:pt x="536829" y="162973"/>
                  <a:pt x="534924" y="168593"/>
                </a:cubicBezTo>
                <a:cubicBezTo>
                  <a:pt x="532924" y="174212"/>
                  <a:pt x="530733" y="180118"/>
                  <a:pt x="528257" y="186309"/>
                </a:cubicBezTo>
                <a:lnTo>
                  <a:pt x="374618" y="572929"/>
                </a:lnTo>
                <a:lnTo>
                  <a:pt x="310229" y="572929"/>
                </a:lnTo>
                <a:lnTo>
                  <a:pt x="155448" y="189738"/>
                </a:lnTo>
                <a:cubicBezTo>
                  <a:pt x="153448" y="184023"/>
                  <a:pt x="151447" y="178308"/>
                  <a:pt x="149352" y="172402"/>
                </a:cubicBezTo>
                <a:cubicBezTo>
                  <a:pt x="147257" y="166592"/>
                  <a:pt x="144589" y="158782"/>
                  <a:pt x="141351" y="149162"/>
                </a:cubicBezTo>
                <a:lnTo>
                  <a:pt x="139160" y="149162"/>
                </a:lnTo>
                <a:cubicBezTo>
                  <a:pt x="139637" y="164592"/>
                  <a:pt x="140018" y="180118"/>
                  <a:pt x="140303" y="195834"/>
                </a:cubicBezTo>
                <a:cubicBezTo>
                  <a:pt x="140589" y="211550"/>
                  <a:pt x="140684" y="228505"/>
                  <a:pt x="140684" y="246602"/>
                </a:cubicBezTo>
                <a:lnTo>
                  <a:pt x="140684" y="572929"/>
                </a:lnTo>
                <a:lnTo>
                  <a:pt x="55817" y="572929"/>
                </a:lnTo>
                <a:lnTo>
                  <a:pt x="55817" y="39338"/>
                </a:lnTo>
                <a:lnTo>
                  <a:pt x="185642" y="39338"/>
                </a:lnTo>
                <a:lnTo>
                  <a:pt x="322231" y="383477"/>
                </a:lnTo>
                <a:cubicBezTo>
                  <a:pt x="327470" y="396145"/>
                  <a:pt x="331565" y="406908"/>
                  <a:pt x="334709" y="415671"/>
                </a:cubicBezTo>
                <a:cubicBezTo>
                  <a:pt x="337852" y="424434"/>
                  <a:pt x="340805" y="434245"/>
                  <a:pt x="343853" y="444913"/>
                </a:cubicBezTo>
                <a:lnTo>
                  <a:pt x="346043" y="444913"/>
                </a:lnTo>
                <a:cubicBezTo>
                  <a:pt x="350520" y="433007"/>
                  <a:pt x="354520" y="422243"/>
                  <a:pt x="358140" y="412528"/>
                </a:cubicBezTo>
                <a:cubicBezTo>
                  <a:pt x="361760" y="402812"/>
                  <a:pt x="365474" y="392811"/>
                  <a:pt x="369475" y="382429"/>
                </a:cubicBezTo>
                <a:lnTo>
                  <a:pt x="507873" y="39338"/>
                </a:lnTo>
                <a:lnTo>
                  <a:pt x="632555" y="39338"/>
                </a:lnTo>
                <a:lnTo>
                  <a:pt x="632555" y="572929"/>
                </a:lnTo>
                <a:lnTo>
                  <a:pt x="542163" y="572929"/>
                </a:lnTo>
                <a:lnTo>
                  <a:pt x="542163" y="234315"/>
                </a:lnTo>
                <a:cubicBezTo>
                  <a:pt x="542163" y="220218"/>
                  <a:pt x="542354" y="206597"/>
                  <a:pt x="542735" y="193548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100000">
                <a:srgbClr val="0078D4"/>
              </a:gs>
              <a:gs pos="3000">
                <a:srgbClr val="463668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7" name="MS logo gray - EMF" descr="Microsoft logo, gray text version">
            <a:extLst>
              <a:ext uri="{FF2B5EF4-FFF2-40B4-BE49-F238E27FC236}">
                <a16:creationId xmlns:a16="http://schemas.microsoft.com/office/drawing/2014/main" id="{B605AFFB-ECC7-BC73-2966-D56BADE09B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7868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94360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9436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B6A310A5-2746-FFC9-C289-A677D4E840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1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E0119-F82F-75EF-0AAE-422A9B463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554038"/>
          </a:xfrm>
        </p:spPr>
        <p:txBody>
          <a:bodyPr>
            <a:normAutofit fontScale="90000"/>
          </a:bodyPr>
          <a:lstStyle/>
          <a:p>
            <a:r>
              <a:rPr lang="en-US" dirty="0">
                <a:noFill/>
              </a:rPr>
              <a:t>Microsoft AI Tour</a:t>
            </a:r>
          </a:p>
        </p:txBody>
      </p:sp>
    </p:spTree>
    <p:extLst>
      <p:ext uri="{BB962C8B-B14F-4D97-AF65-F5344CB8AC3E}">
        <p14:creationId xmlns:p14="http://schemas.microsoft.com/office/powerpoint/2010/main" val="108085781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65EF-CE90-333A-AE91-4F2DFE26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302670"/>
            <a:ext cx="5577840" cy="1231106"/>
          </a:xfrm>
        </p:spPr>
        <p:txBody>
          <a:bodyPr/>
          <a:lstStyle/>
          <a:p>
            <a:r>
              <a:rPr lang="en-US" dirty="0"/>
              <a:t>PRESENTER READINESS</a:t>
            </a:r>
            <a:br>
              <a:rPr lang="en-US" dirty="0"/>
            </a:br>
            <a:r>
              <a:rPr lang="en-US" dirty="0"/>
              <a:t>Train the Trainer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A93F6-0237-907D-C0B7-ACABF04C7E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199" y="3962399"/>
            <a:ext cx="6502401" cy="553998"/>
          </a:xfrm>
        </p:spPr>
        <p:txBody>
          <a:bodyPr/>
          <a:lstStyle/>
          <a:p>
            <a:r>
              <a:rPr lang="en-GB" dirty="0"/>
              <a:t>ILL335: Building &amp; Deploying AI Agents with Microsoft Foundry</a:t>
            </a:r>
          </a:p>
        </p:txBody>
      </p:sp>
    </p:spTree>
    <p:extLst>
      <p:ext uri="{BB962C8B-B14F-4D97-AF65-F5344CB8AC3E}">
        <p14:creationId xmlns:p14="http://schemas.microsoft.com/office/powerpoint/2010/main" val="14356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The workshop promise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What every attendee should leave able to 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E0DC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82296" cy="2331720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274320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79806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715768"/>
            <a:ext cx="23500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Discover + 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154680"/>
            <a:ext cx="2350008" cy="1545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Find a suitable hosted model in Foundry Toolkit, verify the project, and make a first Responses API 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51460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FCF6D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2514600"/>
            <a:ext cx="82296" cy="2331720"/>
          </a:xfrm>
          <a:prstGeom prst="rect">
            <a:avLst/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9432" y="274320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279806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715768"/>
            <a:ext cx="23500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Analyze + 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154680"/>
            <a:ext cx="2350008" cy="1545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Return structured sentiment JSON while routing regulated signals independently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51460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DEF3E8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2514600"/>
            <a:ext cx="82296" cy="2331720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74320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2752" y="279806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2715768"/>
            <a:ext cx="23500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Test +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3154680"/>
            <a:ext cx="2350008" cy="1545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Test locally in Agent Inspector, then publish Python source as a managed hosted agent with azd.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30368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C4B4B"/>
                </a:solidFill>
                <a:latin typeface="Aptos"/>
              </a:rPr>
              <a:t>Foundation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175504"/>
            <a:ext cx="8686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233970"/>
                </a:solidFill>
                <a:latin typeface="Aptos"/>
              </a:rPr>
              <a:t>The model supplies signals. Deterministic code owns the routing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92082" y="719548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dirty="0">
                <a:solidFill>
                  <a:srgbClr val="233970"/>
                </a:solidFill>
                <a:latin typeface="Aptos"/>
              </a:rPr>
              <a:t>Run of show: 75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997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0826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927221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682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Caldova scenario + Microsoft Foundry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855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27684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613021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0540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Foundry Toolkit model catalog + playground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713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34542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329882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398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Validate the pre-provisioned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571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1400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5104" y="398462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4256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First inference with the Responses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429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8258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5104" y="467042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1114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Structured sentiment + governed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287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DC4B4B"/>
          </a:solidFill>
          <a:ln>
            <a:solidFill>
              <a:srgbClr val="DC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55116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" y="535622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797296"/>
            <a:ext cx="5760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Agent Inspector + hosted-agent deployment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6014590"/>
            <a:ext cx="1078992" cy="621792"/>
          </a:xfrm>
          <a:prstGeom prst="roundRect">
            <a:avLst>
              <a:gd name="adj" fmla="val 8000"/>
            </a:avLst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6197470"/>
            <a:ext cx="102412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104" y="6042022"/>
            <a:ext cx="3840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Know the delivery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Skillable is pre-provisioned; self-paced setup is a different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5285232" cy="2971800"/>
          </a:xfrm>
          <a:prstGeom prst="roundRect">
            <a:avLst>
              <a:gd name="adj" fmla="val 8000"/>
            </a:avLst>
          </a:prstGeom>
          <a:solidFill>
            <a:srgbClr val="DEF3E8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82296" cy="2971800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480974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In the live Skillable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63239"/>
            <a:ext cx="4809744" cy="2185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• Repo already cloned
• Foundry project already provisioned
• gpt-5.4-mini already deployed
• .env already configured
• Foundry Toolkit already installed
• Credentials supplied in the lab 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423160"/>
            <a:ext cx="5285232" cy="2971800"/>
          </a:xfrm>
          <a:prstGeom prst="roundRect">
            <a:avLst>
              <a:gd name="adj" fmla="val 8000"/>
            </a:avLst>
          </a:prstGeom>
          <a:solidFill>
            <a:srgbClr val="E0DC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2423160"/>
            <a:ext cx="82296" cy="2971800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624328"/>
            <a:ext cx="480974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For trainer rehearsal / self-study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063239"/>
            <a:ext cx="4809744" cy="2185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• Follow setup/SETUP.md
• Align Azure CLI and azd tenant + subscription
• Install microsoft.foundry extension bundle
• Confirm model quota before provisioning
• Run the offline validator
• Expect billable resources from azd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15000"/>
            <a:ext cx="10332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DC4B4B"/>
                </a:solidFill>
                <a:latin typeface="Aptos"/>
              </a:rPr>
              <a:t>Never show .env values, access tokens, passwords, or connection strings on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Presenter readiness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Complete this 24–48 hours before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9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Run every core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59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Use the exact delivery tenant and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31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53288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2459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Validate the 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59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Validator ends with zero failures and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75887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02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Test both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02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First inference and local Agent Inspector.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675887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602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Preflight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02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azd 1.27.1+, extension installed, auth aligned.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81888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45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Stage fallbacks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745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Screenshots, known-good output, pre-deployed agent.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617720"/>
            <a:ext cx="52303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8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0A6D6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474573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Protect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745736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5B6578"/>
                </a:solidFill>
                <a:latin typeface="Aptos"/>
              </a:rPr>
              <a:t>Readable fonts, clean browser, no secrets.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Open with a clear 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Caldova needs insight and governed review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2926080" cy="2880360"/>
          </a:xfrm>
          <a:prstGeom prst="roundRect">
            <a:avLst>
              <a:gd name="adj" fmla="val 8000"/>
            </a:avLst>
          </a:prstGeom>
          <a:solidFill>
            <a:srgbClr val="233970"/>
          </a:solidFill>
          <a:ln>
            <a:solidFill>
              <a:srgbClr val="233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24912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1B52F"/>
                </a:solidFill>
                <a:latin typeface="Aptos"/>
              </a:rPr>
              <a:t>YOU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24231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An AI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8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on Caldova’s commercial digital and customer engagement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87168"/>
            <a:ext cx="6858000" cy="2834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3970"/>
                </a:solidFill>
                <a:latin typeface="Aptos"/>
              </a:rPr>
              <a:t>The signal</a:t>
            </a:r>
            <a:r>
              <a:rPr sz="1700" b="0">
                <a:solidFill>
                  <a:srgbClr val="5B6578"/>
                </a:solidFill>
                <a:latin typeface="Aptos"/>
              </a:rPr>
              <a:t>  Consumer feedback arrives at scale across B2C channels.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3970"/>
                </a:solidFill>
                <a:latin typeface="Aptos"/>
              </a:rPr>
              <a:t>The task</a:t>
            </a:r>
            <a:r>
              <a:rPr sz="1700" b="0">
                <a:solidFill>
                  <a:srgbClr val="5B6578"/>
                </a:solidFill>
                <a:latin typeface="Aptos"/>
              </a:rPr>
              <a:t>  Classify sentiment and summarize topics consistently.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3970"/>
                </a:solidFill>
                <a:latin typeface="Aptos"/>
              </a:rPr>
              <a:t>The guardrail</a:t>
            </a:r>
            <a:r>
              <a:rPr sz="1700" b="0">
                <a:solidFill>
                  <a:srgbClr val="5B6578"/>
                </a:solidFill>
                <a:latin typeface="Aptos"/>
              </a:rPr>
              <a:t>  Route regulated signals to people, independently from sentiment.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3970"/>
                </a:solidFill>
                <a:latin typeface="Aptos"/>
              </a:rPr>
              <a:t>The finish</a:t>
            </a:r>
            <a:r>
              <a:rPr sz="1700" b="0">
                <a:solidFill>
                  <a:srgbClr val="5B6578"/>
                </a:solidFill>
                <a:latin typeface="Aptos"/>
              </a:rPr>
              <a:t>  Deploy the workflow as a callable hosted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Labs 1–2: orient, then 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Keep the room moving; do not reprovision Skillable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5257800" cy="3063240"/>
          </a:xfrm>
          <a:prstGeom prst="roundRect">
            <a:avLst>
              <a:gd name="adj" fmla="val 8000"/>
            </a:avLst>
          </a:prstGeom>
          <a:solidFill>
            <a:srgbClr val="E0DC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82296" cy="3063240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Lab 1 • Foundry Toolkit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39"/>
            <a:ext cx="4782312" cy="2276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Show the Model Catalog under Developer Tools. Compare gpt-5.4-mini, gpt-5.4, and Phi-4 by capability, quality, latency, and cost. Use the Model Playground only if time permits.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423160"/>
            <a:ext cx="5257800" cy="3063240"/>
          </a:xfrm>
          <a:prstGeom prst="roundRect">
            <a:avLst>
              <a:gd name="adj" fmla="val 8000"/>
            </a:avLst>
          </a:prstGeom>
          <a:solidFill>
            <a:srgbClr val="DEF3E8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8" y="2423160"/>
            <a:ext cx="82296" cy="3063240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624328"/>
            <a:ext cx="478231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Lab 2 •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063239"/>
            <a:ext cx="4782312" cy="2276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Confirm PROJECT_ENDPOINT and MODEL_DEPLOYMENT_NAME exist without revealing values. Run:
python -X utf8 src/tests/validate_lab.py
Proceed only when the result is PASS with zero failed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Labs 3–4: from response to governed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Narrate the boundary between probabilistic output and deterministic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938528" cy="146304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852927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4F57D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2852927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64991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Model catalog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2907791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256032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2560320"/>
            <a:ext cx="1938528" cy="146304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2384" y="2852927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007E74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52927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3364991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Project +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2907791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12080" y="256032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0" y="2560320"/>
            <a:ext cx="1938528" cy="146304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58384" y="2852927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00A6D6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852927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3364991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Responses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7183" y="2907791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79" y="256032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8079" y="2560320"/>
            <a:ext cx="1938528" cy="146304"/>
          </a:xfrm>
          <a:prstGeom prst="rect">
            <a:avLst/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44383" y="2852927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1B52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2852927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GOVERN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3364991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JSON +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73184" y="2907791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84080" y="256032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84080" y="2560320"/>
            <a:ext cx="1938528" cy="146304"/>
          </a:xfrm>
          <a:prstGeom prst="rect">
            <a:avLst/>
          </a:prstGeom>
          <a:solidFill>
            <a:srgbClr val="DC4B4B"/>
          </a:solidFill>
          <a:ln>
            <a:solidFill>
              <a:srgbClr val="DC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30384" y="2852927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DC4B4B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2852927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3364991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Hosted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10515600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F57D4"/>
                </a:solidFill>
                <a:latin typeface="Aptos"/>
              </a:rPr>
              <a:t>Lab 3</a:t>
            </a:r>
            <a:r>
              <a:rPr sz="1600" b="0">
                <a:solidFill>
                  <a:srgbClr val="5B6578"/>
                </a:solidFill>
                <a:latin typeface="Aptos"/>
              </a:rPr>
              <a:t>  AIProjectClient → get_openai_client() → responses.create() → output_text + usage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1B52F"/>
                </a:solidFill>
                <a:latin typeface="Aptos"/>
              </a:rPr>
              <a:t>Lab 4</a:t>
            </a:r>
            <a:r>
              <a:rPr sz="1600" b="0">
                <a:solidFill>
                  <a:srgbClr val="5B6578"/>
                </a:solidFill>
                <a:latin typeface="Aptos"/>
              </a:rPr>
              <a:t>  Structured JSON → conservative parsing → independent review_category → deterministic route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The safety point you must not skip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Sentiment and regulated review are independent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3200400" cy="2606040"/>
          </a:xfrm>
          <a:prstGeom prst="roundRect">
            <a:avLst>
              <a:gd name="adj" fmla="val 8000"/>
            </a:avLst>
          </a:prstGeom>
          <a:solidFill>
            <a:srgbClr val="E0DCFF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43200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F57D4"/>
                </a:solidFill>
                <a:latin typeface="Aptos"/>
              </a:rPr>
              <a:t>MODEL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73552"/>
            <a:ext cx="237744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233970"/>
                </a:solidFill>
                <a:latin typeface="Aptos"/>
              </a:rPr>
              <a:t>sentiment
confidence
topics
review_category
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3355848"/>
            <a:ext cx="640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00A6D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468880"/>
            <a:ext cx="3200400" cy="2606040"/>
          </a:xfrm>
          <a:prstGeom prst="roundRect">
            <a:avLst>
              <a:gd name="adj" fmla="val 8000"/>
            </a:avLst>
          </a:prstGeom>
          <a:solidFill>
            <a:srgbClr val="DEF3E8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8" y="2743200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007E74"/>
                </a:solidFill>
                <a:latin typeface="Aptos"/>
              </a:rPr>
              <a:t>CODE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83280"/>
            <a:ext cx="24688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0">
                <a:solidFill>
                  <a:srgbClr val="233970"/>
                </a:solidFill>
                <a:latin typeface="Aptos"/>
              </a:rPr>
              <a:t>human review
dashboard
second look
fallback on malformed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55848"/>
            <a:ext cx="640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DC4B4B"/>
                </a:solidFill>
                <a:latin typeface="Aptos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468880"/>
            <a:ext cx="2148840" cy="2606040"/>
          </a:xfrm>
          <a:prstGeom prst="roundRect">
            <a:avLst>
              <a:gd name="adj" fmla="val 8000"/>
            </a:avLst>
          </a:prstGeom>
          <a:solidFill>
            <a:srgbClr val="FCF6D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74320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DC4B4B"/>
                </a:solidFill>
                <a:latin typeface="Aptos"/>
              </a:rPr>
              <a:t>NEVER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401568"/>
            <a:ext cx="169164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>
                <a:solidFill>
                  <a:srgbClr val="233970"/>
                </a:solidFill>
                <a:latin typeface="Aptos"/>
              </a:rPr>
              <a:t>causality
seriousness
diagnosis
treatment advice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Lab 6: local proof, then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Direct-code deployment through the unified root azure.yaml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984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16736" y="22402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16736" y="2404872"/>
            <a:ext cx="65836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16642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970"/>
                </a:solidFill>
                <a:latin typeface="Aptos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703320"/>
            <a:ext cx="16642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FoundryChatClient
ResponsesHostServer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3401568"/>
            <a:ext cx="310896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62656" y="2487168"/>
            <a:ext cx="1984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21024" y="22402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21024" y="2404872"/>
            <a:ext cx="65836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108960"/>
            <a:ext cx="16642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970"/>
                </a:solidFill>
                <a:latin typeface="Aptos"/>
              </a:rPr>
              <a:t>Test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3703320"/>
            <a:ext cx="16642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F5 → Agent Inspector
valid JSON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4336" y="3401568"/>
            <a:ext cx="310896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66944" y="2487168"/>
            <a:ext cx="1984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25312" y="22402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25312" y="2404872"/>
            <a:ext cx="65836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108960"/>
            <a:ext cx="16642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970"/>
                </a:solidFill>
                <a:latin typeface="Aptos"/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3703320"/>
            <a:ext cx="16642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azd up
first 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8624" y="3401568"/>
            <a:ext cx="310896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71232" y="2487168"/>
            <a:ext cx="1984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29600" y="22402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2404872"/>
            <a:ext cx="65836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4" y="3108960"/>
            <a:ext cx="16642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970"/>
                </a:solidFill>
                <a:latin typeface="Aptos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4" y="3703320"/>
            <a:ext cx="16642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azd ai agent show
status: 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82912" y="3401568"/>
            <a:ext cx="310896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75520" y="2487168"/>
            <a:ext cx="198424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33888" y="22402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DC4B4B"/>
          </a:solidFill>
          <a:ln>
            <a:solidFill>
              <a:srgbClr val="DC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33888" y="2404872"/>
            <a:ext cx="65836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3108960"/>
            <a:ext cx="166420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970"/>
                </a:solidFill>
                <a:latin typeface="Aptos"/>
              </a:rPr>
              <a:t>Invoke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3703320"/>
            <a:ext cx="1664208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azd ai agent invoke
remote smoke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321808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DC4B4B"/>
                </a:solidFill>
                <a:latin typeface="Aptos"/>
              </a:rPr>
              <a:t>Use azd deploy only for later code-only updates. Cloud commands can create charges.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Troubleshooting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Read the exact error; fix the smallest failing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578"/>
                </a:solidFill>
                <a:latin typeface="Aptos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331720"/>
            <a:ext cx="3383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578"/>
                </a:solidFill>
                <a:latin typeface="Aptos"/>
              </a:rPr>
              <a:t>LIKELY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5B6578"/>
                </a:solidFill>
                <a:latin typeface="Aptos"/>
              </a:rPr>
              <a:t>NEXT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834640"/>
            <a:ext cx="2194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33970"/>
                </a:solidFill>
                <a:latin typeface="Aptos"/>
              </a:rPr>
              <a:t>Validator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834640"/>
            <a:ext cx="3246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Missing dependency or .env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D2433"/>
                </a:solidFill>
                <a:latin typeface="Aptos"/>
              </a:rPr>
              <a:t>Use validator guidance; do not expose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00984"/>
            <a:ext cx="10835640" cy="566928"/>
          </a:xfrm>
          <a:prstGeom prst="rect">
            <a:avLst/>
          </a:prstGeom>
          <a:solidFill>
            <a:srgbClr val="DCF4FA"/>
          </a:solidFill>
          <a:ln>
            <a:solidFill>
              <a:srgbClr val="DC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438144"/>
            <a:ext cx="2194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33970"/>
                </a:solidFill>
                <a:latin typeface="Aptos"/>
              </a:rPr>
              <a:t>401 / 403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3438144"/>
            <a:ext cx="3246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Wrong auth context or RBAC 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38144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D2433"/>
                </a:solidFill>
                <a:latin typeface="Aptos"/>
              </a:rPr>
              <a:t>Align tenant/subscription; wait, then retry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04488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041648"/>
            <a:ext cx="2194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33970"/>
                </a:solidFill>
                <a:latin typeface="Aptos"/>
              </a:rPr>
              <a:t>Model deployment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4041648"/>
            <a:ext cx="3246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Quota or region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41648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D2433"/>
                </a:solidFill>
                <a:latin typeface="Aptos"/>
              </a:rPr>
              <a:t>Use the assigned Skillable project; escalate seat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507992"/>
            <a:ext cx="10835640" cy="566928"/>
          </a:xfrm>
          <a:prstGeom prst="rect">
            <a:avLst/>
          </a:prstGeom>
          <a:solidFill>
            <a:srgbClr val="DCF4FA"/>
          </a:solidFill>
          <a:ln>
            <a:solidFill>
              <a:srgbClr val="DC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645152"/>
            <a:ext cx="2194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33970"/>
                </a:solidFill>
                <a:latin typeface="Aptos"/>
              </a:rPr>
              <a:t>Agent startup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4645152"/>
            <a:ext cx="3246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Agent requirements not installed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45152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D2433"/>
                </a:solidFill>
                <a:latin typeface="Aptos"/>
              </a:rPr>
              <a:t>pip install -r src/agent/requirements.txt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111496"/>
            <a:ext cx="10835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248656"/>
            <a:ext cx="21945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33970"/>
                </a:solidFill>
                <a:latin typeface="Aptos"/>
              </a:rPr>
              <a:t>azd deployment stalls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5248656"/>
            <a:ext cx="3246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B6578"/>
                </a:solidFill>
                <a:latin typeface="Aptos"/>
              </a:rPr>
              <a:t>First remote build still 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48656"/>
            <a:ext cx="45262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1D2433"/>
                </a:solidFill>
                <a:latin typeface="Aptos"/>
              </a:rPr>
              <a:t>Keep narrating; use staged output if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Protect the learning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Recovery options should preserve the concept, not just the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3438144" cy="2606040"/>
          </a:xfrm>
          <a:prstGeom prst="roundRect">
            <a:avLst>
              <a:gd name="adj" fmla="val 8000"/>
            </a:avLst>
          </a:prstGeom>
          <a:solidFill>
            <a:srgbClr val="E0DC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82296" cy="2606040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65176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624328"/>
            <a:ext cx="229514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If inference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063239"/>
            <a:ext cx="2295144" cy="1819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Show known-good output, explain output_text/status/usage, then let proctors repair affected seats while the room continues.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423160"/>
            <a:ext cx="3438144" cy="2606040"/>
          </a:xfrm>
          <a:prstGeom prst="roundRect">
            <a:avLst>
              <a:gd name="adj" fmla="val 8000"/>
            </a:avLst>
          </a:prstGeom>
          <a:solidFill>
            <a:srgbClr val="FCF6D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2423160"/>
            <a:ext cx="82296" cy="2606040"/>
          </a:xfrm>
          <a:prstGeom prst="rect">
            <a:avLst/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26864" y="265176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26864" y="270662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24328"/>
            <a:ext cx="229514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If deployment is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63239"/>
            <a:ext cx="2295144" cy="1819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Narrate remote build, managed runtime, identity, and versioning. Switch to a pre-deployed agent for the smoke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2423160"/>
            <a:ext cx="3438144" cy="2606040"/>
          </a:xfrm>
          <a:prstGeom prst="roundRect">
            <a:avLst>
              <a:gd name="adj" fmla="val 8000"/>
            </a:avLst>
          </a:prstGeom>
          <a:solidFill>
            <a:srgbClr val="DEF3E8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83296" y="2423160"/>
            <a:ext cx="82296" cy="2606040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39327" y="265176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2706624"/>
            <a:ext cx="51206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24328"/>
            <a:ext cx="229514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233970"/>
                </a:solidFill>
                <a:latin typeface="Aptos"/>
              </a:rPr>
              <a:t>If a seat is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063239"/>
            <a:ext cx="2295144" cy="18196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5B6578"/>
                </a:solidFill>
                <a:latin typeface="Aptos"/>
              </a:rPr>
              <a:t>Pair the attendee with a working neighbor or move them to observation mode. Log the seat issue for venue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68112"/>
            <a:ext cx="98755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DC4B4B"/>
                </a:solidFill>
                <a:latin typeface="Aptos"/>
              </a:rPr>
              <a:t>Do not spend more than five minutes on one seat while the full room waits.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66928" y="1078992"/>
            <a:ext cx="10972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233970"/>
                </a:solidFill>
                <a:latin typeface="Aptos"/>
              </a:rPr>
              <a:t>Close on the complete journey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822960" cy="6400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5B6578"/>
                </a:solidFill>
                <a:latin typeface="Aptos"/>
              </a:rPr>
              <a:t>Catalog → project → inference → governed app → hosted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938528" cy="146304"/>
          </a:xfrm>
          <a:prstGeom prst="rect">
            <a:avLst/>
          </a:prstGeom>
          <a:solidFill>
            <a:srgbClr val="4F57D4"/>
          </a:solidFill>
          <a:ln>
            <a:solidFill>
              <a:srgbClr val="4F5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807208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4F57D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2807208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19272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Model catalog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2862072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251460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2514600"/>
            <a:ext cx="1938528" cy="146304"/>
          </a:xfrm>
          <a:prstGeom prst="rect">
            <a:avLst/>
          </a:prstGeom>
          <a:solidFill>
            <a:srgbClr val="007E74"/>
          </a:solidFill>
          <a:ln>
            <a:solidFill>
              <a:srgbClr val="00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2384" y="2807208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007E74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07208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3319272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Project +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2862072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12080" y="251460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0" y="2514600"/>
            <a:ext cx="1938528" cy="146304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58384" y="2807208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00A6D6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2807208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3319272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Responses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7183" y="2862072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79" y="251460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98079" y="2514600"/>
            <a:ext cx="1938528" cy="146304"/>
          </a:xfrm>
          <a:prstGeom prst="rect">
            <a:avLst/>
          </a:prstGeom>
          <a:solidFill>
            <a:srgbClr val="F1B52F"/>
          </a:solidFill>
          <a:ln>
            <a:solidFill>
              <a:srgbClr val="F1B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44383" y="2807208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1B52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2807208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GOVERN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3319272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JSON +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73184" y="2862072"/>
            <a:ext cx="347472" cy="45720"/>
          </a:xfrm>
          <a:prstGeom prst="rect">
            <a:avLst/>
          </a:prstGeom>
          <a:solidFill>
            <a:srgbClr val="D3D9E5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84080" y="2514600"/>
            <a:ext cx="1938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84080" y="2514600"/>
            <a:ext cx="1938528" cy="146304"/>
          </a:xfrm>
          <a:prstGeom prst="rect">
            <a:avLst/>
          </a:prstGeom>
          <a:solidFill>
            <a:srgbClr val="DC4B4B"/>
          </a:solidFill>
          <a:ln>
            <a:solidFill>
              <a:srgbClr val="DC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30384" y="2807208"/>
            <a:ext cx="4023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DC4B4B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2807208"/>
            <a:ext cx="1234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233970"/>
                </a:solidFill>
                <a:latin typeface="Aptos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3319272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578"/>
                </a:solidFill>
                <a:latin typeface="Aptos"/>
              </a:rPr>
              <a:t>Hosted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427939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F1B52F"/>
                </a:solidFill>
                <a:latin typeface="Aptos"/>
              </a:rPr>
              <a:t>Self-paced extension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206240"/>
            <a:ext cx="8869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233970"/>
                </a:solidFill>
                <a:latin typeface="Aptos"/>
              </a:rPr>
              <a:t>Lab 5 compares gpt-5.4-mini and gpt-5.4; optional evaluations compare generated coverage with curated golden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74920"/>
            <a:ext cx="10744200" cy="713232"/>
          </a:xfrm>
          <a:prstGeom prst="roundRect">
            <a:avLst>
              <a:gd name="adj" fmla="val 8000"/>
            </a:avLst>
          </a:prstGeom>
          <a:solidFill>
            <a:srgbClr val="233970"/>
          </a:solidFill>
          <a:ln>
            <a:solidFill>
              <a:srgbClr val="233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321808"/>
            <a:ext cx="10378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Resource center: aka.ms/aitour27-resource-center   •   Community: aka.ms/MicrosoftFoundryDiscord-AITour27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804751ba-60e0-4191-9865-d7e5284c1d69">
      <Terms xmlns="http://schemas.microsoft.com/office/infopath/2007/PartnerControls"/>
    </lcf76f155ced4ddcb4097134ff3c332f>
    <Number xmlns="804751ba-60e0-4191-9865-d7e5284c1d69" xsi:nil="true"/>
    <TaxCatchAll xmlns="230e9df3-be65-4c73-a93b-d1236ebd677e" xsi:nil="true"/>
    <Time xmlns="804751ba-60e0-4191-9865-d7e5284c1d69" xsi:nil="true"/>
    <content xmlns="804751ba-60e0-4191-9865-d7e5284c1d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BDA820-30C0-4D9F-8489-BC57A9B4C6C1}">
  <ds:schemaRefs>
    <ds:schemaRef ds:uri="http://www.w3.org/XML/1998/namespace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804751ba-60e0-4191-9865-d7e5284c1d69"/>
    <ds:schemaRef ds:uri="http://schemas.openxmlformats.org/package/2006/metadata/core-properties"/>
    <ds:schemaRef ds:uri="913b567d-4c83-4181-a45c-f04ce7e1b72e"/>
    <ds:schemaRef ds:uri="230e9df3-be65-4c73-a93b-d1236ebd677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B2AE3B-9ECC-455B-99BA-9B424CF2E7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04751ba-60e0-4191-9865-d7e5284c1d69"/>
    <ds:schemaRef ds:uri="913b567d-4c83-4181-a45c-f04ce7e1b72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9257C1-DA2E-4D15-9ED2-522580AE872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3588</Words>
  <Application>Microsoft Office PowerPoint</Application>
  <PresentationFormat>Widescreen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Segoe Sans Display Semibold</vt:lpstr>
      <vt:lpstr>Wingdings</vt:lpstr>
      <vt:lpstr>Office Theme</vt:lpstr>
      <vt:lpstr>Microsoft AI Tour</vt:lpstr>
      <vt:lpstr>PRESENTER READINESS Train the Trainer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Building &amp; Deploying AI Agents with Microsoft Foundry</dc:subject>
  <dc:creator>Microsoft AI Tour ILL335</dc:creator>
  <cp:keywords>Microsoft AI Tour FY27, ILL335, Microsoft Foundry</cp:keywords>
  <dc:description>generated using python-pptx</dc:description>
  <cp:lastModifiedBy>Lee Stott</cp:lastModifiedBy>
  <cp:revision>2</cp:revision>
  <dcterms:created xsi:type="dcterms:W3CDTF">2013-01-27T09:14:16Z</dcterms:created>
  <dcterms:modified xsi:type="dcterms:W3CDTF">2026-09-10T15:12:54Z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MediaServiceImageTags">
    <vt:lpwstr/>
  </property>
</Properties>
</file>